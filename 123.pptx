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22331-17AA-4E43-A2E1-9A567E029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3BF4C1-2925-402A-944F-0CD22B465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22A2F6-D16C-487F-94D1-B84B22A4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D8D6AC-E3BD-4396-9FED-ABE34C0C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FA971A-01F8-4C7A-B937-91AAAE01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464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4E8B4-1044-4D74-8D68-0479709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0C941D-BC18-4008-970A-0415101E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347B25-6F07-4873-9F10-18818BDF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514519-F71E-4608-A0E4-F6A750D1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D40E6-E2DC-40F8-93E4-FAD7EA15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494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00067-F0C3-4E24-AD21-A222E2B4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1FD0-9FA3-4D00-8A87-12C0B65B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51DF93-A29C-4208-97EA-98A32D7F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ED6C3E-EDB0-477B-B96B-8B8779A6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D0AC9B-7FA4-4A3E-8BEB-4F69986F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26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D5617-82FE-4C54-A5E8-5871ABF7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4A5863-C597-403E-8C22-40851AB18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C2D234-1C9D-45AA-BFC9-9893D233F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6D927C-BD46-4D5A-8D8C-600E2342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9B21F5-4C4F-48E8-A434-4EA3022F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F1FC53-99CA-4977-B538-B42F77EE2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91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681DC-F754-40D3-8DCE-092BDD71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BE0995-A150-4F8F-953C-3CAF6A706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3234DA-337A-4CF1-8F98-F2D229C31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D308FCB-D811-4226-8F55-625E34663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F03920-F27E-4C7F-B911-E874169A7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50A727C-02C5-444D-87B2-FABDD27C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8AA6F7-6DD8-4899-B19F-92EF6D2F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038551-8759-4792-BDCF-45C36F89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56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83835-70DD-49A5-8404-87B990BB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5C4F3B-FB04-42F0-A26C-534E5DD1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165F523-E734-4EE1-908A-566989D7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E09931-7E7A-4A82-BA46-2B974EB3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96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2F29182-83A7-4A9A-8DF6-B151C879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8E6B63-8D70-4D30-BF97-F64ED77A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82C1F1-DE2A-48B2-B9BB-B85B9FC3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41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EFBEB-524D-4D8B-8D96-F4F4EF99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E26361-D631-4F9B-8B5D-FF44BB0B5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53E81D-C93B-41A6-8B7F-EA4807BB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264A2C-9CCF-4D15-84E6-CD2C1B41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14DD8C-FE48-44B7-9E9B-75064FCE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05DD97-C012-441C-8212-A522B94F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29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2DEE79-6037-4CCC-B29C-5C3F1774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F0478F-E776-423A-9541-EE5889024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4AD353-43B8-4CF3-99A4-AD468AF04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5FF769-30D2-4E74-97A5-C12BB5A9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D0124B-8132-4D36-96AF-0C66A133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B7E8D2-99EE-40B6-9939-3B94144C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54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E089E-A516-4044-83D5-5CF476D8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35EAAD-FD81-44AC-83C1-C8B84F41C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450D5A-594B-4D86-BD08-7FE103F0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FAD49-7F78-4220-B344-2DB4E06D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3A12AC-42B9-48BB-8130-6CD39DCB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51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992D73-7EFC-4103-85FD-57693F8A3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3119A2-9764-4CC8-B138-6594B4F46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F476F3-2819-4479-8377-D015F4A2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03F698-BB31-439C-8078-612A96BEA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0EBCB7-64AC-4F9C-B519-40EEE281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34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D5CFD-DC65-450F-B488-FE000FC0D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B6DAA1-E118-4851-9B45-8A68CA7E9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B1B44C-7A37-47BF-A022-5D958ECA4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CF733-6A7F-4B35-A91F-7C0E0AB53F4E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76A56C-B248-4234-9932-A34D250D2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A2BDCA-C7EF-4522-91DE-15AD1E2FD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BC890-5BF5-45F3-B9F5-86A1ADB3A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11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3C53B6A-74EE-4D42-A485-926FF53F6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8101"/>
            <a:ext cx="9144000" cy="2387600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957F1-6D88-46D2-901E-D582012FAD48}"/>
              </a:ext>
            </a:extLst>
          </p:cNvPr>
          <p:cNvSpPr txBox="1"/>
          <p:nvPr/>
        </p:nvSpPr>
        <p:spPr>
          <a:xfrm>
            <a:off x="1152939" y="5277678"/>
            <a:ext cx="47035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М14О-201СВо-23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Игнатенко Валерий Константинович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555CBD-8D67-4907-88A3-245F26DBF8B7}"/>
              </a:ext>
            </a:extLst>
          </p:cNvPr>
          <p:cNvSpPr txBox="1"/>
          <p:nvPr/>
        </p:nvSpPr>
        <p:spPr>
          <a:xfrm>
            <a:off x="969104" y="2043645"/>
            <a:ext cx="10756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коэффициента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полезного действия (КПД) системы передачи энергии лазерным лучом в инфракрасном диапазоне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07BDB-3A2A-49D7-A099-D1303C8E3115}"/>
              </a:ext>
            </a:extLst>
          </p:cNvPr>
          <p:cNvSpPr txBox="1"/>
          <p:nvPr/>
        </p:nvSpPr>
        <p:spPr>
          <a:xfrm>
            <a:off x="969104" y="3028890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94E03-6890-41F1-8FA5-3C88C2BD3069}"/>
              </a:ext>
            </a:extLst>
          </p:cNvPr>
          <p:cNvSpPr txBox="1"/>
          <p:nvPr/>
        </p:nvSpPr>
        <p:spPr>
          <a:xfrm>
            <a:off x="1363207" y="3487117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C9A5B-88F4-4DB3-9139-1AC2CCB383B3}"/>
              </a:ext>
            </a:extLst>
          </p:cNvPr>
          <p:cNvSpPr txBox="1"/>
          <p:nvPr/>
        </p:nvSpPr>
        <p:spPr>
          <a:xfrm>
            <a:off x="1363207" y="4099704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CE30E-5DB1-46A6-9718-92FB2331CEF4}"/>
              </a:ext>
            </a:extLst>
          </p:cNvPr>
          <p:cNvSpPr txBox="1"/>
          <p:nvPr/>
        </p:nvSpPr>
        <p:spPr>
          <a:xfrm>
            <a:off x="1363207" y="4526240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CB751-543A-456F-8777-32CCA569F236}"/>
              </a:ext>
            </a:extLst>
          </p:cNvPr>
          <p:cNvSpPr txBox="1"/>
          <p:nvPr/>
        </p:nvSpPr>
        <p:spPr>
          <a:xfrm>
            <a:off x="1363207" y="4932900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Сформулировать модель многокритериальной оптимизации, включающую целевые функции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431D3-9BF3-4A6D-B1E6-C78A1A027FFD}"/>
              </a:ext>
            </a:extLst>
          </p:cNvPr>
          <p:cNvSpPr txBox="1"/>
          <p:nvPr/>
        </p:nvSpPr>
        <p:spPr>
          <a:xfrm>
            <a:off x="1363207" y="5528653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Провести численное исследование для получения набора Парето-оптимальных решений,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</p:spTree>
    <p:extLst>
      <p:ext uri="{BB962C8B-B14F-4D97-AF65-F5344CB8AC3E}">
        <p14:creationId xmlns:p14="http://schemas.microsoft.com/office/powerpoint/2010/main" val="183043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C38736-8E6B-499F-BD72-5FAB965136A9}"/>
              </a:ext>
            </a:extLst>
          </p:cNvPr>
          <p:cNvSpPr txBox="1"/>
          <p:nvPr/>
        </p:nvSpPr>
        <p:spPr>
          <a:xfrm>
            <a:off x="802584" y="2993048"/>
            <a:ext cx="101205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 обусловлена возрастающей потребностью в эффективных и автономных источниках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энергии для авиационных систем, где традиционные методы автономного питания часто ограничены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весу, объёму или эксплуатационным ресурсам.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Особый интерес вызывает возможность беспроводной лазерной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передачи энергии, которая обеспечивает возможность питания беспилотных летательных аппаратов,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спутников на больших расстояниях, что критически важно для повышения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мобильности и автономности современной авиации.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8FB81-68F1-4B43-828D-1032BC535F9B}"/>
              </a:ext>
            </a:extLst>
          </p:cNvPr>
          <p:cNvSpPr txBox="1"/>
          <p:nvPr/>
        </p:nvSpPr>
        <p:spPr>
          <a:xfrm>
            <a:off x="802584" y="2042722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1350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4DE9F5-1678-491F-A95A-80812ADC7D2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72" y="1642003"/>
            <a:ext cx="5375275" cy="2277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9F719CD-5B89-4180-8EF5-3C98CDBEC3D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672" y="1642003"/>
            <a:ext cx="5375276" cy="251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A6F54F-3E66-4BFF-80FF-58A382237B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42" y="3818476"/>
            <a:ext cx="3350589" cy="2512942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3A4102ED-3E37-4F9B-A988-31D0EBBB0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660" y="4484344"/>
            <a:ext cx="6023068" cy="18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76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E54602-3F3F-4390-B538-E27A7C60477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434" y="1993429"/>
            <a:ext cx="6064110" cy="4049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87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C184563-D39C-4C5B-ADAA-A0F68DF8E1AA}"/>
              </a:ext>
            </a:extLst>
          </p:cNvPr>
          <p:cNvGrpSpPr/>
          <p:nvPr/>
        </p:nvGrpSpPr>
        <p:grpSpPr>
          <a:xfrm>
            <a:off x="3501849" y="1675522"/>
            <a:ext cx="5399280" cy="4778913"/>
            <a:chOff x="1813217" y="1679839"/>
            <a:chExt cx="6697010" cy="5927536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1CDAF3E4-66CC-460A-B3AF-637F5312D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9770" y="1679839"/>
              <a:ext cx="6268325" cy="1152686"/>
            </a:xfrm>
            <a:prstGeom prst="rect">
              <a:avLst/>
            </a:prstGeom>
          </p:spPr>
        </p:pic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D435FA2D-E2FC-4D03-B56A-2382B206B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3217" y="2748947"/>
              <a:ext cx="6697010" cy="4858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53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EC26CC-B1AA-4965-8DFC-71185ADC070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09" y="1732611"/>
            <a:ext cx="5054600" cy="3591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B6C0F8-4DFC-41CE-B32D-D3EA2065598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009" y="1732611"/>
            <a:ext cx="5257165" cy="363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790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B95D07-61DC-471F-A0DF-447E2FAFA82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900" y="1559010"/>
            <a:ext cx="6241197" cy="4434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83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9F8268-C385-4582-B69B-51296FEA872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618" y="1599043"/>
            <a:ext cx="4935477" cy="4935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66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CDEBB9-E7DE-4744-A5F6-0E067A848A8F}"/>
                  </a:ext>
                </a:extLst>
              </p:cNvPr>
              <p:cNvSpPr txBox="1"/>
              <p:nvPr/>
            </p:nvSpPr>
            <p:spPr>
              <a:xfrm>
                <a:off x="1369114" y="2001943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</m:t>
                    </m:r>
                    <m:r>
                      <m:rPr>
                        <m:sty m:val="p"/>
                      </m:rP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cos</m:t>
                    </m:r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CDEBB9-E7DE-4744-A5F6-0E067A848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114" y="2001943"/>
                <a:ext cx="609765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1190A6-4B01-43A3-AB9F-35AB3F144AA8}"/>
                  </a:ext>
                </a:extLst>
              </p:cNvPr>
              <p:cNvSpPr txBox="1"/>
              <p:nvPr/>
            </p:nvSpPr>
            <p:spPr>
              <a:xfrm>
                <a:off x="-618711" y="2499043"/>
                <a:ext cx="6097656" cy="43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лазер</m:t>
                              </m:r>
                            </m:sub>
                          </m:sSub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1190A6-4B01-43A3-AB9F-35AB3F144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8711" y="2499043"/>
                <a:ext cx="6097656" cy="434158"/>
              </a:xfrm>
              <a:prstGeom prst="rect">
                <a:avLst/>
              </a:prstGeom>
              <a:blipFill>
                <a:blip r:embed="rId5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AD34F9-C453-4B79-9902-0371044AE852}"/>
                  </a:ext>
                </a:extLst>
              </p:cNvPr>
              <p:cNvSpPr txBox="1"/>
              <p:nvPr/>
            </p:nvSpPr>
            <p:spPr>
              <a:xfrm>
                <a:off x="-496956" y="3080847"/>
                <a:ext cx="6400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AD34F9-C453-4B79-9902-0371044A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6956" y="3080847"/>
                <a:ext cx="6400800" cy="369332"/>
              </a:xfrm>
              <a:prstGeom prst="rect">
                <a:avLst/>
              </a:prstGeom>
              <a:blipFill>
                <a:blip r:embed="rId6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799977-7B1C-4CDF-8C29-7F7A72C75A68}"/>
                  </a:ext>
                </a:extLst>
              </p:cNvPr>
              <p:cNvSpPr txBox="1"/>
              <p:nvPr/>
            </p:nvSpPr>
            <p:spPr>
              <a:xfrm>
                <a:off x="159025" y="3597825"/>
                <a:ext cx="9799983" cy="43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лазер</m:t>
                              </m:r>
                            </m:sub>
                          </m:sSub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799977-7B1C-4CDF-8C29-7F7A72C75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25" y="3597825"/>
                <a:ext cx="9799983" cy="434158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98366B-744E-425E-993C-B00E75CF87E1}"/>
                  </a:ext>
                </a:extLst>
              </p:cNvPr>
              <p:cNvSpPr txBox="1"/>
              <p:nvPr/>
            </p:nvSpPr>
            <p:spPr>
              <a:xfrm>
                <a:off x="159025" y="4159751"/>
                <a:ext cx="909003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98366B-744E-425E-993C-B00E75CF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25" y="4159751"/>
                <a:ext cx="9090033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D3A501-8D26-440E-B3D3-380BB612FE0C}"/>
                  </a:ext>
                </a:extLst>
              </p:cNvPr>
              <p:cNvSpPr txBox="1"/>
              <p:nvPr/>
            </p:nvSpPr>
            <p:spPr>
              <a:xfrm>
                <a:off x="1061002" y="5005098"/>
                <a:ext cx="6405768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D3A501-8D26-440E-B3D3-380BB612F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02" y="5005098"/>
                <a:ext cx="6405768" cy="5068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695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53FF436-315C-4C72-BE56-5F50908826B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335" y="1984802"/>
            <a:ext cx="7372822" cy="20902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043819-3720-43CC-B6EC-34412451A5A9}"/>
                  </a:ext>
                </a:extLst>
              </p:cNvPr>
              <p:cNvSpPr txBox="1"/>
              <p:nvPr/>
            </p:nvSpPr>
            <p:spPr>
              <a:xfrm>
                <a:off x="466272" y="4619828"/>
                <a:ext cx="6097656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043819-3720-43CC-B6EC-34412451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2" y="4619828"/>
                <a:ext cx="6097656" cy="720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EA047E-C275-4C07-88C4-3B5D961FB186}"/>
                  </a:ext>
                </a:extLst>
              </p:cNvPr>
              <p:cNvSpPr txBox="1"/>
              <p:nvPr/>
            </p:nvSpPr>
            <p:spPr>
              <a:xfrm>
                <a:off x="4248450" y="4474498"/>
                <a:ext cx="6097656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EA047E-C275-4C07-88C4-3B5D961FB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450" y="4474498"/>
                <a:ext cx="6097656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1FB7F0-7AE8-4617-BBC2-5EE1A6892F5F}"/>
                  </a:ext>
                </a:extLst>
              </p:cNvPr>
              <p:cNvSpPr txBox="1"/>
              <p:nvPr/>
            </p:nvSpPr>
            <p:spPr>
              <a:xfrm>
                <a:off x="7619172" y="4603573"/>
                <a:ext cx="6097656" cy="652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1FB7F0-7AE8-4617-BBC2-5EE1A6892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172" y="4603573"/>
                <a:ext cx="6097656" cy="6525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647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65FB67-E109-488B-A0B8-3F95E94A7B1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36" y="1753441"/>
            <a:ext cx="7051040" cy="40468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5014B8-7A7C-49E5-BC03-F17678AF7053}"/>
                  </a:ext>
                </a:extLst>
              </p:cNvPr>
              <p:cNvSpPr txBox="1"/>
              <p:nvPr/>
            </p:nvSpPr>
            <p:spPr>
              <a:xfrm>
                <a:off x="5901359" y="3863048"/>
                <a:ext cx="6097656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5014B8-7A7C-49E5-BC03-F17678AF7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359" y="3863048"/>
                <a:ext cx="6097656" cy="720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580523-FF62-4013-B54D-C6427B50FE5C}"/>
                  </a:ext>
                </a:extLst>
              </p:cNvPr>
              <p:cNvSpPr txBox="1"/>
              <p:nvPr/>
            </p:nvSpPr>
            <p:spPr>
              <a:xfrm>
                <a:off x="4668906" y="4783036"/>
                <a:ext cx="6097656" cy="817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bHide m:val="on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sepChr m:val=",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∬"/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580523-FF62-4013-B54D-C6427B50F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906" y="4783036"/>
                <a:ext cx="6097656" cy="8175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5611B4-A4B7-403C-9BC6-E9047DB4590F}"/>
                  </a:ext>
                </a:extLst>
              </p:cNvPr>
              <p:cNvSpPr txBox="1"/>
              <p:nvPr/>
            </p:nvSpPr>
            <p:spPr>
              <a:xfrm>
                <a:off x="6557341" y="5800295"/>
                <a:ext cx="6097656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x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∈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,</a:t>
                </a:r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5611B4-A4B7-403C-9BC6-E9047DB45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341" y="5800295"/>
                <a:ext cx="6097656" cy="504818"/>
              </a:xfrm>
              <a:prstGeom prst="rect">
                <a:avLst/>
              </a:prstGeom>
              <a:blipFill>
                <a:blip r:embed="rId7"/>
                <a:stretch>
                  <a:fillRect l="-900" b="-48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66A0AC-E4C1-4B3B-A1D7-83A81CAFB501}"/>
                  </a:ext>
                </a:extLst>
              </p:cNvPr>
              <p:cNvSpPr txBox="1"/>
              <p:nvPr/>
            </p:nvSpPr>
            <p:spPr>
              <a:xfrm>
                <a:off x="7717734" y="5800294"/>
                <a:ext cx="6326256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y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∈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66A0AC-E4C1-4B3B-A1D7-83A81CAFB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734" y="5800294"/>
                <a:ext cx="6326256" cy="504818"/>
              </a:xfrm>
              <a:prstGeom prst="rect">
                <a:avLst/>
              </a:prstGeom>
              <a:blipFill>
                <a:blip r:embed="rId8"/>
                <a:stretch>
                  <a:fillRect l="-771" b="-36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415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E0C109-CD1D-47A7-9426-1FC2069AC72F}"/>
                  </a:ext>
                </a:extLst>
              </p:cNvPr>
              <p:cNvSpPr txBox="1"/>
              <p:nvPr/>
            </p:nvSpPr>
            <p:spPr>
              <a:xfrm>
                <a:off x="1309480" y="2051755"/>
                <a:ext cx="7198416" cy="902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матрица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E0C109-CD1D-47A7-9426-1FC2069AC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480" y="2051755"/>
                <a:ext cx="7198416" cy="9021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9658A5C-5122-4F4C-A877-359A2C954732}"/>
              </a:ext>
            </a:extLst>
          </p:cNvPr>
          <p:cNvSpPr txBox="1"/>
          <p:nvPr/>
        </p:nvSpPr>
        <p:spPr>
          <a:xfrm>
            <a:off x="3048828" y="324433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25DB878-2DB4-4DDA-AAC5-D4329A9FC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80" y="3244334"/>
            <a:ext cx="6296904" cy="8287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856E43-6980-4C65-957A-0D79F24E1C4C}"/>
              </a:ext>
            </a:extLst>
          </p:cNvPr>
          <p:cNvSpPr txBox="1"/>
          <p:nvPr/>
        </p:nvSpPr>
        <p:spPr>
          <a:xfrm>
            <a:off x="1123121" y="3480969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X: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C2CA8-22CA-47A4-92B6-C85793B4CAF5}"/>
              </a:ext>
            </a:extLst>
          </p:cNvPr>
          <p:cNvSpPr txBox="1"/>
          <p:nvPr/>
        </p:nvSpPr>
        <p:spPr>
          <a:xfrm>
            <a:off x="1123121" y="4600233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Y: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BB54A3E-CF14-46D3-B99F-49EDC6D764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9480" y="4377409"/>
            <a:ext cx="6277851" cy="74305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041F4C7-50E1-41F9-969A-3491F009B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458" y="5355324"/>
            <a:ext cx="8400049" cy="94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3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4D37C9-CA18-49AC-A497-61E9770DC05A}"/>
                  </a:ext>
                </a:extLst>
              </p:cNvPr>
              <p:cNvSpPr txBox="1"/>
              <p:nvPr/>
            </p:nvSpPr>
            <p:spPr>
              <a:xfrm>
                <a:off x="-211206" y="2120188"/>
                <a:ext cx="6097656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4D37C9-CA18-49AC-A497-61E9770DC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1206" y="2120188"/>
                <a:ext cx="6097656" cy="391261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BF5498-918E-4297-A1C2-FACFBFF5E1FF}"/>
                  </a:ext>
                </a:extLst>
              </p:cNvPr>
              <p:cNvSpPr txBox="1"/>
              <p:nvPr/>
            </p:nvSpPr>
            <p:spPr>
              <a:xfrm>
                <a:off x="4164495" y="2855325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BF5498-918E-4297-A1C2-FACFBFF5E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495" y="2855325"/>
                <a:ext cx="6202016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6C25CB-8A7F-49B1-B983-7A24DC20EC8E}"/>
                  </a:ext>
                </a:extLst>
              </p:cNvPr>
              <p:cNvSpPr txBox="1"/>
              <p:nvPr/>
            </p:nvSpPr>
            <p:spPr>
              <a:xfrm>
                <a:off x="232872" y="2934898"/>
                <a:ext cx="6202016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6C25CB-8A7F-49B1-B983-7A24DC20E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2" y="2934898"/>
                <a:ext cx="6202016" cy="8249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887D9E-E22D-4320-BBD2-1CEF0D97E205}"/>
                  </a:ext>
                </a:extLst>
              </p:cNvPr>
              <p:cNvSpPr txBox="1"/>
              <p:nvPr/>
            </p:nvSpPr>
            <p:spPr>
              <a:xfrm>
                <a:off x="2633870" y="4517296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887D9E-E22D-4320-BBD2-1CEF0D97E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870" y="4517296"/>
                <a:ext cx="6202016" cy="9840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509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9AD1E1-CFB4-4E93-A290-73860C2A983A}"/>
                  </a:ext>
                </a:extLst>
              </p:cNvPr>
              <p:cNvSpPr txBox="1"/>
              <p:nvPr/>
            </p:nvSpPr>
            <p:spPr>
              <a:xfrm>
                <a:off x="1299541" y="2313588"/>
                <a:ext cx="9096789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9AD1E1-CFB4-4E93-A290-73860C2A9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541" y="2313588"/>
                <a:ext cx="9096789" cy="9840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0654D9-6B11-48BD-8D3E-A9CD0E9281D8}"/>
                  </a:ext>
                </a:extLst>
              </p:cNvPr>
              <p:cNvSpPr txBox="1"/>
              <p:nvPr/>
            </p:nvSpPr>
            <p:spPr>
              <a:xfrm>
                <a:off x="-249721" y="3560361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0654D9-6B11-48BD-8D3E-A9CD0E92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9721" y="3560361"/>
                <a:ext cx="6097656" cy="369332"/>
              </a:xfrm>
              <a:prstGeom prst="rect">
                <a:avLst/>
              </a:prstGeom>
              <a:blipFill>
                <a:blip r:embed="rId5"/>
                <a:stretch>
                  <a:fillRect t="-22951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44B72F-AB7A-49D4-8D31-D8AC197A2512}"/>
                  </a:ext>
                </a:extLst>
              </p:cNvPr>
              <p:cNvSpPr txBox="1"/>
              <p:nvPr/>
            </p:nvSpPr>
            <p:spPr>
              <a:xfrm>
                <a:off x="1649896" y="4171211"/>
                <a:ext cx="6221894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44B72F-AB7A-49D4-8D31-D8AC197A2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896" y="4171211"/>
                <a:ext cx="6221894" cy="9840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137C1D-5E8D-478D-9BD4-59757EE8E75B}"/>
                  </a:ext>
                </a:extLst>
              </p:cNvPr>
              <p:cNvSpPr txBox="1"/>
              <p:nvPr/>
            </p:nvSpPr>
            <p:spPr>
              <a:xfrm>
                <a:off x="1083366" y="5286174"/>
                <a:ext cx="622189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137C1D-5E8D-478D-9BD4-59757EE8E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66" y="5286174"/>
                <a:ext cx="6221894" cy="7638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433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27D864-E4DD-46C0-80CA-69999B5AB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539" y="2090316"/>
            <a:ext cx="7095899" cy="18790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4D64EE-20BF-411D-BF55-D876C52A8F3E}"/>
                  </a:ext>
                </a:extLst>
              </p:cNvPr>
              <p:cNvSpPr txBox="1"/>
              <p:nvPr/>
            </p:nvSpPr>
            <p:spPr>
              <a:xfrm>
                <a:off x="3152660" y="4309330"/>
                <a:ext cx="6097656" cy="46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4D64EE-20BF-411D-BF55-D876C52A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660" y="4309330"/>
                <a:ext cx="6097656" cy="465705"/>
              </a:xfrm>
              <a:prstGeom prst="rect">
                <a:avLst/>
              </a:prstGeom>
              <a:blipFill>
                <a:blip r:embed="rId5"/>
                <a:stretch>
                  <a:fillRect t="-1316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037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54DF1B-06C9-4E43-8C98-900060637B21}"/>
                  </a:ext>
                </a:extLst>
              </p:cNvPr>
              <p:cNvSpPr txBox="1"/>
              <p:nvPr/>
            </p:nvSpPr>
            <p:spPr>
              <a:xfrm>
                <a:off x="3047172" y="2230875"/>
                <a:ext cx="6097656" cy="766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ex</m:t>
                              </m:r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𝐵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54DF1B-06C9-4E43-8C98-900060637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2" y="2230875"/>
                <a:ext cx="6097656" cy="766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75152F-63DF-4EC5-916C-EC1D1203FC01}"/>
                  </a:ext>
                </a:extLst>
              </p:cNvPr>
              <p:cNvSpPr txBox="1"/>
              <p:nvPr/>
            </p:nvSpPr>
            <p:spPr>
              <a:xfrm>
                <a:off x="3047172" y="3360862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75152F-63DF-4EC5-916C-EC1D1203F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2" y="3360862"/>
                <a:ext cx="60976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1EB534-F8FE-4C5D-8A88-844B8F33584E}"/>
                  </a:ext>
                </a:extLst>
              </p:cNvPr>
              <p:cNvSpPr txBox="1"/>
              <p:nvPr/>
            </p:nvSpPr>
            <p:spPr>
              <a:xfrm>
                <a:off x="2959376" y="3941801"/>
                <a:ext cx="6097656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1EB534-F8FE-4C5D-8A88-844B8F335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376" y="3941801"/>
                <a:ext cx="6097656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FDCEFA8-7233-4CE3-983D-479B9DAE54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2181" y="5317893"/>
            <a:ext cx="3667637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78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222693-9183-4276-A935-8513B86ABF68}"/>
                  </a:ext>
                </a:extLst>
              </p:cNvPr>
              <p:cNvSpPr txBox="1"/>
              <p:nvPr/>
            </p:nvSpPr>
            <p:spPr>
              <a:xfrm>
                <a:off x="2645051" y="3035591"/>
                <a:ext cx="6901898" cy="786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𝑑𝑒𝑡𝐴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nary>
                        <m:naryPr>
                          <m:chr m:val="∬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222693-9183-4276-A935-8513B86AB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051" y="3035591"/>
                <a:ext cx="6901898" cy="786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70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5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52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04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5AC30-B5CC-40F7-B4EC-A452FA44D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650051-EE45-4C68-9E16-5FE9D883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199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360</Words>
  <Application>Microsoft Office PowerPoint</Application>
  <PresentationFormat>Широкоэкранный</PresentationFormat>
  <Paragraphs>52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Тема Office</vt:lpstr>
      <vt:lpstr>Исследование возможности и способов передачи энергии лазерным лучом ИК диапазона для питания беспилотных летательных аппаратов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возможности и способов передачи энергии лазерным лучом ИК диапазона для питания беспилотных летательных аппаратов</dc:title>
  <dc:creator>Валерий</dc:creator>
  <cp:lastModifiedBy>Валерий</cp:lastModifiedBy>
  <cp:revision>18</cp:revision>
  <dcterms:created xsi:type="dcterms:W3CDTF">2025-06-06T07:36:24Z</dcterms:created>
  <dcterms:modified xsi:type="dcterms:W3CDTF">2025-06-06T08:29:33Z</dcterms:modified>
</cp:coreProperties>
</file>