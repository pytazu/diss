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</p:sldMasterIdLst>
  <p:notesMasterIdLst>
    <p:notesMasterId r:id="rId28"/>
  </p:notesMasterIdLst>
  <p:sldIdLst>
    <p:sldId id="360" r:id="rId3"/>
    <p:sldId id="359" r:id="rId4"/>
    <p:sldId id="361" r:id="rId5"/>
    <p:sldId id="362" r:id="rId6"/>
    <p:sldId id="363" r:id="rId7"/>
    <p:sldId id="364" r:id="rId8"/>
    <p:sldId id="365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4" r:id="rId24"/>
    <p:sldId id="386" r:id="rId25"/>
    <p:sldId id="388" r:id="rId26"/>
    <p:sldId id="389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7BB"/>
    <a:srgbClr val="01F58F"/>
    <a:srgbClr val="B5B6E5"/>
    <a:srgbClr val="3ECC71"/>
    <a:srgbClr val="006EFF"/>
    <a:srgbClr val="007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4"/>
    <p:restoredTop sz="94595"/>
  </p:normalViewPr>
  <p:slideViewPr>
    <p:cSldViewPr snapToGrid="0">
      <p:cViewPr varScale="1">
        <p:scale>
          <a:sx n="108" d="100"/>
          <a:sy n="108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0765-5A68-4F06-8CA7-040D49A6EC5B}" type="datetimeFigureOut">
              <a:rPr lang="ru-RU" smtClean="0"/>
              <a:t>19.06.2025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905A-1290-4C9F-82D0-63B73F43D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71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805C0-9214-21DE-F5E7-69D551C98C99}"/>
              </a:ext>
            </a:extLst>
          </p:cNvPr>
          <p:cNvSpPr txBox="1"/>
          <p:nvPr userDrawn="1"/>
        </p:nvSpPr>
        <p:spPr>
          <a:xfrm>
            <a:off x="10887456" y="615696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1F58F"/>
                </a:solidFill>
              </a:rPr>
              <a:t>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4D37E-D7A6-41D1-9B0D-AB0A1B6E526E}"/>
              </a:ext>
            </a:extLst>
          </p:cNvPr>
          <p:cNvSpPr txBox="1"/>
          <p:nvPr userDrawn="1"/>
        </p:nvSpPr>
        <p:spPr bwMode="auto">
          <a:xfrm>
            <a:off x="2917790" y="1530720"/>
            <a:ext cx="63564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Выпускная квалификационная работа на тему:</a:t>
            </a:r>
          </a:p>
        </p:txBody>
      </p:sp>
      <p:graphicFrame>
        <p:nvGraphicFramePr>
          <p:cNvPr id="5" name="Таблица 7">
            <a:extLst>
              <a:ext uri="{FF2B5EF4-FFF2-40B4-BE49-F238E27FC236}">
                <a16:creationId xmlns:a16="http://schemas.microsoft.com/office/drawing/2014/main" id="{507E2F32-2E92-4245-A803-99B80F8009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98614980"/>
              </p:ext>
            </p:extLst>
          </p:nvPr>
        </p:nvGraphicFramePr>
        <p:xfrm>
          <a:off x="358978" y="3937292"/>
          <a:ext cx="10798628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628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526972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409302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01F58F"/>
                          </a:solidFill>
                        </a:rPr>
                        <a:t>Автор ВКР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1F58F"/>
                          </a:solidFill>
                        </a:rPr>
                        <a:t>Научный руководитель ВКР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1F58F"/>
                          </a:solidFill>
                        </a:rPr>
                        <a:t>Рецензент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31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/>
          <p:cNvSpPr/>
          <p:nvPr userDrawn="1"/>
        </p:nvSpPr>
        <p:spPr bwMode="auto">
          <a:xfrm>
            <a:off x="11203616" y="6041232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B89E8-C45B-DCAD-CCB7-C9779C83C75B}"/>
              </a:ext>
            </a:extLst>
          </p:cNvPr>
          <p:cNvSpPr txBox="1"/>
          <p:nvPr userDrawn="1"/>
        </p:nvSpPr>
        <p:spPr>
          <a:xfrm>
            <a:off x="1451232" y="513041"/>
            <a:ext cx="8351133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000" b="1" dirty="0" smtClean="0">
                <a:solidFill>
                  <a:srgbClr val="0072FF"/>
                </a:solidFill>
              </a:defRPr>
            </a:lvl1pPr>
          </a:lstStyle>
          <a:p>
            <a:pPr lvl="0"/>
            <a:endParaRPr lang="ru-RU" dirty="0">
              <a:solidFill>
                <a:srgbClr val="4447BB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CB42FC0-AA05-1B82-59FD-E43A211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950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7BB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10"/>
          <p:cNvPicPr/>
          <p:nvPr/>
        </p:nvPicPr>
        <p:blipFill>
          <a:blip r:embed="rId3"/>
          <a:stretch/>
        </p:blipFill>
        <p:spPr bwMode="auto">
          <a:xfrm>
            <a:off x="479520" y="444240"/>
            <a:ext cx="808920" cy="777600"/>
          </a:xfrm>
          <a:prstGeom prst="rect">
            <a:avLst/>
          </a:prstGeom>
          <a:ln w="0">
            <a:noFill/>
          </a:ln>
        </p:spPr>
      </p:pic>
      <p:pic>
        <p:nvPicPr>
          <p:cNvPr id="5" name="Рисунок 14"/>
          <p:cNvPicPr/>
          <p:nvPr/>
        </p:nvPicPr>
        <p:blipFill>
          <a:blip r:embed="rId4"/>
          <a:stretch/>
        </p:blipFill>
        <p:spPr bwMode="auto">
          <a:xfrm>
            <a:off x="11578320" y="6275880"/>
            <a:ext cx="133200" cy="141480"/>
          </a:xfrm>
          <a:prstGeom prst="rect">
            <a:avLst/>
          </a:prstGeom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92441-EC0E-EBDA-3CA3-1034DAE24FDE}"/>
              </a:ext>
            </a:extLst>
          </p:cNvPr>
          <p:cNvSpPr txBox="1"/>
          <p:nvPr userDrawn="1"/>
        </p:nvSpPr>
        <p:spPr bwMode="auto">
          <a:xfrm>
            <a:off x="10887456" y="615696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1F58F"/>
                </a:solidFill>
              </a:rPr>
              <a:t>2025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3354C2F-0C4C-3079-A91C-DE723203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980" y="2335076"/>
            <a:ext cx="6793992" cy="1234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21951FB-CCCE-1FB2-BA5F-6BF919E94E29}"/>
              </a:ext>
            </a:extLst>
          </p:cNvPr>
          <p:cNvCxnSpPr>
            <a:cxnSpLocks/>
          </p:cNvCxnSpPr>
          <p:nvPr userDrawn="1"/>
        </p:nvCxnSpPr>
        <p:spPr>
          <a:xfrm>
            <a:off x="1508166" y="692962"/>
            <a:ext cx="0" cy="3318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D9C68E-4050-7888-3951-D673081A1A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800"/>
          <a:stretch/>
        </p:blipFill>
        <p:spPr>
          <a:xfrm>
            <a:off x="1715612" y="325175"/>
            <a:ext cx="2519584" cy="106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6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A1144EA-B6D9-25CD-E673-F7423C55608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09360" y="465139"/>
            <a:ext cx="0" cy="465138"/>
          </a:xfrm>
          <a:prstGeom prst="line">
            <a:avLst/>
          </a:prstGeom>
          <a:ln w="19050">
            <a:solidFill>
              <a:srgbClr val="4447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15">
            <a:extLst>
              <a:ext uri="{FF2B5EF4-FFF2-40B4-BE49-F238E27FC236}">
                <a16:creationId xmlns:a16="http://schemas.microsoft.com/office/drawing/2014/main" id="{ABBEB2A0-BE29-8CF3-5890-BC7D1FCC8A3A}"/>
              </a:ext>
            </a:extLst>
          </p:cNvPr>
          <p:cNvSpPr/>
          <p:nvPr userDrawn="1"/>
        </p:nvSpPr>
        <p:spPr bwMode="auto">
          <a:xfrm>
            <a:off x="11209534" y="6036469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9FBDEF8-252F-DC33-A0F8-0FA6EE7F4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5C68B507-7E27-05C1-7BA1-65E8FD84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39" y="356013"/>
            <a:ext cx="10341339" cy="68338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ru-RU" dirty="0"/>
              <a:t>Образец заголовка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6B2478-54DB-D2F6-79D8-9E4B2B5DD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38" y="465139"/>
            <a:ext cx="483744" cy="46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000" b="1" kern="1200" dirty="0" smtClean="0">
          <a:solidFill>
            <a:srgbClr val="4447BB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7">
            <a:extLst>
              <a:ext uri="{FF2B5EF4-FFF2-40B4-BE49-F238E27FC236}">
                <a16:creationId xmlns:a16="http://schemas.microsoft.com/office/drawing/2014/main" id="{3D311A4E-998B-48F1-AB55-4238891CD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16579"/>
              </p:ext>
            </p:extLst>
          </p:nvPr>
        </p:nvGraphicFramePr>
        <p:xfrm>
          <a:off x="363716" y="3956613"/>
          <a:ext cx="1079862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756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496514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386135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Игнатенко Валерий Константинович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Группа (М14О-201СВ-23)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Старовойтов Евгений Игоревич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К.т.н., АО «НИИМА «Прогресс», начальник отдела научных исследований и защиты интеллектуальной собственности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Жуков Александр Николаевич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АО «НИИМА «Прогресс», заместитель директора дизайн-центра по ПАК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07751B-083B-4E98-9353-0C84C529B6CD}"/>
              </a:ext>
            </a:extLst>
          </p:cNvPr>
          <p:cNvSpPr txBox="1"/>
          <p:nvPr/>
        </p:nvSpPr>
        <p:spPr>
          <a:xfrm>
            <a:off x="3059320" y="1896891"/>
            <a:ext cx="6073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1143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исследования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1A82E-7D9E-4F57-878E-C899EAE9BE04}"/>
              </a:ext>
            </a:extLst>
          </p:cNvPr>
          <p:cNvSpPr txBox="1"/>
          <p:nvPr/>
        </p:nvSpPr>
        <p:spPr>
          <a:xfrm>
            <a:off x="959165" y="1626202"/>
            <a:ext cx="10756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cs typeface="Times New Roman" panose="02020603050405020304" pitchFamily="18" charset="0"/>
              </a:rPr>
              <a:t>Целью</a:t>
            </a:r>
            <a:r>
              <a:rPr lang="ru-RU" sz="1800" dirty="0"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параметров системы передачи энергии лазерным лучом в инфракрасном диапазоне для повышения  коэффициента полезного действия (КПД)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B5EDE-E9FF-4A0A-A77B-790966363049}"/>
              </a:ext>
            </a:extLst>
          </p:cNvPr>
          <p:cNvSpPr txBox="1"/>
          <p:nvPr/>
        </p:nvSpPr>
        <p:spPr>
          <a:xfrm>
            <a:off x="959165" y="2611447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B1DC0-48F3-44B0-89E0-27865551F663}"/>
              </a:ext>
            </a:extLst>
          </p:cNvPr>
          <p:cNvSpPr txBox="1"/>
          <p:nvPr/>
        </p:nvSpPr>
        <p:spPr>
          <a:xfrm>
            <a:off x="1353268" y="3069674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1) </a:t>
            </a:r>
            <a:r>
              <a:rPr lang="ru-RU" dirty="0"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cs typeface="Times New Roman" panose="02020603050405020304" pitchFamily="18" charset="0"/>
              </a:rPr>
              <a:t>    </a:t>
            </a:r>
            <a:r>
              <a:rPr lang="ru-RU" dirty="0"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1E3F-DA11-485D-BADB-4248AC8F0FF8}"/>
              </a:ext>
            </a:extLst>
          </p:cNvPr>
          <p:cNvSpPr txBox="1"/>
          <p:nvPr/>
        </p:nvSpPr>
        <p:spPr>
          <a:xfrm>
            <a:off x="1353268" y="3682261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2) </a:t>
            </a:r>
            <a:r>
              <a:rPr lang="ru-RU" dirty="0"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6FAD3-2BA8-4A4F-A1E3-DB4B0CB85C97}"/>
              </a:ext>
            </a:extLst>
          </p:cNvPr>
          <p:cNvSpPr txBox="1"/>
          <p:nvPr/>
        </p:nvSpPr>
        <p:spPr>
          <a:xfrm>
            <a:off x="1353268" y="4108797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3) </a:t>
            </a:r>
            <a:r>
              <a:rPr lang="ru-RU" dirty="0"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3718A-EF8C-4BFE-B779-59B9692E5108}"/>
              </a:ext>
            </a:extLst>
          </p:cNvPr>
          <p:cNvSpPr txBox="1"/>
          <p:nvPr/>
        </p:nvSpPr>
        <p:spPr>
          <a:xfrm>
            <a:off x="1353268" y="4515457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4) Решить задачу многокритериальной оптимизации, включающую целевые функции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B1549-645D-4220-AFC3-0444A83EBC36}"/>
              </a:ext>
            </a:extLst>
          </p:cNvPr>
          <p:cNvSpPr txBox="1"/>
          <p:nvPr/>
        </p:nvSpPr>
        <p:spPr>
          <a:xfrm>
            <a:off x="1353268" y="5111210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5) Провести численное моделирование для получения набора Парето-оптимальных решений,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</p:spTree>
    <p:extLst>
      <p:ext uri="{BB962C8B-B14F-4D97-AF65-F5344CB8AC3E}">
        <p14:creationId xmlns:p14="http://schemas.microsoft.com/office/powerpoint/2010/main" val="413710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17529-381B-421C-B805-9F90E3B2FA92}"/>
              </a:ext>
            </a:extLst>
          </p:cNvPr>
          <p:cNvSpPr txBox="1"/>
          <p:nvPr/>
        </p:nvSpPr>
        <p:spPr>
          <a:xfrm>
            <a:off x="981497" y="2159954"/>
            <a:ext cx="107094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</p:spTree>
    <p:extLst>
      <p:ext uri="{BB962C8B-B14F-4D97-AF65-F5344CB8AC3E}">
        <p14:creationId xmlns:p14="http://schemas.microsoft.com/office/powerpoint/2010/main" val="43448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передачи энергии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4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1A5CB0-4376-4F22-83A9-0378A4013F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02" y="1351816"/>
            <a:ext cx="5375275" cy="227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8E7E6E0F-BEB5-46E8-9B01-ACFF2789AC1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302" y="1351816"/>
            <a:ext cx="5375276" cy="251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5FFC53-8423-41B9-A9EA-C0C416C64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67" y="3864758"/>
            <a:ext cx="3350589" cy="2512942"/>
          </a:xfrm>
          <a:prstGeom prst="rect">
            <a:avLst/>
          </a:prstGeom>
        </p:spPr>
      </p:pic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9407C35D-A07E-4B9C-90C6-A2FED380C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39" y="4177174"/>
            <a:ext cx="6023068" cy="18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42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виды рассеяния излучения в атмосфере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5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FE2EFD-7122-4E01-B64D-598F8DD279B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945" y="1515535"/>
            <a:ext cx="6064110" cy="4049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90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Коэффициенты поглощения для разных длин волн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6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DEB3497-79E2-4376-8E97-4E682E9F2B24}"/>
              </a:ext>
            </a:extLst>
          </p:cNvPr>
          <p:cNvGrpSpPr/>
          <p:nvPr/>
        </p:nvGrpSpPr>
        <p:grpSpPr>
          <a:xfrm>
            <a:off x="3396360" y="1434941"/>
            <a:ext cx="5399280" cy="4778913"/>
            <a:chOff x="1813217" y="1679839"/>
            <a:chExt cx="6697010" cy="5927536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063E5717-56F5-4057-A4BD-979B8810F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770" y="1679839"/>
              <a:ext cx="6268325" cy="1152686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5A22B4C5-7D53-4230-8A05-8E3DF0B7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3217" y="2748947"/>
              <a:ext cx="6697010" cy="4858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4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Атмосферные профили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0E6958-A1EA-440D-82FA-5C5F8D4849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36" y="977256"/>
            <a:ext cx="3833411" cy="261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D6E245-8574-4A58-80B5-779BBB7761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0300"/>
            <a:ext cx="3722322" cy="256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43E26E-229E-4F1D-BB79-ED5D38E825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86" y="3596867"/>
            <a:ext cx="3703361" cy="255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557D798-8F89-42D0-BA7B-B7BDEA3EDA8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13" y="3118070"/>
            <a:ext cx="3295696" cy="3383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726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угла падения луча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/>
              <p:nvPr/>
            </p:nvSpPr>
            <p:spPr>
              <a:xfrm>
                <a:off x="2263636" y="1785303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r>
                      <m:rPr>
                        <m:sty m:val="p"/>
                      </m:rP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cos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636" y="1785303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E89B50-F8D3-435A-8D8C-972E561EF7B8}"/>
                  </a:ext>
                </a:extLst>
              </p:cNvPr>
              <p:cNvSpPr txBox="1"/>
              <p:nvPr/>
            </p:nvSpPr>
            <p:spPr>
              <a:xfrm>
                <a:off x="275811" y="2282403"/>
                <a:ext cx="6097656" cy="43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лазер</m:t>
                              </m:r>
                            </m:sub>
                          </m:sSub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E89B50-F8D3-435A-8D8C-972E561EF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11" y="2282403"/>
                <a:ext cx="6097656" cy="434158"/>
              </a:xfrm>
              <a:prstGeom prst="rect">
                <a:avLst/>
              </a:prstGeom>
              <a:blipFill>
                <a:blip r:embed="rId3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D353BE-622B-42CC-A2ED-B0C4018E3B1E}"/>
                  </a:ext>
                </a:extLst>
              </p:cNvPr>
              <p:cNvSpPr txBox="1"/>
              <p:nvPr/>
            </p:nvSpPr>
            <p:spPr>
              <a:xfrm>
                <a:off x="397566" y="2864207"/>
                <a:ext cx="6400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ru-RU" i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D353BE-622B-42CC-A2ED-B0C4018E3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6" y="2864207"/>
                <a:ext cx="6400800" cy="369332"/>
              </a:xfrm>
              <a:prstGeom prst="rect">
                <a:avLst/>
              </a:prstGeom>
              <a:blipFill>
                <a:blip r:embed="rId4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C3D667-B759-4089-8EF5-76039C70D020}"/>
                  </a:ext>
                </a:extLst>
              </p:cNvPr>
              <p:cNvSpPr txBox="1"/>
              <p:nvPr/>
            </p:nvSpPr>
            <p:spPr>
              <a:xfrm>
                <a:off x="1053547" y="3381185"/>
                <a:ext cx="9799983" cy="43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лазер</m:t>
                              </m:r>
                            </m:sub>
                          </m:sSub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∗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sup>
                      </m:sSup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C3D667-B759-4089-8EF5-76039C70D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47" y="3381185"/>
                <a:ext cx="9799983" cy="434158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95134-3FEA-4911-930F-044413751974}"/>
                  </a:ext>
                </a:extLst>
              </p:cNvPr>
              <p:cNvSpPr txBox="1"/>
              <p:nvPr/>
            </p:nvSpPr>
            <p:spPr>
              <a:xfrm>
                <a:off x="1053547" y="3943111"/>
                <a:ext cx="909003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95134-3FEA-4911-930F-044413751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47" y="3943111"/>
                <a:ext cx="9090033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32FAC-6534-461E-9901-F58C5FF41976}"/>
                  </a:ext>
                </a:extLst>
              </p:cNvPr>
              <p:cNvSpPr txBox="1"/>
              <p:nvPr/>
            </p:nvSpPr>
            <p:spPr>
              <a:xfrm>
                <a:off x="1955524" y="4788458"/>
                <a:ext cx="6405768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632FAC-6534-461E-9901-F58C5FF41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24" y="4788458"/>
                <a:ext cx="6405768" cy="5068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85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смещения луча от центра фотоприемника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9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6C3E0A-A7C9-4354-B3E1-2445955C19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848" y="1840118"/>
            <a:ext cx="7372822" cy="20902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/>
              <p:nvPr/>
            </p:nvSpPr>
            <p:spPr>
              <a:xfrm>
                <a:off x="545785" y="4475144"/>
                <a:ext cx="6097656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85" y="4475144"/>
                <a:ext cx="6097656" cy="720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/>
              <p:nvPr/>
            </p:nvSpPr>
            <p:spPr>
              <a:xfrm>
                <a:off x="4327963" y="4329814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963" y="4329814"/>
                <a:ext cx="6097656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/>
              <p:nvPr/>
            </p:nvSpPr>
            <p:spPr>
              <a:xfrm>
                <a:off x="7698685" y="4458889"/>
                <a:ext cx="6097656" cy="652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685" y="4458889"/>
                <a:ext cx="6097656" cy="652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58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Расположение систем координат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32D66A-9667-4DF3-9DA7-42F138BA62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67" y="1405572"/>
            <a:ext cx="7051040" cy="4046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/>
              <p:nvPr/>
            </p:nvSpPr>
            <p:spPr>
              <a:xfrm>
                <a:off x="6621908" y="1687299"/>
                <a:ext cx="6097656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908" y="1687299"/>
                <a:ext cx="6097656" cy="720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/>
              <p:nvPr/>
            </p:nvSpPr>
            <p:spPr>
              <a:xfrm>
                <a:off x="5513732" y="3020202"/>
                <a:ext cx="6097656" cy="817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bHide m:val="on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sepChr m:val=",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∬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732" y="3020202"/>
                <a:ext cx="6097656" cy="817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54FF4B-130B-4DA0-9852-607784E2D578}"/>
                  </a:ext>
                </a:extLst>
              </p:cNvPr>
              <p:cNvSpPr txBox="1"/>
              <p:nvPr/>
            </p:nvSpPr>
            <p:spPr>
              <a:xfrm>
                <a:off x="7402167" y="4037461"/>
                <a:ext cx="6097656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x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∈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</a:t>
                </a:r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54FF4B-130B-4DA0-9852-607784E2D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167" y="4037461"/>
                <a:ext cx="6097656" cy="504818"/>
              </a:xfrm>
              <a:prstGeom prst="rect">
                <a:avLst/>
              </a:prstGeom>
              <a:blipFill>
                <a:blip r:embed="rId5"/>
                <a:stretch>
                  <a:fillRect l="-799" b="-48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68E181-349E-4716-B279-72F4EC729887}"/>
                  </a:ext>
                </a:extLst>
              </p:cNvPr>
              <p:cNvSpPr txBox="1"/>
              <p:nvPr/>
            </p:nvSpPr>
            <p:spPr>
              <a:xfrm>
                <a:off x="8562560" y="4037460"/>
                <a:ext cx="6326256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y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∈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68E181-349E-4716-B279-72F4EC729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560" y="4037460"/>
                <a:ext cx="6326256" cy="504818"/>
              </a:xfrm>
              <a:prstGeom prst="rect">
                <a:avLst/>
              </a:prstGeom>
              <a:blipFill>
                <a:blip r:embed="rId6"/>
                <a:stretch>
                  <a:fillRect l="-868" b="-36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27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вид уравнения КПД с описанием функций ошибок </a:t>
            </a:r>
            <a:r>
              <a:rPr lang="en-US" dirty="0"/>
              <a:t>erf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/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матрица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331D4A-B53B-4C17-AE02-8E169F20B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19" y="2826890"/>
            <a:ext cx="6296904" cy="828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BF5DF-0324-4170-A5F1-C4127D8AD2EA}"/>
              </a:ext>
            </a:extLst>
          </p:cNvPr>
          <p:cNvSpPr txBox="1"/>
          <p:nvPr/>
        </p:nvSpPr>
        <p:spPr>
          <a:xfrm>
            <a:off x="1361660" y="3063525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8B4A2-8512-42E3-BC71-6297EF9DA509}"/>
              </a:ext>
            </a:extLst>
          </p:cNvPr>
          <p:cNvSpPr txBox="1"/>
          <p:nvPr/>
        </p:nvSpPr>
        <p:spPr>
          <a:xfrm>
            <a:off x="1361660" y="4182789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Y: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DDE7A9-29FF-4C17-86C9-C3AA26CF9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019" y="3959965"/>
            <a:ext cx="6277851" cy="7430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A2DA05-0187-4160-990C-24BB09009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997" y="4937880"/>
            <a:ext cx="8400049" cy="945343"/>
          </a:xfrm>
          <a:prstGeom prst="rect">
            <a:avLst/>
          </a:prstGeom>
        </p:spPr>
      </p:pic>
      <p:sp>
        <p:nvSpPr>
          <p:cNvPr id="10" name="Рамка 9">
            <a:extLst>
              <a:ext uri="{FF2B5EF4-FFF2-40B4-BE49-F238E27FC236}">
                <a16:creationId xmlns:a16="http://schemas.microsoft.com/office/drawing/2014/main" id="{A74B8A98-72CA-47B2-8C44-8CEFD9BFE2EA}"/>
              </a:ext>
            </a:extLst>
          </p:cNvPr>
          <p:cNvSpPr/>
          <p:nvPr/>
        </p:nvSpPr>
        <p:spPr>
          <a:xfrm>
            <a:off x="1224997" y="4925843"/>
            <a:ext cx="8634620" cy="1115388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04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матрицы поворота </a:t>
            </a:r>
            <a:r>
              <a:rPr lang="en-US" dirty="0"/>
              <a:t>R </a:t>
            </a:r>
            <a:r>
              <a:rPr lang="ru-RU" dirty="0"/>
              <a:t>в уравнение КПД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/>
              <p:nvPr/>
            </p:nvSpPr>
            <p:spPr>
              <a:xfrm>
                <a:off x="3047172" y="3233369"/>
                <a:ext cx="6097656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2" y="3233369"/>
                <a:ext cx="6097656" cy="391261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/>
              <p:nvPr/>
            </p:nvSpPr>
            <p:spPr>
              <a:xfrm>
                <a:off x="6515219" y="1405954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219" y="1405954"/>
                <a:ext cx="6202016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/>
              <p:nvPr/>
            </p:nvSpPr>
            <p:spPr>
              <a:xfrm>
                <a:off x="-816746" y="1565100"/>
                <a:ext cx="6202016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6746" y="1565100"/>
                <a:ext cx="6202016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/>
              <p:nvPr/>
            </p:nvSpPr>
            <p:spPr>
              <a:xfrm>
                <a:off x="2747421" y="1485527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421" y="1485527"/>
                <a:ext cx="620201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/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330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матрицы поворота 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/>
              <p:nvPr/>
            </p:nvSpPr>
            <p:spPr>
              <a:xfrm>
                <a:off x="0" y="1542410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2410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t="-22951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/>
              <p:nvPr/>
            </p:nvSpPr>
            <p:spPr>
              <a:xfrm>
                <a:off x="1899617" y="2414752"/>
                <a:ext cx="6221894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617" y="2414752"/>
                <a:ext cx="6221894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/>
              <p:nvPr/>
            </p:nvSpPr>
            <p:spPr>
              <a:xfrm>
                <a:off x="1333087" y="3792421"/>
                <a:ext cx="622189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087" y="3792421"/>
                <a:ext cx="6221894" cy="763863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761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Перевод координат из локальной системы координат в глобальную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C18AF-A34E-41AD-BC74-2874ADE8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8" y="2054336"/>
            <a:ext cx="6097656" cy="1614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/>
              <p:nvPr/>
            </p:nvSpPr>
            <p:spPr>
              <a:xfrm>
                <a:off x="409460" y="4203851"/>
                <a:ext cx="6097656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60" y="4203851"/>
                <a:ext cx="6097656" cy="465705"/>
              </a:xfrm>
              <a:prstGeom prst="rect">
                <a:avLst/>
              </a:prstGeom>
              <a:blipFill>
                <a:blip r:embed="rId3"/>
                <a:stretch>
                  <a:fillRect t="-131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/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ex</m:t>
                              </m:r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𝐵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/>
              <p:nvPr/>
            </p:nvSpPr>
            <p:spPr>
              <a:xfrm>
                <a:off x="6096000" y="2801205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01205"/>
                <a:ext cx="60976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/>
              <p:nvPr/>
            </p:nvSpPr>
            <p:spPr>
              <a:xfrm>
                <a:off x="6008204" y="3368445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204" y="3368445"/>
                <a:ext cx="609765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6CC180-8650-43A2-B2AC-1C9AC40D28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009" y="4744537"/>
            <a:ext cx="3667637" cy="3620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/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𝑑𝑒𝑡𝐴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Рамка 10">
            <a:extLst>
              <a:ext uri="{FF2B5EF4-FFF2-40B4-BE49-F238E27FC236}">
                <a16:creationId xmlns:a16="http://schemas.microsoft.com/office/drawing/2014/main" id="{807DFE6D-38F8-4152-91B6-D14A29FD3D83}"/>
              </a:ext>
            </a:extLst>
          </p:cNvPr>
          <p:cNvSpPr/>
          <p:nvPr/>
        </p:nvSpPr>
        <p:spPr>
          <a:xfrm>
            <a:off x="2689777" y="5233091"/>
            <a:ext cx="7206698" cy="1268896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34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Фототранзистор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D1569B-4C53-46C8-A145-A7F056FA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42" y="1360866"/>
            <a:ext cx="3705742" cy="2486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E7D001-CD7D-482A-B00D-937E77ED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912" y="1446603"/>
            <a:ext cx="3343742" cy="2400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C53D0-69BE-4E73-971A-F2E7FA85E328}"/>
              </a:ext>
            </a:extLst>
          </p:cNvPr>
          <p:cNvSpPr txBox="1"/>
          <p:nvPr/>
        </p:nvSpPr>
        <p:spPr>
          <a:xfrm>
            <a:off x="1577836" y="4336662"/>
            <a:ext cx="8312818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Фототранзистор – оптоэлектронный полупроводниковый прибор, являющийся вариантом транзистора, за исключением того, что область базы доступна для светового излучения.</a:t>
            </a:r>
          </a:p>
        </p:txBody>
      </p:sp>
    </p:spTree>
    <p:extLst>
      <p:ext uri="{BB962C8B-B14F-4D97-AF65-F5344CB8AC3E}">
        <p14:creationId xmlns:p14="http://schemas.microsoft.com/office/powerpoint/2010/main" val="67877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Фотодиод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60478-46C2-4D8F-B6EA-8702C6BA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45" y="1353403"/>
            <a:ext cx="3258005" cy="26006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14AD0F-1B95-40A0-8A54-D70713302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150" y="1577272"/>
            <a:ext cx="3801005" cy="2152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2D271E-86CB-4E61-B982-1E5874FE8D56}"/>
              </a:ext>
            </a:extLst>
          </p:cNvPr>
          <p:cNvSpPr txBox="1"/>
          <p:nvPr/>
        </p:nvSpPr>
        <p:spPr>
          <a:xfrm>
            <a:off x="3178035" y="4588062"/>
            <a:ext cx="65026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Фотодиод – оптоэлектронный полупроводниковый прибор, преобразующий попавший на его фоточувствительную область свет в заряд за счет процессов, протекающих в 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переходе.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700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Сравнительная таблица фотодиодов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</a:t>
            </a:r>
            <a:r>
              <a:rPr lang="ru-RU" dirty="0"/>
              <a:t>7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E73C60-2A07-48CF-844C-49D15E1C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01" y="1413397"/>
            <a:ext cx="5342364" cy="40312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C3554E5-6C5F-4414-9022-65F8F6ED6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99" y="1675741"/>
            <a:ext cx="5830797" cy="32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10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 диапазона восприимчивости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FA6F9C-71A9-4A5D-8DD9-141BFB3E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838" y="1599944"/>
            <a:ext cx="4820323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09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Фототранзистор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C176-98E4-45CD-941A-342EE5C752A1}"/>
              </a:ext>
            </a:extLst>
          </p:cNvPr>
          <p:cNvSpPr txBox="1"/>
          <p:nvPr/>
        </p:nvSpPr>
        <p:spPr>
          <a:xfrm>
            <a:off x="1321905" y="340002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Методы нулевого порядка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DE24F-19E8-41C5-A349-BAE31ADF7271}"/>
              </a:ext>
            </a:extLst>
          </p:cNvPr>
          <p:cNvSpPr txBox="1"/>
          <p:nvPr/>
        </p:nvSpPr>
        <p:spPr>
          <a:xfrm>
            <a:off x="4370733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Методы первого порядка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FFCCB-2502-4CF4-BA83-C7B018B3E8A1}"/>
              </a:ext>
            </a:extLst>
          </p:cNvPr>
          <p:cNvSpPr txBox="1"/>
          <p:nvPr/>
        </p:nvSpPr>
        <p:spPr>
          <a:xfrm>
            <a:off x="7819610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Методы второго порядка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92A49-7D5C-4220-B337-0F764A8B276D}"/>
              </a:ext>
            </a:extLst>
          </p:cNvPr>
          <p:cNvSpPr txBox="1"/>
          <p:nvPr/>
        </p:nvSpPr>
        <p:spPr>
          <a:xfrm>
            <a:off x="4728504" y="1759936"/>
            <a:ext cx="446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Типы методов оптимизации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4A4F0E3-EB08-4F51-9082-369CE90082C8}"/>
              </a:ext>
            </a:extLst>
          </p:cNvPr>
          <p:cNvCxnSpPr>
            <a:cxnSpLocks/>
          </p:cNvCxnSpPr>
          <p:nvPr/>
        </p:nvCxnSpPr>
        <p:spPr>
          <a:xfrm flipH="1">
            <a:off x="2713383" y="2129268"/>
            <a:ext cx="3349487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61960F-CEE4-4D30-A086-F99C39547F1B}"/>
              </a:ext>
            </a:extLst>
          </p:cNvPr>
          <p:cNvCxnSpPr/>
          <p:nvPr/>
        </p:nvCxnSpPr>
        <p:spPr>
          <a:xfrm>
            <a:off x="6062870" y="2129268"/>
            <a:ext cx="0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3193528-C14B-4F71-B67C-1FC9E78A5069}"/>
              </a:ext>
            </a:extLst>
          </p:cNvPr>
          <p:cNvCxnSpPr/>
          <p:nvPr/>
        </p:nvCxnSpPr>
        <p:spPr>
          <a:xfrm>
            <a:off x="6062870" y="2129268"/>
            <a:ext cx="3448878" cy="1299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11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0C831F-D5D4-4985-8F7D-782F3C11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77" y="366076"/>
            <a:ext cx="4808095" cy="6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66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A410F7-79D6-45B5-943C-23D3E51B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1" y="1226258"/>
            <a:ext cx="4737270" cy="19793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BEF4B5-F693-4970-AB60-FABA22E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56" y="3170066"/>
            <a:ext cx="4721837" cy="2914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/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/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0,02−0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=0,42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/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0,047−0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=0,284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/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0,049−0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0,29−0,48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=0,196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/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=0,105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/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0,098−0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=0,127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38BED1-9E02-4B5A-93FF-CCF655A616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930" y="457232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FA1935-0064-4C53-82A0-51C8A363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9" y="2322096"/>
            <a:ext cx="4711621" cy="22138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80DA27-D8D2-4442-850D-F3EBF100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110" y="531545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35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Третий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CFBBC5-1353-4C8B-8B8B-4718176C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03" y="2322096"/>
            <a:ext cx="4717950" cy="22138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46F567-A010-484B-9A9B-B58A0BB32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930" y="451644"/>
            <a:ext cx="603016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60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и требования к системе на основе проведенного моделирования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</a:t>
            </a:r>
            <a:r>
              <a:rPr lang="ru-RU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988CD-DD9B-4E50-B436-38B6627A75D8}"/>
              </a:ext>
            </a:extLst>
          </p:cNvPr>
          <p:cNvSpPr txBox="1"/>
          <p:nvPr/>
        </p:nvSpPr>
        <p:spPr>
          <a:xfrm>
            <a:off x="1826313" y="1176783"/>
            <a:ext cx="8242025" cy="52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Для обеспечения наиболее эффективной передачи энергии с помощью инфракрасного лазера необходимо чтобы лазерный луч был длиной волны 1.3 мкм.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Во избежание значительных просадок переданного напряжения на борту БПЛА необходимо покрыть квадратными матрицами фотоприемников каждую свободную поверхность вдоль борта БПЛА.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При выполнении беспилотником тактических задач необходимо обеспечить максимальный угол отклонения аппарата по каждой из осей не более 20 градусов.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Для повышения эффективности преобразования падающего излучения в электрический ток необходимо использовать фотодиоды (например, </a:t>
            </a:r>
            <a:r>
              <a:rPr lang="ru-RU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InGaAs</a:t>
            </a: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 с максимальным квантовым выходом в выбранном диапазоне длин волн и с минимальным собственным шумом, что особенно критично при слабых сигналах на большой дальности.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Все окна, линзы и поверхности фотоприемников должны быть оснащены просветляющими </a:t>
            </a:r>
            <a:r>
              <a:rPr lang="ru-RU" sz="14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антирефлексными</a:t>
            </a:r>
            <a:r>
              <a:rPr lang="ru-RU" sz="14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покрытиями, оптимизированными под длину волны лазера, чтобы минимизировать отражательные потери и обеспечить максимальное пропускание света к активной области приёмника. Также рекомендуется использовать оптические фильтры для эффективного отсечения фонового излучения и повышения отношения сигнал/шум.</a:t>
            </a:r>
          </a:p>
        </p:txBody>
      </p:sp>
    </p:spTree>
    <p:extLst>
      <p:ext uri="{BB962C8B-B14F-4D97-AF65-F5344CB8AC3E}">
        <p14:creationId xmlns:p14="http://schemas.microsoft.com/office/powerpoint/2010/main" val="2750394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7">
            <a:extLst>
              <a:ext uri="{FF2B5EF4-FFF2-40B4-BE49-F238E27FC236}">
                <a16:creationId xmlns:a16="http://schemas.microsoft.com/office/drawing/2014/main" id="{3D311A4E-998B-48F1-AB55-4238891CD3A9}"/>
              </a:ext>
            </a:extLst>
          </p:cNvPr>
          <p:cNvGraphicFramePr>
            <a:graphicFrameLocks noGrp="1"/>
          </p:cNvGraphicFramePr>
          <p:nvPr/>
        </p:nvGraphicFramePr>
        <p:xfrm>
          <a:off x="363716" y="3956613"/>
          <a:ext cx="1079862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756">
                  <a:extLst>
                    <a:ext uri="{9D8B030D-6E8A-4147-A177-3AD203B41FA5}">
                      <a16:colId xmlns:a16="http://schemas.microsoft.com/office/drawing/2014/main" val="3458636878"/>
                    </a:ext>
                  </a:extLst>
                </a:gridCol>
                <a:gridCol w="3496514">
                  <a:extLst>
                    <a:ext uri="{9D8B030D-6E8A-4147-A177-3AD203B41FA5}">
                      <a16:colId xmlns:a16="http://schemas.microsoft.com/office/drawing/2014/main" val="2404878860"/>
                    </a:ext>
                  </a:extLst>
                </a:gridCol>
                <a:gridCol w="3861358">
                  <a:extLst>
                    <a:ext uri="{9D8B030D-6E8A-4147-A177-3AD203B41FA5}">
                      <a16:colId xmlns:a16="http://schemas.microsoft.com/office/drawing/2014/main" val="237073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Игнатенко Валерий Константинович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Группа (М14О-201СВ-23)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04126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Старовойтов Евгений Игоревич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К.т.н., АО «НИИМА «Прогресс», начальник отдела научных исследований и защиты интеллектуальной собственности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99554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1F58F"/>
                          </a:solidFill>
                        </a:rPr>
                        <a:t>Жуков Александр Николаевич</a:t>
                      </a:r>
                    </a:p>
                    <a:p>
                      <a:endParaRPr lang="ru-RU" sz="1400" b="0" dirty="0">
                        <a:solidFill>
                          <a:srgbClr val="01F58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1F58F"/>
                          </a:solidFill>
                        </a:rPr>
                        <a:t>АО «НИИМА «Прогресс», заместитель директора дизайн-центра по ПАК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37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07751B-083B-4E98-9353-0C84C529B6CD}"/>
              </a:ext>
            </a:extLst>
          </p:cNvPr>
          <p:cNvSpPr txBox="1"/>
          <p:nvPr/>
        </p:nvSpPr>
        <p:spPr>
          <a:xfrm>
            <a:off x="3059320" y="1896891"/>
            <a:ext cx="6073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1767850288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824</Words>
  <Application>Microsoft Office PowerPoint</Application>
  <PresentationFormat>Широкоэкранный</PresentationFormat>
  <Paragraphs>123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1_Тема Office</vt:lpstr>
      <vt:lpstr>2_Тема Office</vt:lpstr>
      <vt:lpstr>Презентация PowerPoint</vt:lpstr>
      <vt:lpstr>Цели и задачи исследования</vt:lpstr>
      <vt:lpstr>Актуальность темы</vt:lpstr>
      <vt:lpstr>Виды передачи энергии</vt:lpstr>
      <vt:lpstr>Основные виды рассеяния излучения в атмосфере</vt:lpstr>
      <vt:lpstr>Коэффициенты поглощения для разных длин волн</vt:lpstr>
      <vt:lpstr>Атмосферные профили</vt:lpstr>
      <vt:lpstr>Расчет КПД, зависящего от угла падения луча</vt:lpstr>
      <vt:lpstr>Расчет КПД, зависящего от смещения луча от центра фотоприемника </vt:lpstr>
      <vt:lpstr>Расположение систем координат</vt:lpstr>
      <vt:lpstr>Классический вид уравнения КПД с описанием функций ошибок erf</vt:lpstr>
      <vt:lpstr>Введение матрицы поворота R в уравнение КПД</vt:lpstr>
      <vt:lpstr>Расчет матрицы поворота R</vt:lpstr>
      <vt:lpstr>Перевод координат из локальной системы координат в глобальную</vt:lpstr>
      <vt:lpstr>Фототранзистор</vt:lpstr>
      <vt:lpstr>Фотодиод</vt:lpstr>
      <vt:lpstr>Сравнительная таблица фотодиодов</vt:lpstr>
      <vt:lpstr>Характеристика диапазона восприимчивости</vt:lpstr>
      <vt:lpstr>Фототранзистор</vt:lpstr>
      <vt:lpstr>Блок-схема алгоритма</vt:lpstr>
      <vt:lpstr>Первый набор параметров</vt:lpstr>
      <vt:lpstr>Второй набор параметров</vt:lpstr>
      <vt:lpstr>Третий набор параметров</vt:lpstr>
      <vt:lpstr>Рекомендации и требования к системе на основе проведенного моделирования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София Кулагина</dc:creator>
  <cp:lastModifiedBy>Игнатенко Валерий Константинович</cp:lastModifiedBy>
  <cp:revision>62</cp:revision>
  <dcterms:created xsi:type="dcterms:W3CDTF">2025-04-30T13:15:49Z</dcterms:created>
  <dcterms:modified xsi:type="dcterms:W3CDTF">2025-06-19T14:26:04Z</dcterms:modified>
</cp:coreProperties>
</file>