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  <p:sldMasterId id="2147483673" r:id="rId2"/>
  </p:sldMasterIdLst>
  <p:notesMasterIdLst>
    <p:notesMasterId r:id="rId32"/>
  </p:notesMasterIdLst>
  <p:sldIdLst>
    <p:sldId id="360" r:id="rId3"/>
    <p:sldId id="359" r:id="rId4"/>
    <p:sldId id="361" r:id="rId5"/>
    <p:sldId id="362" r:id="rId6"/>
    <p:sldId id="363" r:id="rId7"/>
    <p:sldId id="364" r:id="rId8"/>
    <p:sldId id="365" r:id="rId9"/>
    <p:sldId id="368" r:id="rId10"/>
    <p:sldId id="369" r:id="rId11"/>
    <p:sldId id="370" r:id="rId12"/>
    <p:sldId id="371" r:id="rId13"/>
    <p:sldId id="372" r:id="rId14"/>
    <p:sldId id="373" r:id="rId15"/>
    <p:sldId id="374" r:id="rId16"/>
    <p:sldId id="375" r:id="rId17"/>
    <p:sldId id="376" r:id="rId18"/>
    <p:sldId id="377" r:id="rId19"/>
    <p:sldId id="378" r:id="rId20"/>
    <p:sldId id="379" r:id="rId21"/>
    <p:sldId id="380" r:id="rId22"/>
    <p:sldId id="381" r:id="rId23"/>
    <p:sldId id="382" r:id="rId24"/>
    <p:sldId id="383" r:id="rId25"/>
    <p:sldId id="384" r:id="rId26"/>
    <p:sldId id="385" r:id="rId27"/>
    <p:sldId id="386" r:id="rId28"/>
    <p:sldId id="387" r:id="rId29"/>
    <p:sldId id="388" r:id="rId30"/>
    <p:sldId id="389" r:id="rId3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47BB"/>
    <a:srgbClr val="01F58F"/>
    <a:srgbClr val="B5B6E5"/>
    <a:srgbClr val="3ECC71"/>
    <a:srgbClr val="006EFF"/>
    <a:srgbClr val="007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294"/>
    <p:restoredTop sz="94595"/>
  </p:normalViewPr>
  <p:slideViewPr>
    <p:cSldViewPr snapToGrid="0">
      <p:cViewPr varScale="1">
        <p:scale>
          <a:sx n="77" d="100"/>
          <a:sy n="77" d="100"/>
        </p:scale>
        <p:origin x="48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580765-5A68-4F06-8CA7-040D49A6EC5B}" type="datetimeFigureOut">
              <a:rPr lang="ru-RU" smtClean="0"/>
              <a:t>06.06.2025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F1905A-1290-4C9F-82D0-63B73F43DF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97100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Blank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6805C0-9214-21DE-F5E7-69D551C98C99}"/>
              </a:ext>
            </a:extLst>
          </p:cNvPr>
          <p:cNvSpPr txBox="1"/>
          <p:nvPr userDrawn="1"/>
        </p:nvSpPr>
        <p:spPr>
          <a:xfrm>
            <a:off x="10887456" y="6156960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rgbClr val="01F58F"/>
                </a:solidFill>
              </a:rPr>
              <a:t>2025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94D37E-D7A6-41D1-9B0D-AB0A1B6E526E}"/>
              </a:ext>
            </a:extLst>
          </p:cNvPr>
          <p:cNvSpPr txBox="1"/>
          <p:nvPr userDrawn="1"/>
        </p:nvSpPr>
        <p:spPr bwMode="auto">
          <a:xfrm>
            <a:off x="2917790" y="1530720"/>
            <a:ext cx="635642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200" dirty="0">
                <a:solidFill>
                  <a:schemeClr val="bg1"/>
                </a:solidFill>
              </a:rPr>
              <a:t>Выпускная квалификационная работа на тему:</a:t>
            </a:r>
          </a:p>
        </p:txBody>
      </p:sp>
      <p:graphicFrame>
        <p:nvGraphicFramePr>
          <p:cNvPr id="5" name="Таблица 7">
            <a:extLst>
              <a:ext uri="{FF2B5EF4-FFF2-40B4-BE49-F238E27FC236}">
                <a16:creationId xmlns:a16="http://schemas.microsoft.com/office/drawing/2014/main" id="{507E2F32-2E92-4245-A803-99B80F8009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798614980"/>
              </p:ext>
            </p:extLst>
          </p:nvPr>
        </p:nvGraphicFramePr>
        <p:xfrm>
          <a:off x="358978" y="3937292"/>
          <a:ext cx="10798628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8628">
                  <a:extLst>
                    <a:ext uri="{9D8B030D-6E8A-4147-A177-3AD203B41FA5}">
                      <a16:colId xmlns:a16="http://schemas.microsoft.com/office/drawing/2014/main" val="3458636878"/>
                    </a:ext>
                  </a:extLst>
                </a:gridCol>
                <a:gridCol w="3526972">
                  <a:extLst>
                    <a:ext uri="{9D8B030D-6E8A-4147-A177-3AD203B41FA5}">
                      <a16:colId xmlns:a16="http://schemas.microsoft.com/office/drawing/2014/main" val="2404878860"/>
                    </a:ext>
                  </a:extLst>
                </a:gridCol>
                <a:gridCol w="4093028">
                  <a:extLst>
                    <a:ext uri="{9D8B030D-6E8A-4147-A177-3AD203B41FA5}">
                      <a16:colId xmlns:a16="http://schemas.microsoft.com/office/drawing/2014/main" val="23707300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ru-RU" sz="1600" b="0" dirty="0">
                          <a:solidFill>
                            <a:srgbClr val="01F58F"/>
                          </a:solidFill>
                        </a:rPr>
                        <a:t>Автор ВКР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7304126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rgbClr val="01F58F"/>
                          </a:solidFill>
                        </a:rPr>
                        <a:t>Научный руководитель ВКР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2199554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rgbClr val="01F58F"/>
                          </a:solidFill>
                        </a:rPr>
                        <a:t>Рецензент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600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28377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73148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" name="Прямоугольник: скругленные углы 15"/>
          <p:cNvSpPr/>
          <p:nvPr userDrawn="1"/>
        </p:nvSpPr>
        <p:spPr bwMode="auto">
          <a:xfrm>
            <a:off x="11203616" y="6041232"/>
            <a:ext cx="588962" cy="369887"/>
          </a:xfrm>
          <a:prstGeom prst="roundRect">
            <a:avLst>
              <a:gd name="adj" fmla="val 50000"/>
            </a:avLst>
          </a:prstGeom>
          <a:noFill/>
          <a:ln>
            <a:solidFill>
              <a:srgbClr val="4447BB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203616" y="6041231"/>
            <a:ext cx="588962" cy="365125"/>
          </a:xfrm>
          <a:prstGeom prst="rect">
            <a:avLst/>
          </a:prstGeom>
        </p:spPr>
        <p:txBody>
          <a:bodyPr anchor="ctr"/>
          <a:lstStyle>
            <a:lvl1pPr algn="ctr">
              <a:defRPr sz="1500">
                <a:solidFill>
                  <a:srgbClr val="4447BB"/>
                </a:solidFill>
              </a:defRPr>
            </a:lvl1pPr>
          </a:lstStyle>
          <a:p>
            <a:pPr>
              <a:defRPr/>
            </a:pPr>
            <a:fld id="{85D56CE8-50B6-40C5-A948-6D78CBFE93AE}" type="slidenum">
              <a:rPr lang="ru-RU" smtClean="0"/>
              <a:pPr>
                <a:defRPr/>
              </a:pPr>
              <a:t>‹#›</a:t>
            </a:fld>
            <a:endParaRPr lang="ru-R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0B89E8-C45B-DCAD-CCB7-C9779C83C75B}"/>
              </a:ext>
            </a:extLst>
          </p:cNvPr>
          <p:cNvSpPr txBox="1"/>
          <p:nvPr userDrawn="1"/>
        </p:nvSpPr>
        <p:spPr>
          <a:xfrm>
            <a:off x="1451232" y="513041"/>
            <a:ext cx="8351133" cy="369332"/>
          </a:xfrm>
          <a:prstGeom prst="rect">
            <a:avLst/>
          </a:prstGeom>
        </p:spPr>
        <p:txBody>
          <a:bodyPr anchor="ctr">
            <a:normAutofit/>
          </a:bodyPr>
          <a:lstStyle>
            <a:lvl1pPr lvl="0"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ru-RU" sz="2000" b="1" dirty="0" smtClean="0">
                <a:solidFill>
                  <a:srgbClr val="0072FF"/>
                </a:solidFill>
              </a:defRPr>
            </a:lvl1pPr>
          </a:lstStyle>
          <a:p>
            <a:pPr lvl="0"/>
            <a:endParaRPr lang="ru-RU" dirty="0">
              <a:solidFill>
                <a:srgbClr val="4447BB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0CB42FC0-AA05-1B82-59FD-E43A211BC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919507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447BB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" name="Рисунок 10"/>
          <p:cNvPicPr/>
          <p:nvPr/>
        </p:nvPicPr>
        <p:blipFill>
          <a:blip r:embed="rId3"/>
          <a:stretch/>
        </p:blipFill>
        <p:spPr bwMode="auto">
          <a:xfrm>
            <a:off x="479520" y="444240"/>
            <a:ext cx="808920" cy="777600"/>
          </a:xfrm>
          <a:prstGeom prst="rect">
            <a:avLst/>
          </a:prstGeom>
          <a:ln w="0">
            <a:noFill/>
          </a:ln>
        </p:spPr>
      </p:pic>
      <p:pic>
        <p:nvPicPr>
          <p:cNvPr id="5" name="Рисунок 14"/>
          <p:cNvPicPr/>
          <p:nvPr/>
        </p:nvPicPr>
        <p:blipFill>
          <a:blip r:embed="rId4"/>
          <a:stretch/>
        </p:blipFill>
        <p:spPr bwMode="auto">
          <a:xfrm>
            <a:off x="11578320" y="6275880"/>
            <a:ext cx="133200" cy="141480"/>
          </a:xfrm>
          <a:prstGeom prst="rect">
            <a:avLst/>
          </a:prstGeom>
          <a:ln w="0"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492441-EC0E-EBDA-3CA3-1034DAE24FDE}"/>
              </a:ext>
            </a:extLst>
          </p:cNvPr>
          <p:cNvSpPr txBox="1"/>
          <p:nvPr userDrawn="1"/>
        </p:nvSpPr>
        <p:spPr bwMode="auto">
          <a:xfrm>
            <a:off x="10887456" y="6156960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1F58F"/>
                </a:solidFill>
              </a:rPr>
              <a:t>2025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43354C2F-0C4C-3079-A91C-DE72320330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83980" y="2335076"/>
            <a:ext cx="6793992" cy="12345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F21951FB-CCCE-1FB2-BA5F-6BF919E94E29}"/>
              </a:ext>
            </a:extLst>
          </p:cNvPr>
          <p:cNvCxnSpPr>
            <a:cxnSpLocks/>
          </p:cNvCxnSpPr>
          <p:nvPr userDrawn="1"/>
        </p:nvCxnSpPr>
        <p:spPr>
          <a:xfrm>
            <a:off x="1508166" y="692962"/>
            <a:ext cx="0" cy="33185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AD9C68E-4050-7888-3951-D673081A1A0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4800"/>
          <a:stretch/>
        </p:blipFill>
        <p:spPr>
          <a:xfrm>
            <a:off x="1715612" y="325175"/>
            <a:ext cx="2519584" cy="1067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066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hdr="0" ftr="0" dt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Font typeface="Arial"/>
        <a:buNone/>
        <a:defRPr sz="28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0A1144EA-B6D9-25CD-E673-F7423C556087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209360" y="465139"/>
            <a:ext cx="0" cy="465138"/>
          </a:xfrm>
          <a:prstGeom prst="line">
            <a:avLst/>
          </a:prstGeom>
          <a:ln w="19050">
            <a:solidFill>
              <a:srgbClr val="4447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Прямоугольник: скругленные углы 15">
            <a:extLst>
              <a:ext uri="{FF2B5EF4-FFF2-40B4-BE49-F238E27FC236}">
                <a16:creationId xmlns:a16="http://schemas.microsoft.com/office/drawing/2014/main" id="{ABBEB2A0-BE29-8CF3-5890-BC7D1FCC8A3A}"/>
              </a:ext>
            </a:extLst>
          </p:cNvPr>
          <p:cNvSpPr/>
          <p:nvPr userDrawn="1"/>
        </p:nvSpPr>
        <p:spPr bwMode="auto">
          <a:xfrm>
            <a:off x="11209534" y="6036469"/>
            <a:ext cx="588962" cy="369887"/>
          </a:xfrm>
          <a:prstGeom prst="roundRect">
            <a:avLst>
              <a:gd name="adj" fmla="val 50000"/>
            </a:avLst>
          </a:prstGeom>
          <a:noFill/>
          <a:ln>
            <a:solidFill>
              <a:srgbClr val="4447BB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49FBDEF8-252F-DC33-A0F8-0FA6EE7F43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203616" y="6041231"/>
            <a:ext cx="588962" cy="365125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algn="ctr">
              <a:defRPr sz="1500">
                <a:solidFill>
                  <a:srgbClr val="4447BB"/>
                </a:solidFill>
              </a:defRPr>
            </a:lvl1pPr>
          </a:lstStyle>
          <a:p>
            <a:pPr>
              <a:defRPr/>
            </a:pPr>
            <a:fld id="{85D56CE8-50B6-40C5-A948-6D78CBFE93AE}" type="slidenum">
              <a:rPr lang="ru-RU" smtClean="0"/>
              <a:pPr>
                <a:defRPr/>
              </a:pPr>
              <a:t>‹#›</a:t>
            </a:fld>
            <a:endParaRPr lang="ru-RU" dirty="0"/>
          </a:p>
        </p:txBody>
      </p:sp>
      <p:sp>
        <p:nvSpPr>
          <p:cNvPr id="12" name="Заголовок 11">
            <a:extLst>
              <a:ext uri="{FF2B5EF4-FFF2-40B4-BE49-F238E27FC236}">
                <a16:creationId xmlns:a16="http://schemas.microsoft.com/office/drawing/2014/main" id="{5C68B507-7E27-05C1-7BA1-65E8FD841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239" y="356013"/>
            <a:ext cx="10341339" cy="683387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marL="0" lvl="0" indent="0">
              <a:spcBef>
                <a:spcPts val="1000"/>
              </a:spcBef>
              <a:buFont typeface="Arial" panose="020B0604020202020204" pitchFamily="34" charset="0"/>
            </a:pPr>
            <a:r>
              <a:rPr lang="ru-RU" dirty="0"/>
              <a:t>Образец заголовка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996B2478-54DB-D2F6-79D8-9E4B2B5DD81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3738" y="465139"/>
            <a:ext cx="483744" cy="465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2981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2000" b="1" kern="1200" dirty="0" smtClean="0">
          <a:solidFill>
            <a:srgbClr val="4447BB"/>
          </a:solidFill>
          <a:latin typeface="+mn-lt"/>
          <a:ea typeface="+mn-ea"/>
          <a:cs typeface="+mn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image" Target="../media/image62.png"/><Relationship Id="rId7" Type="http://schemas.openxmlformats.org/officeDocument/2006/relationships/image" Target="../media/image66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Таблица 7">
            <a:extLst>
              <a:ext uri="{FF2B5EF4-FFF2-40B4-BE49-F238E27FC236}">
                <a16:creationId xmlns:a16="http://schemas.microsoft.com/office/drawing/2014/main" id="{3D311A4E-998B-48F1-AB55-4238891CD3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916579"/>
              </p:ext>
            </p:extLst>
          </p:nvPr>
        </p:nvGraphicFramePr>
        <p:xfrm>
          <a:off x="363716" y="3956613"/>
          <a:ext cx="10798628" cy="23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0756">
                  <a:extLst>
                    <a:ext uri="{9D8B030D-6E8A-4147-A177-3AD203B41FA5}">
                      <a16:colId xmlns:a16="http://schemas.microsoft.com/office/drawing/2014/main" val="3458636878"/>
                    </a:ext>
                  </a:extLst>
                </a:gridCol>
                <a:gridCol w="3496514">
                  <a:extLst>
                    <a:ext uri="{9D8B030D-6E8A-4147-A177-3AD203B41FA5}">
                      <a16:colId xmlns:a16="http://schemas.microsoft.com/office/drawing/2014/main" val="2404878860"/>
                    </a:ext>
                  </a:extLst>
                </a:gridCol>
                <a:gridCol w="3861358">
                  <a:extLst>
                    <a:ext uri="{9D8B030D-6E8A-4147-A177-3AD203B41FA5}">
                      <a16:colId xmlns:a16="http://schemas.microsoft.com/office/drawing/2014/main" val="237073000"/>
                    </a:ext>
                  </a:extLst>
                </a:gridCol>
              </a:tblGrid>
              <a:tr h="780000">
                <a:tc>
                  <a:txBody>
                    <a:bodyPr/>
                    <a:lstStyle/>
                    <a:p>
                      <a:endParaRPr lang="ru-RU" b="0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solidFill>
                            <a:srgbClr val="01F58F"/>
                          </a:solidFill>
                        </a:rPr>
                        <a:t>Игнатенко Валерий Константинович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solidFill>
                            <a:srgbClr val="01F58F"/>
                          </a:solidFill>
                        </a:rPr>
                        <a:t>Группа (М14О-201СВ-23)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7304126"/>
                  </a:ext>
                </a:extLst>
              </a:tr>
              <a:tr h="780000">
                <a:tc>
                  <a:txBody>
                    <a:bodyPr/>
                    <a:lstStyle/>
                    <a:p>
                      <a:endParaRPr lang="ru-RU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dirty="0">
                          <a:solidFill>
                            <a:srgbClr val="01F58F"/>
                          </a:solidFill>
                        </a:rPr>
                        <a:t>Старовойтов Евгений Игоревич</a:t>
                      </a:r>
                    </a:p>
                    <a:p>
                      <a:endParaRPr lang="ru-RU" sz="1400" b="0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rgbClr val="01F58F"/>
                          </a:solidFill>
                        </a:rPr>
                        <a:t>К.т.н., АО «НИИМА «Прогресс», начальник отдела научных исследований и защиты интеллектуальной собственности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2199554"/>
                  </a:ext>
                </a:extLst>
              </a:tr>
              <a:tr h="780000">
                <a:tc>
                  <a:txBody>
                    <a:bodyPr/>
                    <a:lstStyle/>
                    <a:p>
                      <a:endParaRPr lang="ru-RU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dirty="0">
                          <a:solidFill>
                            <a:srgbClr val="01F58F"/>
                          </a:solidFill>
                        </a:rPr>
                        <a:t>Жуков Александр Николаевич</a:t>
                      </a:r>
                    </a:p>
                    <a:p>
                      <a:endParaRPr lang="ru-RU" sz="1400" b="0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01F58F"/>
                          </a:solidFill>
                        </a:rPr>
                        <a:t>АО «НИИМА «Прогресс», заместитель директора дизайн-центра по ПАК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283770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307751B-083B-4E98-9353-0C84C529B6CD}"/>
              </a:ext>
            </a:extLst>
          </p:cNvPr>
          <p:cNvSpPr txBox="1"/>
          <p:nvPr/>
        </p:nvSpPr>
        <p:spPr>
          <a:xfrm>
            <a:off x="3059320" y="1896891"/>
            <a:ext cx="607336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Исследование возможности и способов передачи энергии лазерным лучом ИК диапазона для питания беспилотных летательных аппаратов</a:t>
            </a:r>
          </a:p>
        </p:txBody>
      </p:sp>
    </p:spTree>
    <p:extLst>
      <p:ext uri="{BB962C8B-B14F-4D97-AF65-F5344CB8AC3E}">
        <p14:creationId xmlns:p14="http://schemas.microsoft.com/office/powerpoint/2010/main" val="114373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и задачи исследования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A1A82E-7D9E-4F57-878E-C899EAE9BE04}"/>
              </a:ext>
            </a:extLst>
          </p:cNvPr>
          <p:cNvSpPr txBox="1"/>
          <p:nvPr/>
        </p:nvSpPr>
        <p:spPr>
          <a:xfrm>
            <a:off x="959165" y="1626202"/>
            <a:ext cx="107566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1800" b="1" dirty="0">
                <a:cs typeface="Times New Roman" panose="02020603050405020304" pitchFamily="18" charset="0"/>
              </a:rPr>
              <a:t>Целью</a:t>
            </a:r>
            <a:r>
              <a:rPr lang="ru-RU" sz="1800" dirty="0">
                <a:cs typeface="Times New Roman" panose="02020603050405020304" pitchFamily="18" charset="0"/>
              </a:rPr>
              <a:t> исследования является решение задачи многокритериальной оптимизации параметров системы передачи энергии лазерным лучом в инфракрасном диапазоне для повышения  коэффициента полезного действия (КПД)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DB5EDE-E9FF-4A0A-A77B-790966363049}"/>
              </a:ext>
            </a:extLst>
          </p:cNvPr>
          <p:cNvSpPr txBox="1"/>
          <p:nvPr/>
        </p:nvSpPr>
        <p:spPr>
          <a:xfrm>
            <a:off x="959165" y="2611447"/>
            <a:ext cx="26105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>
                <a:cs typeface="Times New Roman" panose="02020603050405020304" pitchFamily="18" charset="0"/>
              </a:rPr>
              <a:t>Задачи</a:t>
            </a:r>
            <a:r>
              <a:rPr lang="ru-RU" sz="2000" dirty="0">
                <a:cs typeface="Times New Roman" panose="02020603050405020304" pitchFamily="18" charset="0"/>
              </a:rPr>
              <a:t> исследования: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0B1DC0-48F3-44B0-89E0-27865551F663}"/>
              </a:ext>
            </a:extLst>
          </p:cNvPr>
          <p:cNvSpPr txBox="1"/>
          <p:nvPr/>
        </p:nvSpPr>
        <p:spPr>
          <a:xfrm>
            <a:off x="1353268" y="3069674"/>
            <a:ext cx="139030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cs typeface="Times New Roman" panose="02020603050405020304" pitchFamily="18" charset="0"/>
              </a:rPr>
              <a:t>1) </a:t>
            </a:r>
            <a:r>
              <a:rPr lang="ru-RU" dirty="0">
                <a:cs typeface="Times New Roman" panose="02020603050405020304" pitchFamily="18" charset="0"/>
              </a:rPr>
              <a:t>Проанализировать современные методы и принципы передачи энергии лазерным лучом</a:t>
            </a:r>
            <a:r>
              <a:rPr lang="en-US" dirty="0">
                <a:cs typeface="Times New Roman" panose="02020603050405020304" pitchFamily="18" charset="0"/>
              </a:rPr>
              <a:t> </a:t>
            </a:r>
          </a:p>
          <a:p>
            <a:r>
              <a:rPr lang="en-US" dirty="0">
                <a:cs typeface="Times New Roman" panose="02020603050405020304" pitchFamily="18" charset="0"/>
              </a:rPr>
              <a:t>    </a:t>
            </a:r>
            <a:r>
              <a:rPr lang="ru-RU" dirty="0">
                <a:cs typeface="Times New Roman" panose="02020603050405020304" pitchFamily="18" charset="0"/>
              </a:rPr>
              <a:t>с учетом влияния атмосферных эффектов</a:t>
            </a:r>
            <a:endParaRPr lang="en-US" dirty="0"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B31E3F-DA11-485D-BADB-4248AC8F0FF8}"/>
              </a:ext>
            </a:extLst>
          </p:cNvPr>
          <p:cNvSpPr txBox="1"/>
          <p:nvPr/>
        </p:nvSpPr>
        <p:spPr>
          <a:xfrm>
            <a:off x="1353268" y="3682261"/>
            <a:ext cx="139030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cs typeface="Times New Roman" panose="02020603050405020304" pitchFamily="18" charset="0"/>
              </a:rPr>
              <a:t>2) </a:t>
            </a:r>
            <a:r>
              <a:rPr lang="ru-RU" dirty="0">
                <a:cs typeface="Times New Roman" panose="02020603050405020304" pitchFamily="18" charset="0"/>
              </a:rPr>
              <a:t>Провести анализ рынка систем лазерной передачи энергии</a:t>
            </a:r>
            <a:endParaRPr lang="en-US" dirty="0"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16FAD3-2BA8-4A4F-A1E3-DB4B0CB85C97}"/>
              </a:ext>
            </a:extLst>
          </p:cNvPr>
          <p:cNvSpPr txBox="1"/>
          <p:nvPr/>
        </p:nvSpPr>
        <p:spPr>
          <a:xfrm>
            <a:off x="1353268" y="4108797"/>
            <a:ext cx="139030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cs typeface="Times New Roman" panose="02020603050405020304" pitchFamily="18" charset="0"/>
              </a:rPr>
              <a:t>3) </a:t>
            </a:r>
            <a:r>
              <a:rPr lang="ru-RU" dirty="0">
                <a:cs typeface="Times New Roman" panose="02020603050405020304" pitchFamily="18" charset="0"/>
              </a:rPr>
              <a:t>Исследовать влияние внутренних параметров системы и внешних факторов</a:t>
            </a:r>
            <a:r>
              <a:rPr lang="en-US" dirty="0">
                <a:cs typeface="Times New Roman" panose="02020603050405020304" pitchFamily="18" charset="0"/>
              </a:rPr>
              <a:t> </a:t>
            </a:r>
            <a:r>
              <a:rPr lang="ru-RU" dirty="0">
                <a:cs typeface="Times New Roman" panose="02020603050405020304" pitchFamily="18" charset="0"/>
              </a:rPr>
              <a:t>на КПД и потери энергии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03718A-EF8C-4BFE-B779-59B9692E5108}"/>
              </a:ext>
            </a:extLst>
          </p:cNvPr>
          <p:cNvSpPr txBox="1"/>
          <p:nvPr/>
        </p:nvSpPr>
        <p:spPr>
          <a:xfrm>
            <a:off x="1353268" y="4515457"/>
            <a:ext cx="139030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cs typeface="Times New Roman" panose="02020603050405020304" pitchFamily="18" charset="0"/>
              </a:rPr>
              <a:t>4) Решить задачу многокритериальной оптимизации, включающую целевые функции </a:t>
            </a:r>
          </a:p>
          <a:p>
            <a:r>
              <a:rPr lang="ru-RU" dirty="0">
                <a:cs typeface="Times New Roman" panose="02020603050405020304" pitchFamily="18" charset="0"/>
              </a:rPr>
              <a:t>     для максимизации КПД и минимизации потерь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8B1549-645D-4220-AFC3-0444A83EBC36}"/>
              </a:ext>
            </a:extLst>
          </p:cNvPr>
          <p:cNvSpPr txBox="1"/>
          <p:nvPr/>
        </p:nvSpPr>
        <p:spPr>
          <a:xfrm>
            <a:off x="1353268" y="5111210"/>
            <a:ext cx="139030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cs typeface="Times New Roman" panose="02020603050405020304" pitchFamily="18" charset="0"/>
              </a:rPr>
              <a:t>5) Провести численное моделирование для получения набора Парето-оптимальных решений, </a:t>
            </a:r>
          </a:p>
          <a:p>
            <a:r>
              <a:rPr lang="ru-RU" dirty="0">
                <a:cs typeface="Times New Roman" panose="02020603050405020304" pitchFamily="18" charset="0"/>
              </a:rPr>
              <a:t>     определяющих компромисс между максимизацией КПД и минимизацией потерь</a:t>
            </a:r>
          </a:p>
        </p:txBody>
      </p:sp>
    </p:spTree>
    <p:extLst>
      <p:ext uri="{BB962C8B-B14F-4D97-AF65-F5344CB8AC3E}">
        <p14:creationId xmlns:p14="http://schemas.microsoft.com/office/powerpoint/2010/main" val="4137105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темы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3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717529-381B-421C-B805-9F90E3B2FA92}"/>
              </a:ext>
            </a:extLst>
          </p:cNvPr>
          <p:cNvSpPr txBox="1"/>
          <p:nvPr/>
        </p:nvSpPr>
        <p:spPr>
          <a:xfrm>
            <a:off x="981497" y="2159954"/>
            <a:ext cx="10709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dirty="0">
                <a:cs typeface="Times New Roman" panose="02020603050405020304" pitchFamily="18" charset="0"/>
              </a:rPr>
              <a:t>Актуальность исследования обусловлена возрастающей потребностью в эффективных и автономных источниках</a:t>
            </a:r>
          </a:p>
          <a:p>
            <a:pPr algn="just"/>
            <a:r>
              <a:rPr lang="ru-RU" dirty="0">
                <a:cs typeface="Times New Roman" panose="02020603050405020304" pitchFamily="18" charset="0"/>
              </a:rPr>
              <a:t>энергии для авиационных систем, где традиционные методы автономного питания часто ограничены</a:t>
            </a:r>
          </a:p>
          <a:p>
            <a:pPr algn="just"/>
            <a:r>
              <a:rPr lang="ru-RU" dirty="0">
                <a:cs typeface="Times New Roman" panose="02020603050405020304" pitchFamily="18" charset="0"/>
              </a:rPr>
              <a:t>по весу, объёму или эксплуатационным ресурсам.</a:t>
            </a:r>
          </a:p>
          <a:p>
            <a:pPr algn="just"/>
            <a:r>
              <a:rPr lang="ru-RU" dirty="0">
                <a:cs typeface="Times New Roman" panose="02020603050405020304" pitchFamily="18" charset="0"/>
              </a:rPr>
              <a:t>Особый интерес вызывает возможность беспроводной лазерной</a:t>
            </a:r>
          </a:p>
          <a:p>
            <a:pPr algn="just"/>
            <a:r>
              <a:rPr lang="ru-RU" dirty="0">
                <a:cs typeface="Times New Roman" panose="02020603050405020304" pitchFamily="18" charset="0"/>
              </a:rPr>
              <a:t>передачи энергии, которая обеспечивает возможность питания беспилотных летательных аппаратов, </a:t>
            </a:r>
          </a:p>
          <a:p>
            <a:pPr algn="just"/>
            <a:r>
              <a:rPr lang="ru-RU" dirty="0">
                <a:cs typeface="Times New Roman" panose="02020603050405020304" pitchFamily="18" charset="0"/>
              </a:rPr>
              <a:t>спутников на больших расстояниях, что критически важно для повышения </a:t>
            </a:r>
          </a:p>
          <a:p>
            <a:pPr algn="just"/>
            <a:r>
              <a:rPr lang="ru-RU" dirty="0">
                <a:cs typeface="Times New Roman" panose="02020603050405020304" pitchFamily="18" charset="0"/>
              </a:rPr>
              <a:t>мобильности и автономности современной авиации. </a:t>
            </a:r>
          </a:p>
        </p:txBody>
      </p:sp>
    </p:spTree>
    <p:extLst>
      <p:ext uri="{BB962C8B-B14F-4D97-AF65-F5344CB8AC3E}">
        <p14:creationId xmlns:p14="http://schemas.microsoft.com/office/powerpoint/2010/main" val="434489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Виды передачи энергии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4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B1A5CB0-4376-4F22-83A9-0378A4013F39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902" y="1351816"/>
            <a:ext cx="5375275" cy="227711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2" descr="Picture background">
            <a:extLst>
              <a:ext uri="{FF2B5EF4-FFF2-40B4-BE49-F238E27FC236}">
                <a16:creationId xmlns:a16="http://schemas.microsoft.com/office/drawing/2014/main" id="{8E7E6E0F-BEB5-46E8-9B01-ACFF2789AC1C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7302" y="1351816"/>
            <a:ext cx="5375276" cy="25129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85FFC53-8423-41B9-A9EA-C0C416C647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7467" y="3864758"/>
            <a:ext cx="3350589" cy="2512942"/>
          </a:xfrm>
          <a:prstGeom prst="rect">
            <a:avLst/>
          </a:prstGeom>
        </p:spPr>
      </p:pic>
      <p:pic>
        <p:nvPicPr>
          <p:cNvPr id="7" name="Picture 4" descr="Picture background">
            <a:extLst>
              <a:ext uri="{FF2B5EF4-FFF2-40B4-BE49-F238E27FC236}">
                <a16:creationId xmlns:a16="http://schemas.microsoft.com/office/drawing/2014/main" id="{9407C35D-A07E-4B9C-90C6-A2FED380CB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839" y="4177174"/>
            <a:ext cx="6023068" cy="1847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6420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Основные виды рассеяния излучения в атмосфере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5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2FE2EFD-7122-4E01-B64D-598F8DD279BE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3945" y="1515535"/>
            <a:ext cx="6064110" cy="404956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29904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Коэффициенты поглощения для разных длин волн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6</a:t>
            </a:r>
            <a:endParaRPr lang="ru-RU" dirty="0"/>
          </a:p>
        </p:txBody>
      </p: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DDEB3497-79E2-4376-8E97-4E682E9F2B24}"/>
              </a:ext>
            </a:extLst>
          </p:cNvPr>
          <p:cNvGrpSpPr/>
          <p:nvPr/>
        </p:nvGrpSpPr>
        <p:grpSpPr>
          <a:xfrm>
            <a:off x="3396360" y="1434941"/>
            <a:ext cx="5399280" cy="4778913"/>
            <a:chOff x="1813217" y="1679839"/>
            <a:chExt cx="6697010" cy="5927536"/>
          </a:xfrm>
        </p:grpSpPr>
        <p:pic>
          <p:nvPicPr>
            <p:cNvPr id="5" name="Рисунок 4">
              <a:extLst>
                <a:ext uri="{FF2B5EF4-FFF2-40B4-BE49-F238E27FC236}">
                  <a16:creationId xmlns:a16="http://schemas.microsoft.com/office/drawing/2014/main" id="{063E5717-56F5-4057-A4BD-979B8810F3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19770" y="1679839"/>
              <a:ext cx="6268325" cy="1152686"/>
            </a:xfrm>
            <a:prstGeom prst="rect">
              <a:avLst/>
            </a:prstGeom>
          </p:spPr>
        </p:pic>
        <p:pic>
          <p:nvPicPr>
            <p:cNvPr id="6" name="Рисунок 5">
              <a:extLst>
                <a:ext uri="{FF2B5EF4-FFF2-40B4-BE49-F238E27FC236}">
                  <a16:creationId xmlns:a16="http://schemas.microsoft.com/office/drawing/2014/main" id="{5A22B4C5-7D53-4230-8A05-8E3DF0B779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13217" y="2748947"/>
              <a:ext cx="6697010" cy="485842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46457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Атмосферные профили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7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EA49747-7095-4050-BCCB-C5261117C22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4024" y="1039400"/>
            <a:ext cx="3154525" cy="2179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D912EE5-F843-49CC-B929-1C4EE59E54D4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0628" y="946184"/>
            <a:ext cx="3067297" cy="2179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7B4E546-8025-4D11-A956-9B79E8817222}"/>
              </a:ext>
            </a:extLst>
          </p:cNvPr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1331" y="3725109"/>
            <a:ext cx="3259910" cy="2316122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AABD071-5776-42EF-8CB4-AAD5281D9B8F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3726" y="3218876"/>
            <a:ext cx="3381100" cy="3381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772618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Расчет КПД, зависящего от угла падения луча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10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B09D4AF-A7EF-4C2B-AA10-3A85E140058D}"/>
                  </a:ext>
                </a:extLst>
              </p:cNvPr>
              <p:cNvSpPr txBox="1"/>
              <p:nvPr/>
            </p:nvSpPr>
            <p:spPr>
              <a:xfrm>
                <a:off x="2263636" y="1785303"/>
                <a:ext cx="60976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80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𝐼</m:t>
                    </m:r>
                    <m:d>
                      <m:dPr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𝜃</m:t>
                        </m:r>
                      </m:e>
                    </m:d>
                    <m:r>
                      <a:rPr lang="ru-RU" sz="1800" i="1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ru-RU" sz="1800" i="1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𝐼</m:t>
                    </m:r>
                    <m:r>
                      <a:rPr lang="ru-RU" sz="1800" i="1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∗</m:t>
                    </m:r>
                    <m:r>
                      <m:rPr>
                        <m:sty m:val="p"/>
                      </m:rPr>
                      <a:rPr lang="ru-RU" sz="180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cos</m:t>
                    </m:r>
                    <m:r>
                      <a:rPr lang="ru-RU" sz="180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⁡</m:t>
                    </m:r>
                    <m:r>
                      <a:rPr lang="ru-RU" sz="1800" i="1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𝜃</m:t>
                    </m:r>
                    <m:r>
                      <a:rPr lang="ru-RU" sz="1800" i="1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	</a:t>
                </a:r>
                <a:endParaRPr lang="ru-RU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B09D4AF-A7EF-4C2B-AA10-3A85E14005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3636" y="1785303"/>
                <a:ext cx="6097656" cy="369332"/>
              </a:xfrm>
              <a:prstGeom prst="rect">
                <a:avLst/>
              </a:prstGeom>
              <a:blipFill>
                <a:blip r:embed="rId2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BE89B50-F8D3-435A-8D8C-972E561EF7B8}"/>
                  </a:ext>
                </a:extLst>
              </p:cNvPr>
              <p:cNvSpPr txBox="1"/>
              <p:nvPr/>
            </p:nvSpPr>
            <p:spPr>
              <a:xfrm>
                <a:off x="275811" y="2282403"/>
                <a:ext cx="6097656" cy="4341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лазер</m:t>
                              </m:r>
                            </m:sub>
                          </m:sSub>
                        </m:e>
                      </m:acc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𝑘𝑧</m:t>
                              </m:r>
                            </m:e>
                          </m:d>
                        </m:sup>
                      </m:sSup>
                      <m:acc>
                        <m:accPr>
                          <m:chr m:val="̂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</m:ac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BE89B50-F8D3-435A-8D8C-972E561EF7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811" y="2282403"/>
                <a:ext cx="6097656" cy="434158"/>
              </a:xfrm>
              <a:prstGeom prst="rect">
                <a:avLst/>
              </a:prstGeom>
              <a:blipFill>
                <a:blip r:embed="rId3"/>
                <a:stretch>
                  <a:fillRect b="-27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0D353BE-622B-42CC-A2ED-B0C4018E3B1E}"/>
                  </a:ext>
                </a:extLst>
              </p:cNvPr>
              <p:cNvSpPr txBox="1"/>
              <p:nvPr/>
            </p:nvSpPr>
            <p:spPr>
              <a:xfrm>
                <a:off x="397566" y="2864207"/>
                <a:ext cx="64008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</m:acc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ru-RU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</m:e>
                      </m:func>
                      <m:r>
                        <a:rPr lang="ru-RU" i="0">
                          <a:latin typeface="Cambria Math" panose="02040503050406030204" pitchFamily="18" charset="0"/>
                        </a:rPr>
                        <m:t>∗</m:t>
                      </m:r>
                      <m:acc>
                        <m:accPr>
                          <m:chr m:val="̂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  <m:r>
                        <a:rPr lang="ru-RU" i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ru-RU" i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</m:e>
                      </m:func>
                      <m:r>
                        <a:rPr lang="ru-RU" i="0">
                          <a:latin typeface="Cambria Math" panose="02040503050406030204" pitchFamily="18" charset="0"/>
                        </a:rPr>
                        <m:t>∗</m:t>
                      </m:r>
                      <m:acc>
                        <m:accPr>
                          <m:chr m:val="̂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0D353BE-622B-42CC-A2ED-B0C4018E3B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566" y="2864207"/>
                <a:ext cx="6400800" cy="369332"/>
              </a:xfrm>
              <a:prstGeom prst="rect">
                <a:avLst/>
              </a:prstGeom>
              <a:blipFill>
                <a:blip r:embed="rId4"/>
                <a:stretch>
                  <a:fillRect t="-6667" b="-6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0C3D667-B759-4089-8EF5-76039C70D020}"/>
                  </a:ext>
                </a:extLst>
              </p:cNvPr>
              <p:cNvSpPr txBox="1"/>
              <p:nvPr/>
            </p:nvSpPr>
            <p:spPr>
              <a:xfrm>
                <a:off x="1053547" y="3381185"/>
                <a:ext cx="9799983" cy="4341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лазер</m:t>
                              </m:r>
                            </m:sub>
                          </m:sSub>
                        </m:e>
                      </m:acc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𝑘𝑧</m:t>
                              </m:r>
                            </m:e>
                          </m:d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ru-RU" i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func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∗</m:t>
                          </m:r>
                          <m:acc>
                            <m:accPr>
                              <m:chr m:val="̂"/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ru-RU" i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func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∗</m:t>
                          </m:r>
                          <m:acc>
                            <m:accPr>
                              <m:chr m:val="̂"/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sSup>
                        <m:sSup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𝑘𝑧</m:t>
                              </m:r>
                            </m:e>
                          </m:d>
                        </m:sup>
                      </m:sSup>
                      <m:acc>
                        <m:accPr>
                          <m:chr m:val="̂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  <m:r>
                        <a:rPr lang="ru-RU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p>
                        <m:sSup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𝑘𝑧</m:t>
                              </m:r>
                            </m:e>
                          </m:d>
                        </m:sup>
                      </m:sSup>
                      <m:acc>
                        <m:accPr>
                          <m:chr m:val="̂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0C3D667-B759-4089-8EF5-76039C70D0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547" y="3381185"/>
                <a:ext cx="9799983" cy="434158"/>
              </a:xfrm>
              <a:prstGeom prst="rect">
                <a:avLst/>
              </a:prstGeom>
              <a:blipFill>
                <a:blip r:embed="rId5"/>
                <a:stretch>
                  <a:fillRect b="-281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8D95134-3FEA-4911-930F-044413751974}"/>
                  </a:ext>
                </a:extLst>
              </p:cNvPr>
              <p:cNvSpPr txBox="1"/>
              <p:nvPr/>
            </p:nvSpPr>
            <p:spPr>
              <a:xfrm>
                <a:off x="1053547" y="3943111"/>
                <a:ext cx="9090033" cy="6109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ru-RU" i="1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ru-RU" i="1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ru-RU" i="1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8D95134-3FEA-4911-930F-0444137519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547" y="3943111"/>
                <a:ext cx="9090033" cy="61093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1632FAC-6534-461E-9901-F58C5FF41976}"/>
                  </a:ext>
                </a:extLst>
              </p:cNvPr>
              <p:cNvSpPr txBox="1"/>
              <p:nvPr/>
            </p:nvSpPr>
            <p:spPr>
              <a:xfrm>
                <a:off x="1955524" y="4788458"/>
                <a:ext cx="6405768" cy="5068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 smtClean="0">
                          <a:latin typeface="Cambria Math" panose="02040503050406030204" pitchFamily="18" charset="0"/>
                        </a:rPr>
                        <m:t>𝜂</m:t>
                      </m:r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begChr m:val="["/>
                          <m:endChr m:val="]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d>
                          <m:func>
                            <m:func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</m:func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d>
                          <m:func>
                            <m:func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e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1632FAC-6534-461E-9901-F58C5FF419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5524" y="4788458"/>
                <a:ext cx="6405768" cy="50687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28582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Расчет КПД, зависящего от смещения луча от центра фотоприемника 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11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F6C3E0A-A7C9-4354-B3E1-2445955C1996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2848" y="1840118"/>
            <a:ext cx="7372822" cy="2090241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227E7A0-A3F7-4262-8204-7BD1CFB1623E}"/>
                  </a:ext>
                </a:extLst>
              </p:cNvPr>
              <p:cNvSpPr txBox="1"/>
              <p:nvPr/>
            </p:nvSpPr>
            <p:spPr>
              <a:xfrm>
                <a:off x="545785" y="4475144"/>
                <a:ext cx="6097656" cy="7203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a:rPr lang="ru-RU" i="0">
                          <a:latin typeface="Cambria Math" panose="02040503050406030204" pitchFamily="18" charset="0"/>
                        </a:rPr>
                        <m:t>ex</m:t>
                      </m:r>
                      <m:func>
                        <m:func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ru-RU" i="0">
                              <a:latin typeface="Cambria Math" panose="02040503050406030204" pitchFamily="18" charset="0"/>
                            </a:rPr>
                            <m:t>p</m:t>
                          </m:r>
                        </m:fName>
                        <m:e>
                          <m:d>
                            <m:d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sSup>
                                    <m:sSup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p>
                                      <m:r>
                                        <a:rPr lang="ru-RU" i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sSup>
                                    <m:sSup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p>
                                      <m:r>
                                        <a:rPr lang="ru-RU" i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227E7A0-A3F7-4262-8204-7BD1CFB162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785" y="4475144"/>
                <a:ext cx="6097656" cy="72032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8BCB32E-993F-4535-AB6D-98220C7C7B5E}"/>
                  </a:ext>
                </a:extLst>
              </p:cNvPr>
              <p:cNvSpPr txBox="1"/>
              <p:nvPr/>
            </p:nvSpPr>
            <p:spPr>
              <a:xfrm>
                <a:off x="4327963" y="4329814"/>
                <a:ext cx="6097656" cy="910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 smtClean="0"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ad>
                        <m:radPr>
                          <m:degHide m:val="on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ru-R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</m:e>
                                        <m:sub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8BCB32E-993F-4535-AB6D-98220C7C7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7963" y="4329814"/>
                <a:ext cx="6097656" cy="9106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51671F-64C0-49F6-BE2E-DFB2931DE925}"/>
                  </a:ext>
                </a:extLst>
              </p:cNvPr>
              <p:cNvSpPr txBox="1"/>
              <p:nvPr/>
            </p:nvSpPr>
            <p:spPr>
              <a:xfrm>
                <a:off x="7698685" y="4458889"/>
                <a:ext cx="6097656" cy="652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𝜋</m:t>
                          </m:r>
                          <m:sSubSup>
                            <m:sSub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𝜆</m:t>
                          </m:r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51671F-64C0-49F6-BE2E-DFB2931DE9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8685" y="4458889"/>
                <a:ext cx="6097656" cy="65255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75873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Расположение систем координат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12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B32D66A-9667-4DF3-9DA7-42F138BA624F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967" y="1405572"/>
            <a:ext cx="7051040" cy="4046855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702447-8895-4000-964C-6AD086C83A7B}"/>
                  </a:ext>
                </a:extLst>
              </p:cNvPr>
              <p:cNvSpPr txBox="1"/>
              <p:nvPr/>
            </p:nvSpPr>
            <p:spPr>
              <a:xfrm>
                <a:off x="6621908" y="1687299"/>
                <a:ext cx="6097656" cy="7203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a:rPr lang="ru-RU" i="0">
                          <a:latin typeface="Cambria Math" panose="02040503050406030204" pitchFamily="18" charset="0"/>
                        </a:rPr>
                        <m:t>ex</m:t>
                      </m:r>
                      <m:func>
                        <m:func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ru-RU" i="0">
                              <a:latin typeface="Cambria Math" panose="02040503050406030204" pitchFamily="18" charset="0"/>
                            </a:rPr>
                            <m:t>p</m:t>
                          </m:r>
                        </m:fName>
                        <m:e>
                          <m:d>
                            <m:d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sSup>
                                    <m:sSup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ru-R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r>
                                            <a:rPr lang="ru-RU" i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ru-R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i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ru-RU" i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ru-R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  <m:r>
                                            <a:rPr lang="ru-RU" i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ru-R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i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ru-RU" i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sSup>
                                    <m:sSup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p>
                                      <m:r>
                                        <a:rPr lang="ru-RU" i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702447-8895-4000-964C-6AD086C83A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1908" y="1687299"/>
                <a:ext cx="6097656" cy="72032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397741-1BFC-43FE-92A7-C60C66442A51}"/>
                  </a:ext>
                </a:extLst>
              </p:cNvPr>
              <p:cNvSpPr txBox="1"/>
              <p:nvPr/>
            </p:nvSpPr>
            <p:spPr>
              <a:xfrm>
                <a:off x="5513732" y="3020202"/>
                <a:ext cx="6097656" cy="8175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subHide m:val="on"/>
                              <m:supHide m:val="on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  <m:d>
                                <m:dPr>
                                  <m:sepChr m:val=","/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𝑑𝑥𝑑𝑦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chr m:val="∬"/>
                              <m:limLoc m:val="subSup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−∞</m:t>
                              </m:r>
                            </m:sub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+∞</m:t>
                              </m:r>
                            </m:sup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𝑑𝑥𝑑𝑦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397741-1BFC-43FE-92A7-C60C66442A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3732" y="3020202"/>
                <a:ext cx="6097656" cy="81759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D54FF4B-130B-4DA0-9852-607784E2D578}"/>
                  </a:ext>
                </a:extLst>
              </p:cNvPr>
              <p:cNvSpPr txBox="1"/>
              <p:nvPr/>
            </p:nvSpPr>
            <p:spPr>
              <a:xfrm>
                <a:off x="7402167" y="4037461"/>
                <a:ext cx="6097656" cy="5048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x </a:t>
                </a:r>
                <a:r>
                  <a:rPr lang="ru-RU" sz="1800" dirty="0">
                    <a:solidFill>
                      <a:srgbClr val="000000"/>
                    </a:solidFill>
                    <a:effectLst/>
                    <a:latin typeface="Cambria Math" panose="02040503050406030204" pitchFamily="18" charset="0"/>
                    <a:ea typeface="Calibri" panose="020F0502020204030204" pitchFamily="34" charset="0"/>
                    <a:cs typeface="Cambria Math" panose="02040503050406030204" pitchFamily="18" charset="0"/>
                  </a:rPr>
                  <a:t>∈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ru-RU" i="1">
                                <a:effectLst/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mbria Math" panose="02040503050406030204" pitchFamily="18" charset="0"/>
                              </a:rPr>
                              <m:t>𝑎</m:t>
                            </m:r>
                          </m:num>
                          <m:den>
                            <m:r>
                              <a:rPr lang="ru-RU" sz="18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ru-RU" i="1">
                                <a:effectLst/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mbria Math" panose="02040503050406030204" pitchFamily="18" charset="0"/>
                              </a:rPr>
                              <m:t>𝑎</m:t>
                            </m:r>
                          </m:num>
                          <m:den>
                            <m:r>
                              <a:rPr lang="ru-RU" sz="18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r>
                  <a:rPr lang="ru-RU" sz="1800" dirty="0">
                    <a:solidFill>
                      <a:srgbClr val="000000"/>
                    </a:solidFill>
                    <a:effectLst/>
                    <a:latin typeface="Cambria Math" panose="02040503050406030204" pitchFamily="18" charset="0"/>
                    <a:ea typeface="Calibri" panose="020F0502020204030204" pitchFamily="34" charset="0"/>
                    <a:cs typeface="Cambria Math" panose="02040503050406030204" pitchFamily="18" charset="0"/>
                  </a:rPr>
                  <a:t>,</a:t>
                </a:r>
                <a:endParaRPr lang="ru-RU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D54FF4B-130B-4DA0-9852-607784E2D5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2167" y="4037461"/>
                <a:ext cx="6097656" cy="504818"/>
              </a:xfrm>
              <a:prstGeom prst="rect">
                <a:avLst/>
              </a:prstGeom>
              <a:blipFill>
                <a:blip r:embed="rId5"/>
                <a:stretch>
                  <a:fillRect l="-799" b="-481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968E181-349E-4716-B279-72F4EC729887}"/>
                  </a:ext>
                </a:extLst>
              </p:cNvPr>
              <p:cNvSpPr txBox="1"/>
              <p:nvPr/>
            </p:nvSpPr>
            <p:spPr>
              <a:xfrm>
                <a:off x="8562560" y="4037460"/>
                <a:ext cx="6326256" cy="5048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solidFill>
                      <a:srgbClr val="000000"/>
                    </a:solidFill>
                    <a:effectLst/>
                    <a:latin typeface="Cambria Math" panose="02040503050406030204" pitchFamily="18" charset="0"/>
                    <a:ea typeface="Calibri" panose="020F0502020204030204" pitchFamily="34" charset="0"/>
                    <a:cs typeface="Cambria Math" panose="02040503050406030204" pitchFamily="18" charset="0"/>
                  </a:rPr>
                  <a:t>y</a:t>
                </a:r>
                <a:r>
                  <a:rPr lang="ru-RU" sz="1800" dirty="0">
                    <a:solidFill>
                      <a:srgbClr val="000000"/>
                    </a:solidFill>
                    <a:effectLst/>
                    <a:latin typeface="Cambria Math" panose="02040503050406030204" pitchFamily="18" charset="0"/>
                    <a:ea typeface="Calibri" panose="020F0502020204030204" pitchFamily="34" charset="0"/>
                    <a:cs typeface="Cambria Math" panose="02040503050406030204" pitchFamily="18" charset="0"/>
                  </a:rPr>
                  <a:t> ∈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ru-RU" i="1">
                                <a:effectLst/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ru-RU" sz="18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mbria Math" panose="02040503050406030204" pitchFamily="18" charset="0"/>
                              </a:rPr>
                              <m:t>𝑏</m:t>
                            </m:r>
                          </m:num>
                          <m:den>
                            <m:r>
                              <a:rPr lang="ru-RU" sz="18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ru-RU" i="1">
                                <a:effectLst/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ru-RU" sz="18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mbria Math" panose="02040503050406030204" pitchFamily="18" charset="0"/>
                              </a:rPr>
                              <m:t>𝑏</m:t>
                            </m:r>
                          </m:num>
                          <m:den>
                            <m:r>
                              <a:rPr lang="ru-RU" sz="18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968E181-349E-4716-B279-72F4EC7298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2560" y="4037460"/>
                <a:ext cx="6326256" cy="504818"/>
              </a:xfrm>
              <a:prstGeom prst="rect">
                <a:avLst/>
              </a:prstGeom>
              <a:blipFill>
                <a:blip r:embed="rId6"/>
                <a:stretch>
                  <a:fillRect l="-868" b="-361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19273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Классический вид уравнения КПД с описанием функций ошибок </a:t>
            </a:r>
            <a:r>
              <a:rPr lang="en-US" dirty="0"/>
              <a:t>erf</a:t>
            </a:r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13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4A67F7E-12E2-4B0E-9F2E-B720153B43CF}"/>
                  </a:ext>
                </a:extLst>
              </p:cNvPr>
              <p:cNvSpPr txBox="1"/>
              <p:nvPr/>
            </p:nvSpPr>
            <p:spPr>
              <a:xfrm>
                <a:off x="1548019" y="1634311"/>
                <a:ext cx="7198416" cy="9021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матрица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nary>
                        <m:naryPr>
                          <m:limLoc m:val="subSup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num>
                            <m:den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b>
                        <m:sup>
                          <m:f>
                            <m:f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num>
                            <m:den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  <m:e>
                          <m:r>
                            <m:rPr>
                              <m:sty m:val="p"/>
                            </m:rPr>
                            <a:rPr lang="ru-RU" i="0">
                              <a:latin typeface="Cambria Math" panose="02040503050406030204" pitchFamily="18" charset="0"/>
                            </a:rPr>
                            <m:t>ex</m:t>
                          </m:r>
                          <m:func>
                            <m:func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ru-RU" i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ru-RU" i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sSup>
                                        <m:sSupPr>
                                          <m:ctrlPr>
                                            <a:rPr lang="ru-R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ru-R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  <m:r>
                                                <a:rPr lang="ru-RU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ru-RU" i="1">
                                                      <a:solidFill>
                                                        <a:srgbClr val="836967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ru-RU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ru-RU" i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ru-RU" i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sSup>
                                        <m:sSupPr>
                                          <m:ctrlPr>
                                            <a:rPr lang="ru-R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p>
                                          <m:r>
                                            <a:rPr lang="ru-RU" i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</m:func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nary>
                        <m:naryPr>
                          <m:limLoc m:val="subSup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num>
                            <m:den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b>
                        <m:sup>
                          <m:f>
                            <m:f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num>
                            <m:den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  <m:e>
                          <m:r>
                            <m:rPr>
                              <m:sty m:val="p"/>
                            </m:rPr>
                            <a:rPr lang="ru-RU" i="0">
                              <a:latin typeface="Cambria Math" panose="02040503050406030204" pitchFamily="18" charset="0"/>
                            </a:rPr>
                            <m:t>ex</m:t>
                          </m:r>
                          <m:func>
                            <m:func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ru-RU" i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ru-RU" i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sSup>
                                        <m:sSupPr>
                                          <m:ctrlPr>
                                            <a:rPr lang="ru-R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ru-R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  <m:r>
                                                <a:rPr lang="ru-RU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ru-RU" i="1">
                                                      <a:solidFill>
                                                        <a:srgbClr val="836967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ru-RU" i="1">
                                                      <a:latin typeface="Cambria Math" panose="02040503050406030204" pitchFamily="18" charset="0"/>
                                                    </a:rPr>
                                                    <m:t>𝑦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ru-RU" i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ru-RU" i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sSup>
                                        <m:sSupPr>
                                          <m:ctrlPr>
                                            <a:rPr lang="ru-R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p>
                                          <m:r>
                                            <a:rPr lang="ru-RU" i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</m:func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𝑑𝑦</m:t>
                          </m:r>
                        </m:e>
                      </m:nary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4A67F7E-12E2-4B0E-9F2E-B720153B43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8019" y="1634311"/>
                <a:ext cx="7198416" cy="90210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B331D4A-B53B-4C17-AE02-8E169F20BB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019" y="2826890"/>
            <a:ext cx="6296904" cy="8287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35BF5DF-0324-4170-A5F1-C4127D8AD2EA}"/>
              </a:ext>
            </a:extLst>
          </p:cNvPr>
          <p:cNvSpPr txBox="1"/>
          <p:nvPr/>
        </p:nvSpPr>
        <p:spPr>
          <a:xfrm>
            <a:off x="1361660" y="3063525"/>
            <a:ext cx="944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X: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08B4A2-8512-42E3-BC71-6297EF9DA509}"/>
              </a:ext>
            </a:extLst>
          </p:cNvPr>
          <p:cNvSpPr txBox="1"/>
          <p:nvPr/>
        </p:nvSpPr>
        <p:spPr>
          <a:xfrm>
            <a:off x="1361660" y="4182789"/>
            <a:ext cx="944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Y: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6DDE7A9-29FF-4C17-86C9-C3AA26CF9A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019" y="3959965"/>
            <a:ext cx="6277851" cy="74305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7A2DA05-0187-4160-990C-24BB090090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4997" y="4937880"/>
            <a:ext cx="8400049" cy="945343"/>
          </a:xfrm>
          <a:prstGeom prst="rect">
            <a:avLst/>
          </a:prstGeom>
        </p:spPr>
      </p:pic>
      <p:sp>
        <p:nvSpPr>
          <p:cNvPr id="10" name="Рамка 9">
            <a:extLst>
              <a:ext uri="{FF2B5EF4-FFF2-40B4-BE49-F238E27FC236}">
                <a16:creationId xmlns:a16="http://schemas.microsoft.com/office/drawing/2014/main" id="{A74B8A98-72CA-47B2-8C44-8CEFD9BFE2EA}"/>
              </a:ext>
            </a:extLst>
          </p:cNvPr>
          <p:cNvSpPr/>
          <p:nvPr/>
        </p:nvSpPr>
        <p:spPr>
          <a:xfrm>
            <a:off x="1224997" y="4925843"/>
            <a:ext cx="8634620" cy="1115388"/>
          </a:xfrm>
          <a:prstGeom prst="frame">
            <a:avLst>
              <a:gd name="adj1" fmla="val 3626"/>
            </a:avLst>
          </a:prstGeom>
          <a:solidFill>
            <a:srgbClr val="4447BB"/>
          </a:solidFill>
          <a:ln>
            <a:solidFill>
              <a:srgbClr val="4447B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30412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Введение матрицы поворота </a:t>
            </a:r>
            <a:r>
              <a:rPr lang="en-US" dirty="0"/>
              <a:t>R </a:t>
            </a:r>
            <a:r>
              <a:rPr lang="ru-RU" dirty="0"/>
              <a:t>в уравнение КПД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14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3D44738-2802-4B7E-8E16-958794FF39E6}"/>
                  </a:ext>
                </a:extLst>
              </p:cNvPr>
              <p:cNvSpPr txBox="1"/>
              <p:nvPr/>
            </p:nvSpPr>
            <p:spPr>
              <a:xfrm>
                <a:off x="0" y="2000919"/>
                <a:ext cx="6097656" cy="3912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sSub>
                        <m:sSub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sSub>
                        <m:sSub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3D44738-2802-4B7E-8E16-958794FF39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000919"/>
                <a:ext cx="6097656" cy="391261"/>
              </a:xfrm>
              <a:prstGeom prst="rect">
                <a:avLst/>
              </a:prstGeom>
              <a:blipFill>
                <a:blip r:embed="rId2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B48A903-9A8F-4487-9D6E-C50D643A25AC}"/>
                  </a:ext>
                </a:extLst>
              </p:cNvPr>
              <p:cNvSpPr txBox="1"/>
              <p:nvPr/>
            </p:nvSpPr>
            <p:spPr>
              <a:xfrm>
                <a:off x="4375701" y="2736056"/>
                <a:ext cx="6202016" cy="9840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B48A903-9A8F-4487-9D6E-C50D643A25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5701" y="2736056"/>
                <a:ext cx="6202016" cy="9840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A749CE3-0040-4589-A59F-2172DF5BDE8D}"/>
                  </a:ext>
                </a:extLst>
              </p:cNvPr>
              <p:cNvSpPr txBox="1"/>
              <p:nvPr/>
            </p:nvSpPr>
            <p:spPr>
              <a:xfrm>
                <a:off x="444078" y="2815629"/>
                <a:ext cx="6202016" cy="8249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A749CE3-0040-4589-A59F-2172DF5BD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078" y="2815629"/>
                <a:ext cx="6202016" cy="8249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29911F-FFB4-41DF-9B27-6B2CAD33E5A1}"/>
                  </a:ext>
                </a:extLst>
              </p:cNvPr>
              <p:cNvSpPr txBox="1"/>
              <p:nvPr/>
            </p:nvSpPr>
            <p:spPr>
              <a:xfrm>
                <a:off x="2845076" y="4398027"/>
                <a:ext cx="6202016" cy="9840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29911F-FFB4-41DF-9B27-6B2CAD33E5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076" y="4398027"/>
                <a:ext cx="6202016" cy="98405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53302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Расчет матрицы поворота </a:t>
            </a:r>
            <a:r>
              <a:rPr lang="en-US" dirty="0"/>
              <a:t>R</a:t>
            </a:r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15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0052F93-483A-4592-8988-2DEC0C7A0AB8}"/>
                  </a:ext>
                </a:extLst>
              </p:cNvPr>
              <p:cNvSpPr txBox="1"/>
              <p:nvPr/>
            </p:nvSpPr>
            <p:spPr>
              <a:xfrm>
                <a:off x="1549262" y="1672091"/>
                <a:ext cx="9096789" cy="9840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0052F93-483A-4592-8988-2DEC0C7A0A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9262" y="1672091"/>
                <a:ext cx="9096789" cy="98405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1F08BB-A81E-4808-B0E3-9D52765917FA}"/>
                  </a:ext>
                </a:extLst>
              </p:cNvPr>
              <p:cNvSpPr txBox="1"/>
              <p:nvPr/>
            </p:nvSpPr>
            <p:spPr>
              <a:xfrm>
                <a:off x="0" y="2918864"/>
                <a:ext cx="60976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⃗"/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  <m:sup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, 0</m:t>
                              </m:r>
                            </m:e>
                          </m:d>
                        </m:e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1F08BB-A81E-4808-B0E3-9D5276591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918864"/>
                <a:ext cx="6097656" cy="369332"/>
              </a:xfrm>
              <a:prstGeom prst="rect">
                <a:avLst/>
              </a:prstGeom>
              <a:blipFill>
                <a:blip r:embed="rId3"/>
                <a:stretch>
                  <a:fillRect t="-23333" b="-6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28FB8CC-09A2-4C1C-893F-50D6631D5210}"/>
                  </a:ext>
                </a:extLst>
              </p:cNvPr>
              <p:cNvSpPr txBox="1"/>
              <p:nvPr/>
            </p:nvSpPr>
            <p:spPr>
              <a:xfrm>
                <a:off x="1899617" y="3529714"/>
                <a:ext cx="6221894" cy="9840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acc>
                        <m:accPr>
                          <m:chr m:val="⃗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acc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31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32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28FB8CC-09A2-4C1C-893F-50D6631D52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9617" y="3529714"/>
                <a:ext cx="6221894" cy="98405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3DD0BED-23CD-44B1-915D-4C133E2C8352}"/>
                  </a:ext>
                </a:extLst>
              </p:cNvPr>
              <p:cNvSpPr txBox="1"/>
              <p:nvPr/>
            </p:nvSpPr>
            <p:spPr>
              <a:xfrm>
                <a:off x="1333087" y="4644677"/>
                <a:ext cx="6221894" cy="7638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ru-RU" i="0">
                          <a:latin typeface="Cambria Math" panose="02040503050406030204" pitchFamily="18" charset="0"/>
                        </a:rPr>
                        <m:t>ex</m:t>
                      </m:r>
                      <m:func>
                        <m:func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ru-RU" i="0">
                              <a:latin typeface="Cambria Math" panose="02040503050406030204" pitchFamily="18" charset="0"/>
                            </a:rPr>
                            <m:t>p</m:t>
                          </m:r>
                        </m:fName>
                        <m:e>
                          <m:d>
                            <m:d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sSup>
                                    <m:sSup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ru-R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ru-R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𝑟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sub>
                                          </m:sSub>
                                          <m:r>
                                            <a:rPr lang="ru-RU" i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ru-R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i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ru-RU" i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ru-R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ru-R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𝑟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sub>
                                          </m:sSub>
                                          <m:r>
                                            <a:rPr lang="ru-RU" i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ru-R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i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ru-RU" i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sSup>
                                    <m:sSup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p>
                                      <m:r>
                                        <a:rPr lang="ru-RU" i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3DD0BED-23CD-44B1-915D-4C133E2C83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3087" y="4644677"/>
                <a:ext cx="6221894" cy="76386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57617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Перевод координат из локальной системы координат в глобальную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16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2BC18AF-A34E-41AD-BC74-2874ADE83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3539" y="2090316"/>
            <a:ext cx="7095899" cy="187909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FA0FE03-638F-4C75-A127-E7E11EB5D47F}"/>
                  </a:ext>
                </a:extLst>
              </p:cNvPr>
              <p:cNvSpPr txBox="1"/>
              <p:nvPr/>
            </p:nvSpPr>
            <p:spPr>
              <a:xfrm>
                <a:off x="3152660" y="4309330"/>
                <a:ext cx="6097656" cy="4657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i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⃗"/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ru-RU" i="1">
                          <a:latin typeface="Cambria Math" panose="02040503050406030204" pitchFamily="18" charset="0"/>
                        </a:rPr>
                        <m:t>𝐴</m:t>
                      </m:r>
                      <m:acc>
                        <m:accPr>
                          <m:chr m:val="⃗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  <m:r>
                        <a:rPr lang="ru-RU" i="0">
                          <a:latin typeface="Cambria Math" panose="02040503050406030204" pitchFamily="18" charset="0"/>
                        </a:rPr>
                        <m:t>−2</m:t>
                      </m:r>
                      <m:sSup>
                        <m:sSup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⃗"/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acc>
                        <m:accPr>
                          <m:chr m:val="⃗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  <m:r>
                        <a:rPr lang="ru-RU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FA0FE03-638F-4C75-A127-E7E11EB5D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2660" y="4309330"/>
                <a:ext cx="6097656" cy="465705"/>
              </a:xfrm>
              <a:prstGeom prst="rect">
                <a:avLst/>
              </a:prstGeom>
              <a:blipFill>
                <a:blip r:embed="rId3"/>
                <a:stretch>
                  <a:fillRect t="-1316" b="-263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4340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и задачи исследования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17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566E731-A919-433E-9B32-D5141C6DBCD7}"/>
                  </a:ext>
                </a:extLst>
              </p:cNvPr>
              <p:cNvSpPr txBox="1"/>
              <p:nvPr/>
            </p:nvSpPr>
            <p:spPr>
              <a:xfrm>
                <a:off x="3047172" y="1289032"/>
                <a:ext cx="6097656" cy="7662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геом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subSup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  <m:e>
                          <m:nary>
                            <m:naryPr>
                              <m:limLoc m:val="subSup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ru-RU" i="0">
                                  <a:latin typeface="Cambria Math" panose="02040503050406030204" pitchFamily="18" charset="0"/>
                                </a:rPr>
                                <m:t>ex</m:t>
                              </m:r>
                              <m:func>
                                <m:func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ru-R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ru-RU" i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d>
                                            <m:dPr>
                                              <m:ctrlPr>
                                                <a:rPr lang="ru-R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p>
                                                <m:sSupPr>
                                                  <m:ctrlPr>
                                                    <a:rPr lang="ru-RU" i="1">
                                                      <a:solidFill>
                                                        <a:srgbClr val="836967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acc>
                                                    <m:accPr>
                                                      <m:chr m:val="⃗"/>
                                                      <m:ctrlPr>
                                                        <a:rPr lang="ru-RU" i="1">
                                                          <a:solidFill>
                                                            <a:srgbClr val="836967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ru-RU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𝑟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p>
                                                  <m:r>
                                                    <a:rPr lang="ru-RU" i="1">
                                                      <a:latin typeface="Cambria Math" panose="02040503050406030204" pitchFamily="18" charset="0"/>
                                                    </a:rPr>
                                                    <m:t>𝑇</m:t>
                                                  </m:r>
                                                </m:sup>
                                              </m:sSup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𝐴</m:t>
                                              </m:r>
                                              <m:acc>
                                                <m:accPr>
                                                  <m:chr m:val="⃗"/>
                                                  <m:ctrlPr>
                                                    <a:rPr lang="ru-RU" i="1">
                                                      <a:solidFill>
                                                        <a:srgbClr val="836967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a:rPr lang="ru-RU" i="1">
                                                      <a:latin typeface="Cambria Math" panose="02040503050406030204" pitchFamily="18" charset="0"/>
                                                    </a:rPr>
                                                    <m:t>𝑟</m:t>
                                                  </m:r>
                                                </m:e>
                                              </m:acc>
                                              <m:r>
                                                <a:rPr lang="ru-RU" i="0">
                                                  <a:latin typeface="Cambria Math" panose="02040503050406030204" pitchFamily="18" charset="0"/>
                                                </a:rPr>
                                                <m:t>−2</m:t>
                                              </m:r>
                                              <m:sSup>
                                                <m:sSupPr>
                                                  <m:ctrlPr>
                                                    <a:rPr lang="ru-RU" i="1">
                                                      <a:solidFill>
                                                        <a:srgbClr val="836967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acc>
                                                    <m:accPr>
                                                      <m:chr m:val="⃗"/>
                                                      <m:ctrlPr>
                                                        <a:rPr lang="ru-RU" i="1">
                                                          <a:solidFill>
                                                            <a:srgbClr val="836967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ru-RU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𝐵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p>
                                                  <m:r>
                                                    <a:rPr lang="ru-RU" i="1">
                                                      <a:latin typeface="Cambria Math" panose="02040503050406030204" pitchFamily="18" charset="0"/>
                                                    </a:rPr>
                                                    <m:t>𝑇</m:t>
                                                  </m:r>
                                                </m:sup>
                                              </m:sSup>
                                              <m:acc>
                                                <m:accPr>
                                                  <m:chr m:val="⃗"/>
                                                  <m:ctrlPr>
                                                    <a:rPr lang="ru-RU" i="1">
                                                      <a:solidFill>
                                                        <a:srgbClr val="836967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a:rPr lang="ru-RU" i="1">
                                                      <a:latin typeface="Cambria Math" panose="02040503050406030204" pitchFamily="18" charset="0"/>
                                                    </a:rPr>
                                                    <m:t>𝑟</m:t>
                                                  </m:r>
                                                </m:e>
                                              </m:acc>
                                              <m:r>
                                                <a:rPr lang="ru-RU" i="0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ru-R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p>
                                              <m:r>
                                                <a:rPr lang="ru-RU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𝑑𝑦</m:t>
                              </m:r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566E731-A919-433E-9B32-D5141C6DB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7172" y="1289032"/>
                <a:ext cx="6097656" cy="76623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CC18124-B731-4554-9B03-A0E412505F2F}"/>
                  </a:ext>
                </a:extLst>
              </p:cNvPr>
              <p:cNvSpPr txBox="1"/>
              <p:nvPr/>
            </p:nvSpPr>
            <p:spPr>
              <a:xfrm>
                <a:off x="3047172" y="2419019"/>
                <a:ext cx="60976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CC18124-B731-4554-9B03-A0E412505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7172" y="2419019"/>
                <a:ext cx="609765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B6EDA0-FEAB-4866-8869-80F7B0428A66}"/>
                  </a:ext>
                </a:extLst>
              </p:cNvPr>
              <p:cNvSpPr txBox="1"/>
              <p:nvPr/>
            </p:nvSpPr>
            <p:spPr>
              <a:xfrm>
                <a:off x="2959376" y="2999958"/>
                <a:ext cx="6097656" cy="910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rad>
                      <m:sSup>
                        <m:sSup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acc>
                            <m:accPr>
                              <m:chr m:val="⃗"/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B6EDA0-FEAB-4866-8869-80F7B0428A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9376" y="2999958"/>
                <a:ext cx="6097656" cy="9106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E46DF63-C12C-48DF-A83D-B865C68E6D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2181" y="4376050"/>
            <a:ext cx="3667637" cy="3620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53D102B-97AA-4F27-904A-16D1B448CA5C}"/>
                  </a:ext>
                </a:extLst>
              </p:cNvPr>
              <p:cNvSpPr txBox="1"/>
              <p:nvPr/>
            </p:nvSpPr>
            <p:spPr>
              <a:xfrm>
                <a:off x="2754381" y="5193119"/>
                <a:ext cx="6901898" cy="7868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геом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ad>
                            <m:radPr>
                              <m:degHide m:val="on"/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𝑑𝑒𝑡𝐴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a:rPr lang="ru-RU" i="0">
                          <a:latin typeface="Cambria Math" panose="02040503050406030204" pitchFamily="18" charset="0"/>
                        </a:rPr>
                        <m:t>ex</m:t>
                      </m:r>
                      <m:func>
                        <m:func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ru-RU" i="0">
                              <a:latin typeface="Cambria Math" panose="02040503050406030204" pitchFamily="18" charset="0"/>
                            </a:rPr>
                            <m:t>p</m:t>
                          </m:r>
                        </m:fName>
                        <m:e>
                          <m:d>
                            <m:d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d>
                                    <m:d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  <m:r>
                                        <a:rPr lang="ru-RU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ru-R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ru-R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𝐵</m:t>
                                              </m:r>
                                            </m:e>
                                          </m:acc>
                                        </m:e>
                                        <m:sup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sSup>
                                        <m:sSupPr>
                                          <m:ctrlPr>
                                            <a:rPr lang="ru-R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p>
                                          <m:r>
                                            <a:rPr lang="ru-RU" i="0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p>
                                      </m:sSup>
                                      <m:acc>
                                        <m:accPr>
                                          <m:chr m:val="⃗"/>
                                          <m:ctrlPr>
                                            <a:rPr lang="ru-R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</m:acc>
                                    </m:e>
                                  </m:d>
                                </m:num>
                                <m:den>
                                  <m:sSup>
                                    <m:sSup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p>
                                      <m:r>
                                        <a:rPr lang="ru-RU" i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func>
                      <m:nary>
                        <m:naryPr>
                          <m:chr m:val="∬"/>
                          <m:subHide m:val="on"/>
                          <m:supHide m:val="on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sup>
                          </m:s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53D102B-97AA-4F27-904A-16D1B448C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4381" y="5193119"/>
                <a:ext cx="6901898" cy="78681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Рамка 9">
            <a:extLst>
              <a:ext uri="{FF2B5EF4-FFF2-40B4-BE49-F238E27FC236}">
                <a16:creationId xmlns:a16="http://schemas.microsoft.com/office/drawing/2014/main" id="{0D6CDF10-32AA-4499-951F-03116E436B20}"/>
              </a:ext>
            </a:extLst>
          </p:cNvPr>
          <p:cNvSpPr/>
          <p:nvPr/>
        </p:nvSpPr>
        <p:spPr>
          <a:xfrm>
            <a:off x="2689777" y="5042452"/>
            <a:ext cx="7206698" cy="1268896"/>
          </a:xfrm>
          <a:prstGeom prst="frame">
            <a:avLst>
              <a:gd name="adj1" fmla="val 3626"/>
            </a:avLst>
          </a:prstGeom>
          <a:solidFill>
            <a:srgbClr val="4447BB"/>
          </a:solidFill>
          <a:ln>
            <a:solidFill>
              <a:srgbClr val="4447B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97020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Фототранзистор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18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5D1569B-4C53-46C8-A145-A7F056FAE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842" y="1360866"/>
            <a:ext cx="3705742" cy="248637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2E7D001-CD7D-482A-B00D-937E77ED2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6912" y="1446603"/>
            <a:ext cx="3343742" cy="240063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8C53D0-69BE-4E73-971A-F2E7FA85E328}"/>
              </a:ext>
            </a:extLst>
          </p:cNvPr>
          <p:cNvSpPr txBox="1"/>
          <p:nvPr/>
        </p:nvSpPr>
        <p:spPr>
          <a:xfrm>
            <a:off x="1577836" y="4336662"/>
            <a:ext cx="8312818" cy="12890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just">
              <a:lnSpc>
                <a:spcPct val="150000"/>
              </a:lnSpc>
            </a:pPr>
            <a:r>
              <a:rPr lang="ru-RU" sz="180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Фототранзистор – оптоэлектронный полупроводниковый прибор, являющийся вариантом транзистора, за исключением того, что область базы доступна для светового излучения.</a:t>
            </a:r>
          </a:p>
        </p:txBody>
      </p:sp>
    </p:spTree>
    <p:extLst>
      <p:ext uri="{BB962C8B-B14F-4D97-AF65-F5344CB8AC3E}">
        <p14:creationId xmlns:p14="http://schemas.microsoft.com/office/powerpoint/2010/main" val="6787755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Фотодиод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19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4160478-46C2-4D8F-B6EA-8702C6BA4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845" y="1353403"/>
            <a:ext cx="3258005" cy="2600688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1414AD0F-1B95-40A0-8A54-D70713302B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8150" y="1577272"/>
            <a:ext cx="3801005" cy="21529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62D271E-86CB-4E61-B982-1E5874FE8D56}"/>
              </a:ext>
            </a:extLst>
          </p:cNvPr>
          <p:cNvSpPr txBox="1"/>
          <p:nvPr/>
        </p:nvSpPr>
        <p:spPr>
          <a:xfrm>
            <a:off x="3178035" y="4588062"/>
            <a:ext cx="650267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Фотодиод – оптоэлектронный полупроводниковый прибор, преобразующий попавший на его фоточувствительную область свет в заряд за счет процессов, протекающих в </a:t>
            </a:r>
            <a:r>
              <a:rPr lang="en-US" sz="180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r>
              <a:rPr lang="ru-RU" sz="180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en-US" sz="180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n </a:t>
            </a:r>
            <a:r>
              <a:rPr lang="ru-RU" sz="180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переходе.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270075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Сравнительная таблица фотодиодов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20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DEE73C60-2A07-48CF-844C-49D15E1C0E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001" y="1413397"/>
            <a:ext cx="5342364" cy="4031205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C3554E5-6C5F-4414-9022-65F8F6ED6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99" y="1675741"/>
            <a:ext cx="5830797" cy="3263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2105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Характеристика диапазона восприимчивости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21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5C8C4B6-5238-4BE4-8956-88F70C1207C7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67521" y="1608551"/>
            <a:ext cx="5256958" cy="41328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457090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Фототранзистор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22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BCC176-98E4-45CD-941A-342EE5C752A1}"/>
              </a:ext>
            </a:extLst>
          </p:cNvPr>
          <p:cNvSpPr txBox="1"/>
          <p:nvPr/>
        </p:nvSpPr>
        <p:spPr>
          <a:xfrm>
            <a:off x="1321905" y="3400020"/>
            <a:ext cx="6097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Методы нулевого порядка 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7DE24F-19E8-41C5-A349-BAE31ADF7271}"/>
              </a:ext>
            </a:extLst>
          </p:cNvPr>
          <p:cNvSpPr txBox="1"/>
          <p:nvPr/>
        </p:nvSpPr>
        <p:spPr>
          <a:xfrm>
            <a:off x="4370733" y="3311278"/>
            <a:ext cx="6097656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just">
              <a:lnSpc>
                <a:spcPct val="150000"/>
              </a:lnSpc>
            </a:pPr>
            <a:r>
              <a:rPr lang="ru-RU" sz="180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Методы первого порядка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AFFCCB-2502-4CF4-BA83-C7B018B3E8A1}"/>
              </a:ext>
            </a:extLst>
          </p:cNvPr>
          <p:cNvSpPr txBox="1"/>
          <p:nvPr/>
        </p:nvSpPr>
        <p:spPr>
          <a:xfrm>
            <a:off x="7819610" y="3311278"/>
            <a:ext cx="6097656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just">
              <a:lnSpc>
                <a:spcPct val="150000"/>
              </a:lnSpc>
            </a:pPr>
            <a:r>
              <a:rPr lang="ru-RU" sz="180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Методы второго порядка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392A49-7D5C-4220-B337-0F764A8B276D}"/>
              </a:ext>
            </a:extLst>
          </p:cNvPr>
          <p:cNvSpPr txBox="1"/>
          <p:nvPr/>
        </p:nvSpPr>
        <p:spPr>
          <a:xfrm>
            <a:off x="4728504" y="1759936"/>
            <a:ext cx="4462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Типы методов оптимизации</a:t>
            </a:r>
          </a:p>
        </p:txBody>
      </p:sp>
      <p:cxnSp>
        <p:nvCxn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id="{24A4F0E3-EB08-4F51-9082-369CE90082C8}"/>
              </a:ext>
            </a:extLst>
          </p:cNvPr>
          <p:cNvCxnSpPr>
            <a:cxnSpLocks/>
          </p:cNvCxnSpPr>
          <p:nvPr/>
        </p:nvCxnSpPr>
        <p:spPr>
          <a:xfrm flipH="1">
            <a:off x="2713383" y="2129268"/>
            <a:ext cx="3349487" cy="12707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9A61960F-CEE4-4D30-A086-F99C39547F1B}"/>
              </a:ext>
            </a:extLst>
          </p:cNvPr>
          <p:cNvCxnSpPr/>
          <p:nvPr/>
        </p:nvCxnSpPr>
        <p:spPr>
          <a:xfrm>
            <a:off x="6062870" y="2129268"/>
            <a:ext cx="0" cy="12707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33193528-C14B-4F71-B67C-1FC9E78A5069}"/>
              </a:ext>
            </a:extLst>
          </p:cNvPr>
          <p:cNvCxnSpPr/>
          <p:nvPr/>
        </p:nvCxnSpPr>
        <p:spPr>
          <a:xfrm>
            <a:off x="6062870" y="2129268"/>
            <a:ext cx="3448878" cy="12997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45117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Блок-схема алгоритма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23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30C831F-D5D4-4985-8F7D-782F3C114E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9577" y="366076"/>
            <a:ext cx="4808095" cy="6348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2669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Первый набор параметров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24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FA410F7-79D6-45B5-943C-23D3E51B72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180" y="1785550"/>
            <a:ext cx="6201640" cy="259116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3BEF4B5-F693-4970-AB60-FABA22E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3820" y="4301960"/>
            <a:ext cx="6173061" cy="381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1518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 моделирования Парето-фронта с первым набором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25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3C2E925-4420-4FDD-B082-3EBC381DFAFB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853" y="1039400"/>
            <a:ext cx="6028055" cy="5494655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256CC1B-A3BB-49A0-B7E8-987025F0D3AB}"/>
                  </a:ext>
                </a:extLst>
              </p:cNvPr>
              <p:cNvSpPr txBox="1"/>
              <p:nvPr/>
            </p:nvSpPr>
            <p:spPr>
              <a:xfrm>
                <a:off x="6094344" y="1722787"/>
                <a:ext cx="6097656" cy="4277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𝑖𝑑𝑒𝑎𝑙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𝑖𝑑𝑒𝑎𝑙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256CC1B-A3BB-49A0-B7E8-987025F0D3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344" y="1722787"/>
                <a:ext cx="6097656" cy="427746"/>
              </a:xfrm>
              <a:prstGeom prst="rect">
                <a:avLst/>
              </a:prstGeom>
              <a:blipFill>
                <a:blip r:embed="rId3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32CE6EF-8728-44F6-BA2A-8E44DDBF58FA}"/>
                  </a:ext>
                </a:extLst>
              </p:cNvPr>
              <p:cNvSpPr txBox="1"/>
              <p:nvPr/>
            </p:nvSpPr>
            <p:spPr>
              <a:xfrm>
                <a:off x="6375125" y="2406200"/>
                <a:ext cx="6162260" cy="4277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0,02−0</m:t>
                                  </m:r>
                                </m:e>
                              </m:d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0,06−0,48</m:t>
                                  </m:r>
                                </m:e>
                              </m:d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ru-RU" i="0">
                          <a:latin typeface="Cambria Math" panose="02040503050406030204" pitchFamily="18" charset="0"/>
                        </a:rPr>
                        <m:t>=0,42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32CE6EF-8728-44F6-BA2A-8E44DDBF58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125" y="2406200"/>
                <a:ext cx="6162260" cy="4277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5BD18A-F0BF-436B-BA16-59D6018F7637}"/>
                  </a:ext>
                </a:extLst>
              </p:cNvPr>
              <p:cNvSpPr txBox="1"/>
              <p:nvPr/>
            </p:nvSpPr>
            <p:spPr>
              <a:xfrm>
                <a:off x="6375125" y="3079349"/>
                <a:ext cx="6336194" cy="4277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0,047−0</m:t>
                                  </m:r>
                                </m:e>
                              </m:d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0,2−0,48</m:t>
                                  </m:r>
                                </m:e>
                              </m:d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ru-RU" i="0">
                          <a:latin typeface="Cambria Math" panose="02040503050406030204" pitchFamily="18" charset="0"/>
                        </a:rPr>
                        <m:t>=0,284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5BD18A-F0BF-436B-BA16-59D6018F76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125" y="3079349"/>
                <a:ext cx="6336194" cy="4277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B5697FA-3C16-4F2B-A640-0B2C76AB856A}"/>
                  </a:ext>
                </a:extLst>
              </p:cNvPr>
              <p:cNvSpPr txBox="1"/>
              <p:nvPr/>
            </p:nvSpPr>
            <p:spPr>
              <a:xfrm>
                <a:off x="6388772" y="3735642"/>
                <a:ext cx="6420678" cy="4277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0,049−0</m:t>
                                  </m:r>
                                </m:e>
                              </m:d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0,29−0,48</m:t>
                                  </m:r>
                                </m:e>
                              </m:d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ru-RU" i="0">
                          <a:latin typeface="Cambria Math" panose="02040503050406030204" pitchFamily="18" charset="0"/>
                        </a:rPr>
                        <m:t>=0,196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B5697FA-3C16-4F2B-A640-0B2C76AB85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8772" y="3735642"/>
                <a:ext cx="6420678" cy="42774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D94162B-5E43-4135-9377-92D3D00EE1D8}"/>
                  </a:ext>
                </a:extLst>
              </p:cNvPr>
              <p:cNvSpPr txBox="1"/>
              <p:nvPr/>
            </p:nvSpPr>
            <p:spPr>
              <a:xfrm>
                <a:off x="6276957" y="4418003"/>
                <a:ext cx="6470374" cy="4277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0,068−0</m:t>
                                  </m:r>
                                </m:e>
                              </m:d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0,4−0,48</m:t>
                                  </m:r>
                                </m:e>
                              </m:d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ru-RU" i="0">
                          <a:latin typeface="Cambria Math" panose="02040503050406030204" pitchFamily="18" charset="0"/>
                        </a:rPr>
                        <m:t>=0,105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D94162B-5E43-4135-9377-92D3D00EE1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6957" y="4418003"/>
                <a:ext cx="6470374" cy="42774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5633AF8-2A9C-4442-9859-F64FD771A424}"/>
                  </a:ext>
                </a:extLst>
              </p:cNvPr>
              <p:cNvSpPr txBox="1"/>
              <p:nvPr/>
            </p:nvSpPr>
            <p:spPr>
              <a:xfrm>
                <a:off x="6276957" y="5106879"/>
                <a:ext cx="6470374" cy="4277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0,098−0</m:t>
                                  </m:r>
                                </m:e>
                              </m:d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0,4−0,48</m:t>
                                  </m:r>
                                </m:e>
                              </m:d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ru-RU" i="0">
                          <a:latin typeface="Cambria Math" panose="02040503050406030204" pitchFamily="18" charset="0"/>
                        </a:rPr>
                        <m:t>=0,127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5633AF8-2A9C-4442-9859-F64FD771A4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6957" y="5106879"/>
                <a:ext cx="6470374" cy="42774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033478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Второй набор параметров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26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A2AD6FB-6883-41BB-895B-DCAB83AA72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9008" y="1790599"/>
            <a:ext cx="6973983" cy="3276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4350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График Парето-фронта со вторым набором параметров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27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40672CD-9CCA-479C-9A12-278E9D8E171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1972" y="911701"/>
            <a:ext cx="6028055" cy="549465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338789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Третий набор параметров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28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5A1BAE0-9A67-4CD2-AECD-60B45545F4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943" y="1697940"/>
            <a:ext cx="6192114" cy="290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2607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График Парето-фронта с третьим набором параметров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29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B62EC1E-31FD-419C-8A0E-22D2186161B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9141" y="919956"/>
            <a:ext cx="6032500" cy="54864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162901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Рекомендации и требования к системе на основе проведенного моделирования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30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1988CD-DD9B-4E50-B436-38B6627A75D8}"/>
              </a:ext>
            </a:extLst>
          </p:cNvPr>
          <p:cNvSpPr txBox="1"/>
          <p:nvPr/>
        </p:nvSpPr>
        <p:spPr>
          <a:xfrm>
            <a:off x="1826313" y="1176783"/>
            <a:ext cx="8242025" cy="52295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140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Для обеспечения наиболее эффективной передачи энергии с помощью инфракрасного лазера необходимо чтобы лазерный луч был длиной волны 1.3 мкм.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140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Во избежание значительных просадок переданного напряжения на борту БПЛА необходимо покрыть квадратными матрицами фотоприемников каждую свободную поверхность вдоль борта БПЛА.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140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При выполнении беспилотником тактических задач необходимо обеспечить максимальный угол отклонения аппарата по каждой из осей не более 20 градусов.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140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Для повышения эффективности преобразования падающего излучения в электрический ток необходимо использовать фотодиоды (например, </a:t>
            </a:r>
            <a:r>
              <a:rPr lang="ru-RU" sz="1400" dirty="0" err="1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InGaAs</a:t>
            </a:r>
            <a:r>
              <a:rPr lang="ru-RU" sz="140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) с максимальным квантовым выходом в выбранном диапазоне длин волн и с минимальным собственным шумом, что особенно критично при слабых сигналах на большой дальности.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140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Все окна, линзы и поверхности фотоприемников должны быть оснащены просветляющими </a:t>
            </a:r>
            <a:r>
              <a:rPr lang="ru-RU" sz="1400" dirty="0" err="1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антирефлексными</a:t>
            </a:r>
            <a:r>
              <a:rPr lang="ru-RU" sz="1400" dirty="0">
                <a:solidFill>
                  <a:srgbClr val="00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 покрытиями, оптимизированными под длину волны лазера, чтобы минимизировать отражательные потери и обеспечить максимальное пропускание света к активной области приёмника. Также рекомендуется использовать оптические фильтры для эффективного отсечения фонового излучения и повышения отношения сигнал/шум.</a:t>
            </a:r>
          </a:p>
        </p:txBody>
      </p:sp>
    </p:spTree>
    <p:extLst>
      <p:ext uri="{BB962C8B-B14F-4D97-AF65-F5344CB8AC3E}">
        <p14:creationId xmlns:p14="http://schemas.microsoft.com/office/powerpoint/2010/main" val="27503943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Таблица 7">
            <a:extLst>
              <a:ext uri="{FF2B5EF4-FFF2-40B4-BE49-F238E27FC236}">
                <a16:creationId xmlns:a16="http://schemas.microsoft.com/office/drawing/2014/main" id="{3D311A4E-998B-48F1-AB55-4238891CD3A9}"/>
              </a:ext>
            </a:extLst>
          </p:cNvPr>
          <p:cNvGraphicFramePr>
            <a:graphicFrameLocks noGrp="1"/>
          </p:cNvGraphicFramePr>
          <p:nvPr/>
        </p:nvGraphicFramePr>
        <p:xfrm>
          <a:off x="363716" y="3956613"/>
          <a:ext cx="10798628" cy="23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0756">
                  <a:extLst>
                    <a:ext uri="{9D8B030D-6E8A-4147-A177-3AD203B41FA5}">
                      <a16:colId xmlns:a16="http://schemas.microsoft.com/office/drawing/2014/main" val="3458636878"/>
                    </a:ext>
                  </a:extLst>
                </a:gridCol>
                <a:gridCol w="3496514">
                  <a:extLst>
                    <a:ext uri="{9D8B030D-6E8A-4147-A177-3AD203B41FA5}">
                      <a16:colId xmlns:a16="http://schemas.microsoft.com/office/drawing/2014/main" val="2404878860"/>
                    </a:ext>
                  </a:extLst>
                </a:gridCol>
                <a:gridCol w="3861358">
                  <a:extLst>
                    <a:ext uri="{9D8B030D-6E8A-4147-A177-3AD203B41FA5}">
                      <a16:colId xmlns:a16="http://schemas.microsoft.com/office/drawing/2014/main" val="237073000"/>
                    </a:ext>
                  </a:extLst>
                </a:gridCol>
              </a:tblGrid>
              <a:tr h="780000">
                <a:tc>
                  <a:txBody>
                    <a:bodyPr/>
                    <a:lstStyle/>
                    <a:p>
                      <a:endParaRPr lang="ru-RU" b="0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solidFill>
                            <a:srgbClr val="01F58F"/>
                          </a:solidFill>
                        </a:rPr>
                        <a:t>Игнатенко Валерий Константинович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solidFill>
                            <a:srgbClr val="01F58F"/>
                          </a:solidFill>
                        </a:rPr>
                        <a:t>Группа (М14О-201СВ-23)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7304126"/>
                  </a:ext>
                </a:extLst>
              </a:tr>
              <a:tr h="780000">
                <a:tc>
                  <a:txBody>
                    <a:bodyPr/>
                    <a:lstStyle/>
                    <a:p>
                      <a:endParaRPr lang="ru-RU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dirty="0">
                          <a:solidFill>
                            <a:srgbClr val="01F58F"/>
                          </a:solidFill>
                        </a:rPr>
                        <a:t>Старовойтов Евгений Игоревич</a:t>
                      </a:r>
                    </a:p>
                    <a:p>
                      <a:endParaRPr lang="ru-RU" sz="1400" b="0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rgbClr val="01F58F"/>
                          </a:solidFill>
                        </a:rPr>
                        <a:t>К.т.н., АО «НИИМА «Прогресс», начальник отдела научных исследований и защиты интеллектуальной собственности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2199554"/>
                  </a:ext>
                </a:extLst>
              </a:tr>
              <a:tr h="780000">
                <a:tc>
                  <a:txBody>
                    <a:bodyPr/>
                    <a:lstStyle/>
                    <a:p>
                      <a:endParaRPr lang="ru-RU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dirty="0">
                          <a:solidFill>
                            <a:srgbClr val="01F58F"/>
                          </a:solidFill>
                        </a:rPr>
                        <a:t>Жуков Александр Николаевич</a:t>
                      </a:r>
                    </a:p>
                    <a:p>
                      <a:endParaRPr lang="ru-RU" sz="1400" b="0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01F58F"/>
                          </a:solidFill>
                        </a:rPr>
                        <a:t>АО «НИИМА «Прогресс», заместитель директора дизайн-центра по ПАК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283770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307751B-083B-4E98-9353-0C84C529B6CD}"/>
              </a:ext>
            </a:extLst>
          </p:cNvPr>
          <p:cNvSpPr txBox="1"/>
          <p:nvPr/>
        </p:nvSpPr>
        <p:spPr>
          <a:xfrm>
            <a:off x="3059320" y="1896891"/>
            <a:ext cx="607336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Исследование возможности и способов передачи энергии лазерным лучом ИК диапазона для питания беспилотных летательных аппаратов</a:t>
            </a:r>
          </a:p>
        </p:txBody>
      </p:sp>
    </p:spTree>
    <p:extLst>
      <p:ext uri="{BB962C8B-B14F-4D97-AF65-F5344CB8AC3E}">
        <p14:creationId xmlns:p14="http://schemas.microsoft.com/office/powerpoint/2010/main" val="1767850288"/>
      </p:ext>
    </p:extLst>
  </p:cSld>
  <p:clrMapOvr>
    <a:masterClrMapping/>
  </p:clrMapOvr>
</p:sld>
</file>

<file path=ppt/theme/theme1.xml><?xml version="1.0" encoding="utf-8"?>
<a:theme xmlns:a="http://schemas.openxmlformats.org/drawingml/2006/main" name="1_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273</TotalTime>
  <Words>848</Words>
  <Application>Microsoft Office PowerPoint</Application>
  <PresentationFormat>Широкоэкранный</PresentationFormat>
  <Paragraphs>131</Paragraphs>
  <Slides>29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29</vt:i4>
      </vt:variant>
    </vt:vector>
  </HeadingPairs>
  <TitlesOfParts>
    <vt:vector size="36" baseType="lpstr">
      <vt:lpstr>Arial</vt:lpstr>
      <vt:lpstr>Calibri</vt:lpstr>
      <vt:lpstr>Calibri Light</vt:lpstr>
      <vt:lpstr>Cambria Math</vt:lpstr>
      <vt:lpstr>Times New Roman</vt:lpstr>
      <vt:lpstr>1_Тема Office</vt:lpstr>
      <vt:lpstr>2_Тема Office</vt:lpstr>
      <vt:lpstr>Презентация PowerPoint</vt:lpstr>
      <vt:lpstr>Цели и задачи исследования</vt:lpstr>
      <vt:lpstr>Актуальность темы</vt:lpstr>
      <vt:lpstr>Виды передачи энергии</vt:lpstr>
      <vt:lpstr>Основные виды рассеяния излучения в атмосфере</vt:lpstr>
      <vt:lpstr>Коэффициенты поглощения для разных длин волн</vt:lpstr>
      <vt:lpstr>Атмосферные профили</vt:lpstr>
      <vt:lpstr>Расчет КПД, зависящего от угла падения луча</vt:lpstr>
      <vt:lpstr>Расчет КПД, зависящего от смещения луча от центра фотоприемника </vt:lpstr>
      <vt:lpstr>Расположение систем координат</vt:lpstr>
      <vt:lpstr>Классический вид уравнения КПД с описанием функций ошибок erf</vt:lpstr>
      <vt:lpstr>Введение матрицы поворота R в уравнение КПД</vt:lpstr>
      <vt:lpstr>Расчет матрицы поворота R</vt:lpstr>
      <vt:lpstr>Перевод координат из локальной системы координат в глобальную</vt:lpstr>
      <vt:lpstr>Цели и задачи исследования</vt:lpstr>
      <vt:lpstr>Фототранзистор</vt:lpstr>
      <vt:lpstr>Фотодиод</vt:lpstr>
      <vt:lpstr>Сравнительная таблица фотодиодов</vt:lpstr>
      <vt:lpstr>Характеристика диапазона восприимчивости</vt:lpstr>
      <vt:lpstr>Фототранзистор</vt:lpstr>
      <vt:lpstr>Блок-схема алгоритма</vt:lpstr>
      <vt:lpstr>Первый набор параметров</vt:lpstr>
      <vt:lpstr>Результат моделирования Парето-фронта с первым набором</vt:lpstr>
      <vt:lpstr>Второй набор параметров</vt:lpstr>
      <vt:lpstr>График Парето-фронта со вторым набором параметров</vt:lpstr>
      <vt:lpstr>Третий набор параметров</vt:lpstr>
      <vt:lpstr>График Парето-фронта с третьим набором параметров</vt:lpstr>
      <vt:lpstr>Рекомендации и требования к системе на основе проведенного моделирования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София Кулагина</dc:creator>
  <cp:lastModifiedBy>Валерий</cp:lastModifiedBy>
  <cp:revision>47</cp:revision>
  <dcterms:created xsi:type="dcterms:W3CDTF">2025-04-30T13:15:49Z</dcterms:created>
  <dcterms:modified xsi:type="dcterms:W3CDTF">2025-06-06T09:40:38Z</dcterms:modified>
</cp:coreProperties>
</file>