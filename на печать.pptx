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3" r:id="rId1"/>
  </p:sldMasterIdLst>
  <p:notesMasterIdLst>
    <p:notesMasterId r:id="rId27"/>
  </p:notesMasterIdLst>
  <p:sldIdLst>
    <p:sldId id="392" r:id="rId2"/>
    <p:sldId id="359" r:id="rId3"/>
    <p:sldId id="361" r:id="rId4"/>
    <p:sldId id="362" r:id="rId5"/>
    <p:sldId id="363" r:id="rId6"/>
    <p:sldId id="364" r:id="rId7"/>
    <p:sldId id="365" r:id="rId8"/>
    <p:sldId id="390" r:id="rId9"/>
    <p:sldId id="391" r:id="rId10"/>
    <p:sldId id="369" r:id="rId11"/>
    <p:sldId id="370" r:id="rId12"/>
    <p:sldId id="371" r:id="rId13"/>
    <p:sldId id="372" r:id="rId14"/>
    <p:sldId id="373" r:id="rId15"/>
    <p:sldId id="374" r:id="rId16"/>
    <p:sldId id="376" r:id="rId17"/>
    <p:sldId id="378" r:id="rId18"/>
    <p:sldId id="379" r:id="rId19"/>
    <p:sldId id="380" r:id="rId20"/>
    <p:sldId id="381" r:id="rId21"/>
    <p:sldId id="382" r:id="rId22"/>
    <p:sldId id="384" r:id="rId23"/>
    <p:sldId id="386" r:id="rId24"/>
    <p:sldId id="388" r:id="rId25"/>
    <p:sldId id="393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47BB"/>
    <a:srgbClr val="01F58F"/>
    <a:srgbClr val="B5B6E5"/>
    <a:srgbClr val="3ECC71"/>
    <a:srgbClr val="006EFF"/>
    <a:srgbClr val="007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94"/>
    <p:restoredTop sz="94595"/>
  </p:normalViewPr>
  <p:slideViewPr>
    <p:cSldViewPr snapToGrid="0">
      <p:cViewPr varScale="1">
        <p:scale>
          <a:sx n="108" d="100"/>
          <a:sy n="108" d="100"/>
        </p:scale>
        <p:origin x="8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80765-5A68-4F06-8CA7-040D49A6EC5B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F1905A-1290-4C9F-82D0-63B73F43DF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9710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скругленные углы 15"/>
          <p:cNvSpPr/>
          <p:nvPr userDrawn="1"/>
        </p:nvSpPr>
        <p:spPr bwMode="auto">
          <a:xfrm>
            <a:off x="11203616" y="6041232"/>
            <a:ext cx="588962" cy="369887"/>
          </a:xfrm>
          <a:prstGeom prst="roundRect">
            <a:avLst>
              <a:gd name="adj" fmla="val 50000"/>
            </a:avLst>
          </a:prstGeom>
          <a:noFill/>
          <a:ln>
            <a:solidFill>
              <a:srgbClr val="4447BB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7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203616" y="6041231"/>
            <a:ext cx="588962" cy="365125"/>
          </a:xfrm>
          <a:prstGeom prst="rect">
            <a:avLst/>
          </a:prstGeom>
        </p:spPr>
        <p:txBody>
          <a:bodyPr anchor="ctr"/>
          <a:lstStyle>
            <a:lvl1pPr algn="ctr">
              <a:defRPr sz="1500">
                <a:solidFill>
                  <a:srgbClr val="4447BB"/>
                </a:solidFill>
              </a:defRPr>
            </a:lvl1pPr>
          </a:lstStyle>
          <a:p>
            <a:pPr>
              <a:defRPr/>
            </a:pPr>
            <a:fld id="{85D56CE8-50B6-40C5-A948-6D78CBFE93AE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0B89E8-C45B-DCAD-CCB7-C9779C83C75B}"/>
              </a:ext>
            </a:extLst>
          </p:cNvPr>
          <p:cNvSpPr txBox="1"/>
          <p:nvPr userDrawn="1"/>
        </p:nvSpPr>
        <p:spPr>
          <a:xfrm>
            <a:off x="1451232" y="513041"/>
            <a:ext cx="8351133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 lv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ru-RU" sz="2000" b="1" dirty="0" smtClean="0">
                <a:solidFill>
                  <a:srgbClr val="0072FF"/>
                </a:solidFill>
              </a:defRPr>
            </a:lvl1pPr>
          </a:lstStyle>
          <a:p>
            <a:pPr lvl="0"/>
            <a:endParaRPr lang="ru-RU" dirty="0">
              <a:solidFill>
                <a:srgbClr val="4447BB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0CB42FC0-AA05-1B82-59FD-E43A211BC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919507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0A1144EA-B6D9-25CD-E673-F7423C55608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09360" y="465139"/>
            <a:ext cx="0" cy="465138"/>
          </a:xfrm>
          <a:prstGeom prst="line">
            <a:avLst/>
          </a:prstGeom>
          <a:ln w="19050">
            <a:solidFill>
              <a:srgbClr val="4447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: скругленные углы 15">
            <a:extLst>
              <a:ext uri="{FF2B5EF4-FFF2-40B4-BE49-F238E27FC236}">
                <a16:creationId xmlns:a16="http://schemas.microsoft.com/office/drawing/2014/main" id="{ABBEB2A0-BE29-8CF3-5890-BC7D1FCC8A3A}"/>
              </a:ext>
            </a:extLst>
          </p:cNvPr>
          <p:cNvSpPr/>
          <p:nvPr userDrawn="1"/>
        </p:nvSpPr>
        <p:spPr bwMode="auto">
          <a:xfrm>
            <a:off x="11209534" y="6036469"/>
            <a:ext cx="588962" cy="369887"/>
          </a:xfrm>
          <a:prstGeom prst="roundRect">
            <a:avLst>
              <a:gd name="adj" fmla="val 50000"/>
            </a:avLst>
          </a:prstGeom>
          <a:noFill/>
          <a:ln>
            <a:solidFill>
              <a:srgbClr val="4447BB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49FBDEF8-252F-DC33-A0F8-0FA6EE7F4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1203616" y="6041231"/>
            <a:ext cx="588962" cy="365125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algn="ctr">
              <a:defRPr sz="1500">
                <a:solidFill>
                  <a:srgbClr val="4447BB"/>
                </a:solidFill>
              </a:defRPr>
            </a:lvl1pPr>
          </a:lstStyle>
          <a:p>
            <a:pPr>
              <a:defRPr/>
            </a:pPr>
            <a:fld id="{85D56CE8-50B6-40C5-A948-6D78CBFE93AE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5C68B507-7E27-05C1-7BA1-65E8FD841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239" y="356013"/>
            <a:ext cx="10341339" cy="683387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ru-RU" dirty="0"/>
              <a:t>Образец заголовка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96B2478-54DB-D2F6-79D8-9E4B2B5DD8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3738" y="465139"/>
            <a:ext cx="483744" cy="46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298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2000" b="1" kern="1200" dirty="0" smtClean="0">
          <a:solidFill>
            <a:srgbClr val="4447BB"/>
          </a:solidFill>
          <a:latin typeface="+mn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1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27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0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1.png"/><Relationship Id="rId7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46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0.png"/><Relationship Id="rId3" Type="http://schemas.openxmlformats.org/officeDocument/2006/relationships/image" Target="../media/image63.png"/><Relationship Id="rId7" Type="http://schemas.openxmlformats.org/officeDocument/2006/relationships/image" Target="../media/image640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0.png"/><Relationship Id="rId5" Type="http://schemas.openxmlformats.org/officeDocument/2006/relationships/image" Target="../media/image620.png"/><Relationship Id="rId10" Type="http://schemas.openxmlformats.org/officeDocument/2006/relationships/image" Target="../media/image64.png"/><Relationship Id="rId4" Type="http://schemas.openxmlformats.org/officeDocument/2006/relationships/image" Target="../media/image610.png"/><Relationship Id="rId9" Type="http://schemas.openxmlformats.org/officeDocument/2006/relationships/image" Target="../media/image6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F91855-ECA0-4E34-85C6-8C0C19C7D276}"/>
              </a:ext>
            </a:extLst>
          </p:cNvPr>
          <p:cNvSpPr txBox="1"/>
          <p:nvPr/>
        </p:nvSpPr>
        <p:spPr>
          <a:xfrm>
            <a:off x="3634121" y="1706820"/>
            <a:ext cx="5279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Выпускная квалификационная работа на тему: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C8E9F9-62CC-4789-A5FF-E540A266A793}"/>
              </a:ext>
            </a:extLst>
          </p:cNvPr>
          <p:cNvSpPr txBox="1"/>
          <p:nvPr/>
        </p:nvSpPr>
        <p:spPr>
          <a:xfrm>
            <a:off x="3531875" y="2081499"/>
            <a:ext cx="548446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Исследование возможности и способов передачи энергии лазерным лучом ИК диапазона для питания беспилотных летательных аппаратов</a:t>
            </a:r>
          </a:p>
          <a:p>
            <a:pPr algn="ctr"/>
            <a:endParaRPr lang="ru-RU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C5C166-A787-4D95-8387-732771042B11}"/>
              </a:ext>
            </a:extLst>
          </p:cNvPr>
          <p:cNvSpPr txBox="1"/>
          <p:nvPr/>
        </p:nvSpPr>
        <p:spPr>
          <a:xfrm>
            <a:off x="1045712" y="3868781"/>
            <a:ext cx="2204001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Автор ВКР</a:t>
            </a:r>
            <a:br>
              <a:rPr lang="ru-RU" sz="1600" dirty="0"/>
            </a:br>
            <a:endParaRPr lang="ru-RU" sz="1600" dirty="0"/>
          </a:p>
          <a:p>
            <a:r>
              <a:rPr lang="ru-RU" sz="1600" dirty="0"/>
              <a:t>Научный руководитель</a:t>
            </a:r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r>
              <a:rPr lang="ru-RU" sz="1600" dirty="0"/>
              <a:t>Рецензент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8E831C-31EE-43F3-8A66-7BDE22BD7DBB}"/>
              </a:ext>
            </a:extLst>
          </p:cNvPr>
          <p:cNvSpPr txBox="1"/>
          <p:nvPr/>
        </p:nvSpPr>
        <p:spPr>
          <a:xfrm>
            <a:off x="3736800" y="3868781"/>
            <a:ext cx="793858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Игнатенко Валерий Константинович	</a:t>
            </a:r>
            <a:r>
              <a:rPr lang="ru-RU" sz="1600" b="0" dirty="0"/>
              <a:t>Группа (М14О-201СВ-23)</a:t>
            </a:r>
            <a:endParaRPr lang="ru-RU" sz="1600" dirty="0"/>
          </a:p>
          <a:p>
            <a:endParaRPr lang="ru-RU" sz="1600" dirty="0"/>
          </a:p>
          <a:p>
            <a:r>
              <a:rPr lang="ru-RU" sz="1600" dirty="0"/>
              <a:t>Старовойтов Евгений Игоревич	К.т.н., АО «НИИМА «Прогресс», </a:t>
            </a:r>
          </a:p>
          <a:p>
            <a:r>
              <a:rPr lang="ru-RU" sz="1600" dirty="0"/>
              <a:t>				начальник отдела научных исследований </a:t>
            </a:r>
          </a:p>
          <a:p>
            <a:r>
              <a:rPr lang="ru-RU" sz="1600" dirty="0"/>
              <a:t>				и защиты интеллектуальной собственности</a:t>
            </a:r>
          </a:p>
          <a:p>
            <a:endParaRPr lang="ru-RU" sz="1600" b="0" dirty="0"/>
          </a:p>
          <a:p>
            <a:r>
              <a:rPr lang="ru-RU" sz="1600" b="0" dirty="0"/>
              <a:t>Жуков Александр Николаевич	</a:t>
            </a:r>
            <a:r>
              <a:rPr lang="ru-RU" sz="1600" dirty="0"/>
              <a:t>АО «НИИМА «Прогресс», </a:t>
            </a:r>
          </a:p>
          <a:p>
            <a:r>
              <a:rPr lang="ru-RU" sz="1600" dirty="0"/>
              <a:t>				заместитель директора дизайн-центра по ПАК</a:t>
            </a:r>
          </a:p>
          <a:p>
            <a:endParaRPr lang="ru-RU" sz="1600" b="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8D7F8CC-8F6E-4BA6-9C9E-7595244B5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1" y="378978"/>
            <a:ext cx="1700784" cy="61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984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 исследования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A1A82E-7D9E-4F57-878E-C899EAE9BE04}"/>
              </a:ext>
            </a:extLst>
          </p:cNvPr>
          <p:cNvSpPr txBox="1"/>
          <p:nvPr/>
        </p:nvSpPr>
        <p:spPr>
          <a:xfrm>
            <a:off x="959165" y="1626202"/>
            <a:ext cx="107566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800" b="1" dirty="0">
                <a:cs typeface="Times New Roman" panose="02020603050405020304" pitchFamily="18" charset="0"/>
              </a:rPr>
              <a:t>Целью</a:t>
            </a:r>
            <a:r>
              <a:rPr lang="ru-RU" sz="1800" dirty="0">
                <a:cs typeface="Times New Roman" panose="02020603050405020304" pitchFamily="18" charset="0"/>
              </a:rPr>
              <a:t> исследования является решение задачи многокритериальной оптимизации параметров системы передачи энергии лазерным лучом в инфракрасном диапазоне для повышения  коэффициента полезного действия (КПД)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DB5EDE-E9FF-4A0A-A77B-790966363049}"/>
              </a:ext>
            </a:extLst>
          </p:cNvPr>
          <p:cNvSpPr txBox="1"/>
          <p:nvPr/>
        </p:nvSpPr>
        <p:spPr>
          <a:xfrm>
            <a:off x="959165" y="2611447"/>
            <a:ext cx="26105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cs typeface="Times New Roman" panose="02020603050405020304" pitchFamily="18" charset="0"/>
              </a:rPr>
              <a:t>Задачи</a:t>
            </a:r>
            <a:r>
              <a:rPr lang="ru-RU" sz="2000" dirty="0">
                <a:cs typeface="Times New Roman" panose="02020603050405020304" pitchFamily="18" charset="0"/>
              </a:rPr>
              <a:t> исследования: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0B1DC0-48F3-44B0-89E0-27865551F663}"/>
              </a:ext>
            </a:extLst>
          </p:cNvPr>
          <p:cNvSpPr txBox="1"/>
          <p:nvPr/>
        </p:nvSpPr>
        <p:spPr>
          <a:xfrm>
            <a:off x="1353268" y="3069674"/>
            <a:ext cx="1390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1) </a:t>
            </a:r>
            <a:r>
              <a:rPr lang="ru-RU" dirty="0">
                <a:cs typeface="Times New Roman" panose="02020603050405020304" pitchFamily="18" charset="0"/>
              </a:rPr>
              <a:t>Проанализировать современные методы и принципы передачи энергии лазерным лучом</a:t>
            </a:r>
            <a:r>
              <a:rPr lang="en-US" dirty="0"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cs typeface="Times New Roman" panose="02020603050405020304" pitchFamily="18" charset="0"/>
              </a:rPr>
              <a:t>    </a:t>
            </a:r>
            <a:r>
              <a:rPr lang="ru-RU" dirty="0">
                <a:cs typeface="Times New Roman" panose="02020603050405020304" pitchFamily="18" charset="0"/>
              </a:rPr>
              <a:t>с учетом влияния атмосферных эффектов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B31E3F-DA11-485D-BADB-4248AC8F0FF8}"/>
              </a:ext>
            </a:extLst>
          </p:cNvPr>
          <p:cNvSpPr txBox="1"/>
          <p:nvPr/>
        </p:nvSpPr>
        <p:spPr>
          <a:xfrm>
            <a:off x="1353268" y="3682261"/>
            <a:ext cx="13903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2) </a:t>
            </a:r>
            <a:r>
              <a:rPr lang="ru-RU" dirty="0">
                <a:cs typeface="Times New Roman" panose="02020603050405020304" pitchFamily="18" charset="0"/>
              </a:rPr>
              <a:t>Провести анализ рынка систем лазерной передачи энергии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16FAD3-2BA8-4A4F-A1E3-DB4B0CB85C97}"/>
              </a:ext>
            </a:extLst>
          </p:cNvPr>
          <p:cNvSpPr txBox="1"/>
          <p:nvPr/>
        </p:nvSpPr>
        <p:spPr>
          <a:xfrm>
            <a:off x="1353268" y="4108797"/>
            <a:ext cx="13903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3) </a:t>
            </a:r>
            <a:r>
              <a:rPr lang="ru-RU" dirty="0">
                <a:cs typeface="Times New Roman" panose="02020603050405020304" pitchFamily="18" charset="0"/>
              </a:rPr>
              <a:t>Исследовать влияние внутренних параметров системы и внешних факторов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ru-RU" dirty="0">
                <a:cs typeface="Times New Roman" panose="02020603050405020304" pitchFamily="18" charset="0"/>
              </a:rPr>
              <a:t>на КПД и потери энергии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03718A-EF8C-4BFE-B779-59B9692E5108}"/>
              </a:ext>
            </a:extLst>
          </p:cNvPr>
          <p:cNvSpPr txBox="1"/>
          <p:nvPr/>
        </p:nvSpPr>
        <p:spPr>
          <a:xfrm>
            <a:off x="1353268" y="4515457"/>
            <a:ext cx="1390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cs typeface="Times New Roman" panose="02020603050405020304" pitchFamily="18" charset="0"/>
              </a:rPr>
              <a:t>4) Решить задачу многокритериальной оптимизации, включающую целевые функции </a:t>
            </a:r>
          </a:p>
          <a:p>
            <a:r>
              <a:rPr lang="ru-RU" dirty="0">
                <a:cs typeface="Times New Roman" panose="02020603050405020304" pitchFamily="18" charset="0"/>
              </a:rPr>
              <a:t>     для максимизации КПД и минимизации потерь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8B1549-645D-4220-AFC3-0444A83EBC36}"/>
              </a:ext>
            </a:extLst>
          </p:cNvPr>
          <p:cNvSpPr txBox="1"/>
          <p:nvPr/>
        </p:nvSpPr>
        <p:spPr>
          <a:xfrm>
            <a:off x="1353268" y="5111210"/>
            <a:ext cx="1390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cs typeface="Times New Roman" panose="02020603050405020304" pitchFamily="18" charset="0"/>
              </a:rPr>
              <a:t>5) Провести численное моделирование для получения набора Парето-оптимальных решений, </a:t>
            </a:r>
          </a:p>
          <a:p>
            <a:r>
              <a:rPr lang="ru-RU" dirty="0">
                <a:cs typeface="Times New Roman" panose="02020603050405020304" pitchFamily="18" charset="0"/>
              </a:rPr>
              <a:t>     определяющих компромисс между максимизацией КПД и минимизацией потерь</a:t>
            </a:r>
          </a:p>
        </p:txBody>
      </p:sp>
    </p:spTree>
    <p:extLst>
      <p:ext uri="{BB962C8B-B14F-4D97-AF65-F5344CB8AC3E}">
        <p14:creationId xmlns:p14="http://schemas.microsoft.com/office/powerpoint/2010/main" val="4137105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темы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717529-381B-421C-B805-9F90E3B2FA92}"/>
              </a:ext>
            </a:extLst>
          </p:cNvPr>
          <p:cNvSpPr txBox="1"/>
          <p:nvPr/>
        </p:nvSpPr>
        <p:spPr>
          <a:xfrm>
            <a:off x="981497" y="2159954"/>
            <a:ext cx="1070948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cs typeface="Times New Roman" panose="02020603050405020304" pitchFamily="18" charset="0"/>
              </a:rPr>
              <a:t>Актуальность исследования обусловлена возрастающей потребностью в эффективных и автономных источниках</a:t>
            </a:r>
          </a:p>
          <a:p>
            <a:pPr algn="just"/>
            <a:r>
              <a:rPr lang="ru-RU" dirty="0">
                <a:cs typeface="Times New Roman" panose="02020603050405020304" pitchFamily="18" charset="0"/>
              </a:rPr>
              <a:t>энергии для авиационных систем, где традиционные методы автономного питания часто ограничены</a:t>
            </a:r>
          </a:p>
          <a:p>
            <a:pPr algn="just"/>
            <a:r>
              <a:rPr lang="ru-RU" dirty="0">
                <a:cs typeface="Times New Roman" panose="02020603050405020304" pitchFamily="18" charset="0"/>
              </a:rPr>
              <a:t>по весу, объёму или эксплуатационным ресурсам.</a:t>
            </a:r>
          </a:p>
          <a:p>
            <a:pPr algn="just"/>
            <a:r>
              <a:rPr lang="ru-RU" dirty="0">
                <a:cs typeface="Times New Roman" panose="02020603050405020304" pitchFamily="18" charset="0"/>
              </a:rPr>
              <a:t>Особый интерес вызывает возможность беспроводной лазерной</a:t>
            </a:r>
          </a:p>
          <a:p>
            <a:pPr algn="just"/>
            <a:r>
              <a:rPr lang="ru-RU" dirty="0">
                <a:cs typeface="Times New Roman" panose="02020603050405020304" pitchFamily="18" charset="0"/>
              </a:rPr>
              <a:t>передачи энергии, которая обеспечивает возможность питания беспилотных летательных аппаратов, </a:t>
            </a:r>
          </a:p>
          <a:p>
            <a:pPr algn="just"/>
            <a:r>
              <a:rPr lang="ru-RU" dirty="0">
                <a:cs typeface="Times New Roman" panose="02020603050405020304" pitchFamily="18" charset="0"/>
              </a:rPr>
              <a:t>спутников на больших расстояниях, что критически важно для повышения </a:t>
            </a:r>
          </a:p>
          <a:p>
            <a:pPr algn="just"/>
            <a:r>
              <a:rPr lang="ru-RU" dirty="0">
                <a:cs typeface="Times New Roman" panose="02020603050405020304" pitchFamily="18" charset="0"/>
              </a:rPr>
              <a:t>мобильности и автономности современной авиации. </a:t>
            </a:r>
          </a:p>
        </p:txBody>
      </p:sp>
    </p:spTree>
    <p:extLst>
      <p:ext uri="{BB962C8B-B14F-4D97-AF65-F5344CB8AC3E}">
        <p14:creationId xmlns:p14="http://schemas.microsoft.com/office/powerpoint/2010/main" val="434489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передачи энергии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4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B1A5CB0-4376-4F22-83A9-0378A4013F3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02" y="1351816"/>
            <a:ext cx="5375275" cy="2277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2" descr="Picture background">
            <a:extLst>
              <a:ext uri="{FF2B5EF4-FFF2-40B4-BE49-F238E27FC236}">
                <a16:creationId xmlns:a16="http://schemas.microsoft.com/office/drawing/2014/main" id="{8E7E6E0F-BEB5-46E8-9B01-ACFF2789AC1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7302" y="1351816"/>
            <a:ext cx="5375276" cy="251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85FFC53-8423-41B9-A9EA-C0C416C647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7467" y="3864758"/>
            <a:ext cx="3350589" cy="2512942"/>
          </a:xfrm>
          <a:prstGeom prst="rect">
            <a:avLst/>
          </a:prstGeom>
        </p:spPr>
      </p:pic>
      <p:pic>
        <p:nvPicPr>
          <p:cNvPr id="7" name="Picture 4" descr="Picture background">
            <a:extLst>
              <a:ext uri="{FF2B5EF4-FFF2-40B4-BE49-F238E27FC236}">
                <a16:creationId xmlns:a16="http://schemas.microsoft.com/office/drawing/2014/main" id="{9407C35D-A07E-4B9C-90C6-A2FED380C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839" y="4177174"/>
            <a:ext cx="6023068" cy="1847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6420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виды рассеяния излучения в атмосфере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5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2FE2EFD-7122-4E01-B64D-598F8DD279B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945" y="1515535"/>
            <a:ext cx="6064110" cy="40495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9904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Коэффициенты поглощения для разных длин волн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6</a:t>
            </a:r>
            <a:endParaRPr lang="ru-RU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DEB3497-79E2-4376-8E97-4E682E9F2B24}"/>
              </a:ext>
            </a:extLst>
          </p:cNvPr>
          <p:cNvGrpSpPr/>
          <p:nvPr/>
        </p:nvGrpSpPr>
        <p:grpSpPr>
          <a:xfrm>
            <a:off x="3172916" y="1039400"/>
            <a:ext cx="5846168" cy="5174454"/>
            <a:chOff x="1813217" y="1679839"/>
            <a:chExt cx="6697010" cy="5927536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063E5717-56F5-4057-A4BD-979B8810F3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19770" y="1679839"/>
              <a:ext cx="6268325" cy="1152686"/>
            </a:xfrm>
            <a:prstGeom prst="rect">
              <a:avLst/>
            </a:prstGeom>
          </p:spPr>
        </p:pic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5A22B4C5-7D53-4230-8A05-8E3DF0B77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13217" y="2748947"/>
              <a:ext cx="6697010" cy="48584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4645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Атмосферные профили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7</a:t>
            </a: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50E6958-A1EA-440D-82FA-5C5F8D48498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836" y="977256"/>
            <a:ext cx="3833411" cy="2619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9D6E245-8574-4A58-80B5-779BBB77614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80300"/>
            <a:ext cx="3722322" cy="2566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143E26E-229E-4F1D-BB79-ED5D38E82570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886" y="3596867"/>
            <a:ext cx="3703361" cy="2553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557D798-8F89-42D0-BA7B-B7BDEA3EDA82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313" y="3118070"/>
            <a:ext cx="3295696" cy="33839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7261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Расчет КПД, зависящего от угла падения луча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09D4AF-A7EF-4C2B-AA10-3A85E140058D}"/>
                  </a:ext>
                </a:extLst>
              </p:cNvPr>
              <p:cNvSpPr txBox="1"/>
              <p:nvPr/>
            </p:nvSpPr>
            <p:spPr>
              <a:xfrm>
                <a:off x="1346507" y="1695906"/>
                <a:ext cx="60976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80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𝐼</m:t>
                    </m:r>
                    <m:d>
                      <m:d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𝜃</m:t>
                        </m:r>
                      </m:e>
                    </m:d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lang="ru-RU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𝐼</m:t>
                        </m:r>
                      </m:e>
                      <m:sub>
                        <m:r>
                          <a:rPr lang="ru-RU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∗</m:t>
                    </m:r>
                    <m:r>
                      <m:rPr>
                        <m:sty m:val="p"/>
                      </m:rPr>
                      <a:rPr lang="ru-RU" sz="18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cos</m:t>
                    </m:r>
                    <m:r>
                      <a:rPr lang="ru-RU" sz="18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⁡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𝜃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:endParaRPr lang="ru-R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09D4AF-A7EF-4C2B-AA10-3A85E1400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507" y="1695906"/>
                <a:ext cx="6097656" cy="369332"/>
              </a:xfrm>
              <a:prstGeom prst="rect">
                <a:avLst/>
              </a:prstGeom>
              <a:blipFill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96C02A1-8A18-47F0-8DD0-3C69358A5260}"/>
              </a:ext>
            </a:extLst>
          </p:cNvPr>
          <p:cNvSpPr txBox="1"/>
          <p:nvPr/>
        </p:nvSpPr>
        <p:spPr>
          <a:xfrm>
            <a:off x="949067" y="1309233"/>
            <a:ext cx="3026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Закон излучения Ламберта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92BA15E-0843-4BD3-AA7B-8A60440546E5}"/>
                  </a:ext>
                </a:extLst>
              </p:cNvPr>
              <p:cNvSpPr txBox="1"/>
              <p:nvPr/>
            </p:nvSpPr>
            <p:spPr>
              <a:xfrm>
                <a:off x="1346507" y="2530288"/>
                <a:ext cx="60976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80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𝐼</m:t>
                    </m:r>
                    <m:d>
                      <m:d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𝜃</m:t>
                        </m:r>
                      </m:e>
                    </m:d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lang="ru-RU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𝐼</m:t>
                        </m:r>
                      </m:e>
                      <m:sub>
                        <m:r>
                          <a:rPr lang="ru-RU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∗</m:t>
                    </m:r>
                    <m:func>
                      <m:func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 sz="18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US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∗(1−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𝑅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𝜃</m:t>
                        </m:r>
                      </m:e>
                    </m:d>
                    <m:r>
                      <a:rPr lang="en-US" sz="18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:endParaRPr lang="ru-RU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92BA15E-0843-4BD3-AA7B-8A6044054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507" y="2530288"/>
                <a:ext cx="6097656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4A7E7DB5-DA1E-4CC4-A2F3-90C8D7406310}"/>
              </a:ext>
            </a:extLst>
          </p:cNvPr>
          <p:cNvSpPr txBox="1"/>
          <p:nvPr/>
        </p:nvSpPr>
        <p:spPr>
          <a:xfrm>
            <a:off x="949067" y="2132156"/>
            <a:ext cx="5783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Выражение интенсивности с учетом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коэф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отражения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8CFD10-D52E-47B3-BD52-DE81682768A3}"/>
                  </a:ext>
                </a:extLst>
              </p:cNvPr>
              <p:cNvSpPr txBox="1"/>
              <p:nvPr/>
            </p:nvSpPr>
            <p:spPr>
              <a:xfrm>
                <a:off x="3484031" y="3429000"/>
                <a:ext cx="5037027" cy="2334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Используемые величины:</a:t>
                </a:r>
                <a:endParaRPr lang="en-US" sz="1600" b="1" i="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ru-RU" sz="16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𝐼</m:t>
                        </m:r>
                      </m:e>
                      <m:sub>
                        <m:r>
                          <a:rPr lang="ru-RU" sz="16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6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— интенсивность при нормальном падении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𝑅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коэффициент отражения Френеля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ru-RU" sz="1600" b="0" i="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Rs</a:t>
                </a:r>
                <a:r>
                  <a:rPr lang="ru-RU" sz="1600" b="0" i="1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</a:t>
                </a:r>
                <a:r>
                  <a:rPr lang="ru-RU" sz="16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ru-RU" sz="1600" b="0" i="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Rp</a:t>
                </a:r>
                <a:r>
                  <a:rPr lang="ru-RU" sz="1600" b="0" i="1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коэффициенты отражения для s- и p-поляризации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ru-RU" sz="16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угол между поляризацией и плоскостью падения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l-GR" sz="16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l-G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угол падения луча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ru-RU" sz="16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ru-RU" sz="1600" b="0" i="1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ru-RU" sz="16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ε0​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скорость света и электрическая постоянная</a:t>
                </a:r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bSup>
                      <m:sSubSupPr>
                        <m:ctrlPr>
                          <a:rPr lang="ru-RU" sz="16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160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/>
                    </m:sSubSup>
                    <m:r>
                      <a:rPr lang="ru-RU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af-ZA" sz="1600" b="0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</a:t>
                </a:r>
                <a:r>
                  <a:rPr lang="af-ZA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амплитуда поля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8CFD10-D52E-47B3-BD52-DE8168276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031" y="3429000"/>
                <a:ext cx="5037027" cy="2334998"/>
              </a:xfrm>
              <a:prstGeom prst="rect">
                <a:avLst/>
              </a:prstGeom>
              <a:blipFill>
                <a:blip r:embed="rId4"/>
                <a:stretch>
                  <a:fillRect l="-726" t="-783" r="-605" b="-23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Рамка 11">
            <a:extLst>
              <a:ext uri="{FF2B5EF4-FFF2-40B4-BE49-F238E27FC236}">
                <a16:creationId xmlns:a16="http://schemas.microsoft.com/office/drawing/2014/main" id="{E08B417F-F4E4-43F2-8FB2-7ABE615D814A}"/>
              </a:ext>
            </a:extLst>
          </p:cNvPr>
          <p:cNvSpPr/>
          <p:nvPr/>
        </p:nvSpPr>
        <p:spPr>
          <a:xfrm>
            <a:off x="3344987" y="3321032"/>
            <a:ext cx="5260533" cy="2590346"/>
          </a:xfrm>
          <a:prstGeom prst="frame">
            <a:avLst>
              <a:gd name="adj1" fmla="val 1730"/>
            </a:avLst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4187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Расчет КПД, зависящего от угла падения луча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29F2D68-5892-45F5-B3B9-30D7AF06C49B}"/>
                  </a:ext>
                </a:extLst>
              </p:cNvPr>
              <p:cNvSpPr txBox="1"/>
              <p:nvPr/>
            </p:nvSpPr>
            <p:spPr>
              <a:xfrm>
                <a:off x="1211586" y="4298212"/>
                <a:ext cx="6096000" cy="4834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Компонент уравнения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den>
                    </m:f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𝑐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𝜀</m:t>
                        </m:r>
                      </m:e>
                      <m:sub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sSubSup>
                      <m:sSub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𝐸</m:t>
                        </m:r>
                      </m:e>
                      <m:sub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  <m:sup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ru-RU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 равен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𝐼</m:t>
                        </m:r>
                      </m:e>
                      <m:sub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29F2D68-5892-45F5-B3B9-30D7AF06C4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586" y="4298212"/>
                <a:ext cx="6096000" cy="483466"/>
              </a:xfrm>
              <a:prstGeom prst="rect">
                <a:avLst/>
              </a:prstGeom>
              <a:blipFill>
                <a:blip r:embed="rId2"/>
                <a:stretch>
                  <a:fillRect l="-900" b="-75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0BED827-6FE8-4B5C-AD59-BC0D8656DC7E}"/>
              </a:ext>
            </a:extLst>
          </p:cNvPr>
          <p:cNvSpPr txBox="1"/>
          <p:nvPr/>
        </p:nvSpPr>
        <p:spPr>
          <a:xfrm>
            <a:off x="1211586" y="4873459"/>
            <a:ext cx="5561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Откуда следует, что формула для КПД будет иметь вид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880C061-B1EB-4C26-8ABF-BD77F6D1D930}"/>
                  </a:ext>
                </a:extLst>
              </p:cNvPr>
              <p:cNvSpPr txBox="1"/>
              <p:nvPr/>
            </p:nvSpPr>
            <p:spPr>
              <a:xfrm>
                <a:off x="1121787" y="5585854"/>
                <a:ext cx="6096000" cy="506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𝜂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𝜃</m:t>
                      </m:r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  <m:func>
                            <m:func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  <m:func>
                            <m:func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880C061-B1EB-4C26-8ABF-BD77F6D1D9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787" y="5585854"/>
                <a:ext cx="6096000" cy="5068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Рамка 22">
            <a:extLst>
              <a:ext uri="{FF2B5EF4-FFF2-40B4-BE49-F238E27FC236}">
                <a16:creationId xmlns:a16="http://schemas.microsoft.com/office/drawing/2014/main" id="{2DC7CFD6-6FBF-4594-8656-98C3CC687AE9}"/>
              </a:ext>
            </a:extLst>
          </p:cNvPr>
          <p:cNvSpPr/>
          <p:nvPr/>
        </p:nvSpPr>
        <p:spPr>
          <a:xfrm>
            <a:off x="1158649" y="5395321"/>
            <a:ext cx="6022276" cy="887935"/>
          </a:xfrm>
          <a:prstGeom prst="frame">
            <a:avLst>
              <a:gd name="adj1" fmla="val 3626"/>
            </a:avLst>
          </a:prstGeom>
          <a:solidFill>
            <a:srgbClr val="4447BB"/>
          </a:solidFill>
          <a:ln>
            <a:solidFill>
              <a:srgbClr val="4447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B32899E-9B4D-4E26-8CD7-C38435382C4F}"/>
              </a:ext>
            </a:extLst>
          </p:cNvPr>
          <p:cNvSpPr txBox="1"/>
          <p:nvPr/>
        </p:nvSpPr>
        <p:spPr>
          <a:xfrm>
            <a:off x="1121787" y="1129913"/>
            <a:ext cx="5589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Разложение излучения на компоненты поляризаций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E1614EF-3659-4111-BC72-E1FB69BF810D}"/>
                  </a:ext>
                </a:extLst>
              </p:cNvPr>
              <p:cNvSpPr txBox="1"/>
              <p:nvPr/>
            </p:nvSpPr>
            <p:spPr>
              <a:xfrm>
                <a:off x="1477738" y="1690508"/>
                <a:ext cx="7608404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i="1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d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r>
                        <a:rPr lang="ru-RU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, где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E1614EF-3659-4111-BC72-E1FB69BF8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738" y="1690508"/>
                <a:ext cx="7608404" cy="610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C8518E4-9F15-4FA7-B420-860A7AD42213}"/>
                  </a:ext>
                </a:extLst>
              </p:cNvPr>
              <p:cNvSpPr txBox="1"/>
              <p:nvPr/>
            </p:nvSpPr>
            <p:spPr>
              <a:xfrm>
                <a:off x="1477738" y="2437653"/>
                <a:ext cx="7608404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i="1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r>
                        <a:rPr lang="ru-RU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, где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C8518E4-9F15-4FA7-B420-860A7AD42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738" y="2437653"/>
                <a:ext cx="7608404" cy="6109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FBD8D6BA-735F-4DEB-B095-3D2258493055}"/>
              </a:ext>
            </a:extLst>
          </p:cNvPr>
          <p:cNvSpPr txBox="1"/>
          <p:nvPr/>
        </p:nvSpPr>
        <p:spPr>
          <a:xfrm>
            <a:off x="1736053" y="1817867"/>
            <a:ext cx="16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компонента: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A444157-07F2-4E25-98FD-5852CE7975DC}"/>
              </a:ext>
            </a:extLst>
          </p:cNvPr>
          <p:cNvSpPr txBox="1"/>
          <p:nvPr/>
        </p:nvSpPr>
        <p:spPr>
          <a:xfrm>
            <a:off x="1736052" y="2538060"/>
            <a:ext cx="16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компонента:</a:t>
            </a:r>
          </a:p>
        </p:txBody>
      </p:sp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B7ED32DB-D575-4F39-B3CB-C8EFACBA6F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7067" y="1496370"/>
            <a:ext cx="3374340" cy="1084997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16303066-267E-4A12-8534-F376D583E8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1490" y="2389520"/>
            <a:ext cx="3131125" cy="7460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70FD2B9-0058-425D-A2F0-51DA5DA0005E}"/>
                  </a:ext>
                </a:extLst>
              </p:cNvPr>
              <p:cNvSpPr txBox="1"/>
              <p:nvPr/>
            </p:nvSpPr>
            <p:spPr>
              <a:xfrm>
                <a:off x="766894" y="3267600"/>
                <a:ext cx="9625721" cy="8879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</a:t>
                </a: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Тогда</a:t>
                </a: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i="1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Sup>
                        <m:sSub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ru-RU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𝜃</m:t>
                      </m:r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70FD2B9-0058-425D-A2F0-51DA5DA00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94" y="3267600"/>
                <a:ext cx="9625721" cy="887935"/>
              </a:xfrm>
              <a:prstGeom prst="rect">
                <a:avLst/>
              </a:prstGeom>
              <a:blipFill>
                <a:blip r:embed="rId8"/>
                <a:stretch>
                  <a:fillRect t="-34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5575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Расчет КПД, зависящего от смещения луча от центра фотоприемника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10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F6C3E0A-A7C9-4354-B3E1-2445955C199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9589" y="1239225"/>
            <a:ext cx="7372822" cy="209024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27E7A0-A3F7-4262-8204-7BD1CFB1623E}"/>
                  </a:ext>
                </a:extLst>
              </p:cNvPr>
              <p:cNvSpPr txBox="1"/>
              <p:nvPr/>
            </p:nvSpPr>
            <p:spPr>
              <a:xfrm>
                <a:off x="2058284" y="3721911"/>
                <a:ext cx="8075432" cy="1274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b="1" dirty="0">
                    <a:latin typeface="Cambria Math" panose="02040503050406030204" pitchFamily="18" charset="0"/>
                  </a:rPr>
                  <a:t>Интенсивность пучка с учетом </a:t>
                </a:r>
                <a:r>
                  <a:rPr lang="ru-RU" b="1" dirty="0" err="1">
                    <a:latin typeface="Cambria Math" panose="02040503050406030204" pitchFamily="18" charset="0"/>
                  </a:rPr>
                  <a:t>гауссового</a:t>
                </a:r>
                <a:r>
                  <a:rPr lang="ru-RU" b="1" dirty="0">
                    <a:latin typeface="Cambria Math" panose="02040503050406030204" pitchFamily="18" charset="0"/>
                  </a:rPr>
                  <a:t> распределения интенсивности</a:t>
                </a:r>
              </a:p>
              <a:p>
                <a:endParaRPr lang="ru-RU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ru-RU" i="0">
                          <a:latin typeface="Cambria Math" panose="02040503050406030204" pitchFamily="18" charset="0"/>
                        </a:rPr>
                        <m:t>ex</m:t>
                      </m:r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p</m:t>
                          </m:r>
                        </m:fName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p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p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27E7A0-A3F7-4262-8204-7BD1CFB16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8284" y="3721911"/>
                <a:ext cx="8075432" cy="1274323"/>
              </a:xfrm>
              <a:prstGeom prst="rect">
                <a:avLst/>
              </a:prstGeom>
              <a:blipFill>
                <a:blip r:embed="rId3"/>
                <a:stretch>
                  <a:fillRect l="-680" t="-33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8BCB32E-993F-4535-AB6D-98220C7C7B5E}"/>
                  </a:ext>
                </a:extLst>
              </p:cNvPr>
              <p:cNvSpPr txBox="1"/>
              <p:nvPr/>
            </p:nvSpPr>
            <p:spPr>
              <a:xfrm>
                <a:off x="1063487" y="5388679"/>
                <a:ext cx="7014849" cy="656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Формула радиуса пучка на расстоянии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ru-RU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ru-RU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ru-RU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ru-RU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ru-RU" i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ru-RU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ru-RU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ru-RU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ru-RU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ru-RU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8BCB32E-993F-4535-AB6D-98220C7C7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487" y="5388679"/>
                <a:ext cx="7014849" cy="656013"/>
              </a:xfrm>
              <a:prstGeom prst="rect">
                <a:avLst/>
              </a:prstGeom>
              <a:blipFill>
                <a:blip r:embed="rId4"/>
                <a:stretch>
                  <a:fillRect l="-695" r="-7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51671F-64C0-49F6-BE2E-DFB2931DE925}"/>
                  </a:ext>
                </a:extLst>
              </p:cNvPr>
              <p:cNvSpPr txBox="1"/>
              <p:nvPr/>
            </p:nvSpPr>
            <p:spPr>
              <a:xfrm>
                <a:off x="7982384" y="5451452"/>
                <a:ext cx="3317185" cy="5304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ru-RU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𝜋</m:t>
                        </m:r>
                        <m:sSubSup>
                          <m:sSubSupPr>
                            <m:ctrlPr>
                              <a:rPr lang="ru-RU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ru-RU" i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ru-RU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r>
                  <a:rPr lang="ru-RU" dirty="0"/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рэлеевская длина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51671F-64C0-49F6-BE2E-DFB2931DE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2384" y="5451452"/>
                <a:ext cx="3317185" cy="530466"/>
              </a:xfrm>
              <a:prstGeom prst="rect">
                <a:avLst/>
              </a:prstGeom>
              <a:blipFill>
                <a:blip r:embed="rId5"/>
                <a:stretch>
                  <a:fillRect b="-57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7587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Расположение систем координат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11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B32D66A-9667-4DF3-9DA7-42F138BA624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5513" y="1170528"/>
            <a:ext cx="7051040" cy="404685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702447-8895-4000-964C-6AD086C83A7B}"/>
                  </a:ext>
                </a:extLst>
              </p:cNvPr>
              <p:cNvSpPr txBox="1"/>
              <p:nvPr/>
            </p:nvSpPr>
            <p:spPr>
              <a:xfrm>
                <a:off x="6384870" y="1666111"/>
                <a:ext cx="6097656" cy="7273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ru-RU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p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702447-8895-4000-964C-6AD086C83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870" y="1666111"/>
                <a:ext cx="6097656" cy="7273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397741-1BFC-43FE-92A7-C60C66442A51}"/>
                  </a:ext>
                </a:extLst>
              </p:cNvPr>
              <p:cNvSpPr txBox="1"/>
              <p:nvPr/>
            </p:nvSpPr>
            <p:spPr>
              <a:xfrm>
                <a:off x="5472955" y="3831646"/>
                <a:ext cx="6097656" cy="8175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ru-RU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nary>
                                <m:naryPr>
                                  <m:subHide m:val="on"/>
                                  <m:supHide m:val="on"/>
                                  <m:ctrlPr>
                                    <a:rPr lang="ru-RU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ru-RU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  <m:d>
                                    <m:dPr>
                                      <m:sepChr m:val=","/>
                                      <m:ctrlPr>
                                        <a:rPr lang="ru-RU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ru-RU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  <m:r>
                                    <a:rPr lang="ru-RU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𝑑𝑥𝑑𝑦</m:t>
                                  </m:r>
                                </m:e>
                              </m:nary>
                            </m:e>
                          </m:nary>
                        </m:num>
                        <m:den>
                          <m:nary>
                            <m:naryPr>
                              <m:chr m:val="∬"/>
                              <m:limLoc m:val="subSup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−∞</m:t>
                              </m:r>
                            </m:sub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+∞</m:t>
                              </m:r>
                            </m:sup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𝑑𝑥𝑑𝑦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397741-1BFC-43FE-92A7-C60C66442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955" y="3831646"/>
                <a:ext cx="6097656" cy="8175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CC9F824-0B64-4FB7-90F1-189CC6AB605A}"/>
              </a:ext>
            </a:extLst>
          </p:cNvPr>
          <p:cNvSpPr txBox="1"/>
          <p:nvPr/>
        </p:nvSpPr>
        <p:spPr>
          <a:xfrm>
            <a:off x="5996419" y="1130662"/>
            <a:ext cx="60713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интенсивности в декартовой системе координат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EE5DBB-3A38-4884-B0E9-9484F5FF5A8E}"/>
              </a:ext>
            </a:extLst>
          </p:cNvPr>
          <p:cNvSpPr txBox="1"/>
          <p:nvPr/>
        </p:nvSpPr>
        <p:spPr>
          <a:xfrm>
            <a:off x="5472955" y="3136612"/>
            <a:ext cx="74444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КПД как отношение интеграла интенсивности по площади матрицы фотоприемников к полной мощности пучка</a:t>
            </a:r>
            <a:endParaRPr lang="ru-RU" sz="1600" b="1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E593983-96DC-4C6D-9558-E52696AF85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2861" y="5647139"/>
            <a:ext cx="5763429" cy="84784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909B3FD-0CF9-4C8A-A0A1-0F4B5609D5E5}"/>
              </a:ext>
            </a:extLst>
          </p:cNvPr>
          <p:cNvSpPr txBox="1"/>
          <p:nvPr/>
        </p:nvSpPr>
        <p:spPr>
          <a:xfrm>
            <a:off x="1570383" y="5279990"/>
            <a:ext cx="4232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Интеграл в числителе представим как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1D4A548-E9D8-42EA-888E-1DA03E2FC8B1}"/>
                  </a:ext>
                </a:extLst>
              </p:cNvPr>
              <p:cNvSpPr txBox="1"/>
              <p:nvPr/>
            </p:nvSpPr>
            <p:spPr>
              <a:xfrm>
                <a:off x="6141360" y="5549009"/>
                <a:ext cx="6460434" cy="7103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subSup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𝑑𝑥𝑑𝑦</m:t>
                          </m:r>
                        </m:e>
                      </m:nary>
                      <m:r>
                        <a:rPr lang="ru-RU" i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1D4A548-E9D8-42EA-888E-1DA03E2FC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360" y="5549009"/>
                <a:ext cx="6460434" cy="7103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4DC1ECD1-EAA3-41FA-80FB-6E6B8444C2BC}"/>
              </a:ext>
            </a:extLst>
          </p:cNvPr>
          <p:cNvSpPr txBox="1"/>
          <p:nvPr/>
        </p:nvSpPr>
        <p:spPr>
          <a:xfrm>
            <a:off x="7668475" y="5217383"/>
            <a:ext cx="2320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в знаменателе как</a:t>
            </a:r>
          </a:p>
        </p:txBody>
      </p:sp>
    </p:spTree>
    <p:extLst>
      <p:ext uri="{BB962C8B-B14F-4D97-AF65-F5344CB8AC3E}">
        <p14:creationId xmlns:p14="http://schemas.microsoft.com/office/powerpoint/2010/main" val="2719273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Классический вид уравнения КПД с описанием функций ошибок </a:t>
            </a:r>
            <a:r>
              <a:rPr lang="en-US" dirty="0"/>
              <a:t>erf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A67F7E-12E2-4B0E-9F2E-B720153B43CF}"/>
                  </a:ext>
                </a:extLst>
              </p:cNvPr>
              <p:cNvSpPr txBox="1"/>
              <p:nvPr/>
            </p:nvSpPr>
            <p:spPr>
              <a:xfrm>
                <a:off x="1548019" y="1634311"/>
                <a:ext cx="7198416" cy="9021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матрица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nary>
                        <m:naryPr>
                          <m:limLoc m:val="subSup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  <m:sup>
                          <m:f>
                            <m:f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ex</m:t>
                          </m:r>
                          <m:func>
                            <m:func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RU" i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p>
                                        <m:sSup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ru-RU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ru-RU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ru-RU" i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p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nary>
                        <m:naryPr>
                          <m:limLoc m:val="subSup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num>
                            <m:den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  <m:sup>
                          <m:f>
                            <m:f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num>
                            <m:den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ex</m:t>
                          </m:r>
                          <m:func>
                            <m:func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ru-RU" i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p>
                                        <m:sSup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ru-RU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ru-RU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ru-RU" i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p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𝑑𝑦</m:t>
                          </m:r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A67F7E-12E2-4B0E-9F2E-B720153B4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019" y="1634311"/>
                <a:ext cx="7198416" cy="9021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B331D4A-B53B-4C17-AE02-8E169F20B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019" y="2826890"/>
            <a:ext cx="6296904" cy="8287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5BF5DF-0324-4170-A5F1-C4127D8AD2EA}"/>
              </a:ext>
            </a:extLst>
          </p:cNvPr>
          <p:cNvSpPr txBox="1"/>
          <p:nvPr/>
        </p:nvSpPr>
        <p:spPr>
          <a:xfrm>
            <a:off x="1361660" y="3063525"/>
            <a:ext cx="944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X: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08B4A2-8512-42E3-BC71-6297EF9DA509}"/>
              </a:ext>
            </a:extLst>
          </p:cNvPr>
          <p:cNvSpPr txBox="1"/>
          <p:nvPr/>
        </p:nvSpPr>
        <p:spPr>
          <a:xfrm>
            <a:off x="1361660" y="4182789"/>
            <a:ext cx="944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  <a:r>
              <a:rPr lang="ru-RU" dirty="0"/>
              <a:t>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6DDE7A9-29FF-4C17-86C9-C3AA26CF9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7106" y="3959965"/>
            <a:ext cx="6277851" cy="74305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7A2DA05-0187-4160-990C-24BB090090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997" y="4937880"/>
            <a:ext cx="8400049" cy="945343"/>
          </a:xfrm>
          <a:prstGeom prst="rect">
            <a:avLst/>
          </a:prstGeom>
        </p:spPr>
      </p:pic>
      <p:sp>
        <p:nvSpPr>
          <p:cNvPr id="10" name="Рамка 9">
            <a:extLst>
              <a:ext uri="{FF2B5EF4-FFF2-40B4-BE49-F238E27FC236}">
                <a16:creationId xmlns:a16="http://schemas.microsoft.com/office/drawing/2014/main" id="{A74B8A98-72CA-47B2-8C44-8CEFD9BFE2EA}"/>
              </a:ext>
            </a:extLst>
          </p:cNvPr>
          <p:cNvSpPr/>
          <p:nvPr/>
        </p:nvSpPr>
        <p:spPr>
          <a:xfrm>
            <a:off x="1224997" y="4925843"/>
            <a:ext cx="8634620" cy="1115388"/>
          </a:xfrm>
          <a:prstGeom prst="frame">
            <a:avLst>
              <a:gd name="adj1" fmla="val 3626"/>
            </a:avLst>
          </a:prstGeom>
          <a:solidFill>
            <a:srgbClr val="4447BB"/>
          </a:solidFill>
          <a:ln>
            <a:solidFill>
              <a:srgbClr val="4447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495E44-43DC-493F-8536-0DD32B48C415}"/>
              </a:ext>
            </a:extLst>
          </p:cNvPr>
          <p:cNvSpPr txBox="1"/>
          <p:nvPr/>
        </p:nvSpPr>
        <p:spPr>
          <a:xfrm>
            <a:off x="1131219" y="1197176"/>
            <a:ext cx="3632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выноса констант получим</a:t>
            </a:r>
          </a:p>
        </p:txBody>
      </p:sp>
    </p:spTree>
    <p:extLst>
      <p:ext uri="{BB962C8B-B14F-4D97-AF65-F5344CB8AC3E}">
        <p14:creationId xmlns:p14="http://schemas.microsoft.com/office/powerpoint/2010/main" val="1473041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 матрицы поворота </a:t>
            </a:r>
            <a:r>
              <a:rPr lang="en-US" dirty="0"/>
              <a:t>R </a:t>
            </a:r>
            <a:r>
              <a:rPr lang="ru-RU" dirty="0"/>
              <a:t>в уравнение КПД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3D44738-2802-4B7E-8E16-958794FF39E6}"/>
                  </a:ext>
                </a:extLst>
              </p:cNvPr>
              <p:cNvSpPr txBox="1"/>
              <p:nvPr/>
            </p:nvSpPr>
            <p:spPr>
              <a:xfrm>
                <a:off x="532452" y="1763708"/>
                <a:ext cx="6097656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3D44738-2802-4B7E-8E16-958794FF3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452" y="1763708"/>
                <a:ext cx="6097656" cy="391261"/>
              </a:xfrm>
              <a:prstGeom prst="rect">
                <a:avLst/>
              </a:prstGeom>
              <a:blipFill>
                <a:blip r:embed="rId2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48A903-9A8F-4487-9D6E-C50D643A25AC}"/>
                  </a:ext>
                </a:extLst>
              </p:cNvPr>
              <p:cNvSpPr txBox="1"/>
              <p:nvPr/>
            </p:nvSpPr>
            <p:spPr>
              <a:xfrm>
                <a:off x="6621908" y="2528623"/>
                <a:ext cx="6202016" cy="984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48A903-9A8F-4487-9D6E-C50D643A25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1908" y="2528623"/>
                <a:ext cx="6202016" cy="9840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A749CE3-0040-4589-A59F-2172DF5BDE8D}"/>
                  </a:ext>
                </a:extLst>
              </p:cNvPr>
              <p:cNvSpPr txBox="1"/>
              <p:nvPr/>
            </p:nvSpPr>
            <p:spPr>
              <a:xfrm>
                <a:off x="-737233" y="2618262"/>
                <a:ext cx="6202016" cy="8249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A749CE3-0040-4589-A59F-2172DF5BD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37233" y="2618262"/>
                <a:ext cx="6202016" cy="8249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29911F-FFB4-41DF-9B27-6B2CAD33E5A1}"/>
                  </a:ext>
                </a:extLst>
              </p:cNvPr>
              <p:cNvSpPr txBox="1"/>
              <p:nvPr/>
            </p:nvSpPr>
            <p:spPr>
              <a:xfrm>
                <a:off x="2747421" y="2536684"/>
                <a:ext cx="6202016" cy="984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29911F-FFB4-41DF-9B27-6B2CAD33E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7421" y="2536684"/>
                <a:ext cx="6202016" cy="9840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7D13AA0-3CE5-4C87-99E5-E298CD0D9838}"/>
                  </a:ext>
                </a:extLst>
              </p:cNvPr>
              <p:cNvSpPr txBox="1"/>
              <p:nvPr/>
            </p:nvSpPr>
            <p:spPr>
              <a:xfrm>
                <a:off x="1662499" y="4308848"/>
                <a:ext cx="9096789" cy="984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7D13AA0-3CE5-4C87-99E5-E298CD0D9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499" y="4308848"/>
                <a:ext cx="9096789" cy="9840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8AAD21F-DD16-469F-B6B9-EEC95F7DF950}"/>
              </a:ext>
            </a:extLst>
          </p:cNvPr>
          <p:cNvSpPr txBox="1"/>
          <p:nvPr/>
        </p:nvSpPr>
        <p:spPr>
          <a:xfrm>
            <a:off x="1570383" y="1365554"/>
            <a:ext cx="4141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Выражение общей матрицы поворота</a:t>
            </a:r>
          </a:p>
        </p:txBody>
      </p:sp>
    </p:spTree>
    <p:extLst>
      <p:ext uri="{BB962C8B-B14F-4D97-AF65-F5344CB8AC3E}">
        <p14:creationId xmlns:p14="http://schemas.microsoft.com/office/powerpoint/2010/main" val="2485330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 матрицы поворота </a:t>
            </a:r>
            <a:r>
              <a:rPr lang="en-US" dirty="0"/>
              <a:t>R </a:t>
            </a:r>
            <a:r>
              <a:rPr lang="ru-RU" dirty="0"/>
              <a:t>в уравнение КПД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14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1F08BB-A81E-4808-B0E3-9D52765917FA}"/>
                  </a:ext>
                </a:extLst>
              </p:cNvPr>
              <p:cNvSpPr txBox="1"/>
              <p:nvPr/>
            </p:nvSpPr>
            <p:spPr>
              <a:xfrm>
                <a:off x="1351721" y="1542410"/>
                <a:ext cx="60976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, 0</m:t>
                              </m:r>
                            </m:e>
                          </m:d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1F08BB-A81E-4808-B0E3-9D5276591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721" y="1542410"/>
                <a:ext cx="6097656" cy="369332"/>
              </a:xfrm>
              <a:prstGeom prst="rect">
                <a:avLst/>
              </a:prstGeom>
              <a:blipFill>
                <a:blip r:embed="rId2"/>
                <a:stretch>
                  <a:fillRect t="-22951" b="-65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28FB8CC-09A2-4C1C-893F-50D6631D5210}"/>
                  </a:ext>
                </a:extLst>
              </p:cNvPr>
              <p:cNvSpPr txBox="1"/>
              <p:nvPr/>
            </p:nvSpPr>
            <p:spPr>
              <a:xfrm>
                <a:off x="3201643" y="2936974"/>
                <a:ext cx="6221894" cy="984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acc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28FB8CC-09A2-4C1C-893F-50D6631D5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643" y="2936974"/>
                <a:ext cx="6221894" cy="9840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DD0BED-23CD-44B1-915D-4C133E2C8352}"/>
                  </a:ext>
                </a:extLst>
              </p:cNvPr>
              <p:cNvSpPr txBox="1"/>
              <p:nvPr/>
            </p:nvSpPr>
            <p:spPr>
              <a:xfrm>
                <a:off x="2684807" y="4847036"/>
                <a:ext cx="6221894" cy="763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ru-RU" i="0">
                          <a:latin typeface="Cambria Math" panose="02040503050406030204" pitchFamily="18" charset="0"/>
                        </a:rPr>
                        <m:t>ex</m:t>
                      </m:r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p</m:t>
                          </m:r>
                        </m:fName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sub>
                                          </m:sSub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sub>
                                          </m:sSub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p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DD0BED-23CD-44B1-915D-4C133E2C8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4807" y="4847036"/>
                <a:ext cx="6221894" cy="7638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82BA49F-7C4A-49C3-ADB1-05C99C604070}"/>
              </a:ext>
            </a:extLst>
          </p:cNvPr>
          <p:cNvSpPr txBox="1"/>
          <p:nvPr/>
        </p:nvSpPr>
        <p:spPr>
          <a:xfrm>
            <a:off x="1905826" y="1007172"/>
            <a:ext cx="6861727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Локальная система координат фотоприемника имеет вид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736298E-A650-4926-977F-DFE6679C7C41}"/>
                  </a:ext>
                </a:extLst>
              </p:cNvPr>
              <p:cNvSpPr txBox="1"/>
              <p:nvPr/>
            </p:nvSpPr>
            <p:spPr>
              <a:xfrm>
                <a:off x="4858270" y="1461522"/>
                <a:ext cx="6211956" cy="4580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457200" algn="just">
                  <a:lnSpc>
                    <a:spcPct val="150000"/>
                  </a:lnSpc>
                </a:pPr>
                <a:r>
                  <a:rPr lang="ru-RU" sz="1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где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p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p>
                    <m:r>
                      <a:rPr lang="ru-RU" sz="18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𝑎</m:t>
                        </m:r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, </m:t>
                        </m:r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, 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𝑦</m:t>
                    </m:r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′</m:t>
                    </m:r>
                    <m:r>
                      <a:rPr lang="ru-RU" sz="18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𝑏</m:t>
                        </m:r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, </m:t>
                        </m:r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736298E-A650-4926-977F-DFE6679C7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8270" y="1461522"/>
                <a:ext cx="6211956" cy="458074"/>
              </a:xfrm>
              <a:prstGeom prst="rect">
                <a:avLst/>
              </a:prstGeom>
              <a:blipFill>
                <a:blip r:embed="rId5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89F3F5D-4BCC-4839-B88C-86D0EAC46C66}"/>
                  </a:ext>
                </a:extLst>
              </p:cNvPr>
              <p:cNvSpPr txBox="1"/>
              <p:nvPr/>
            </p:nvSpPr>
            <p:spPr>
              <a:xfrm>
                <a:off x="949186" y="2453785"/>
                <a:ext cx="6211956" cy="4258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89F3F5D-4BCC-4839-B88C-86D0EAC46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186" y="2453785"/>
                <a:ext cx="6211956" cy="425822"/>
              </a:xfrm>
              <a:prstGeom prst="rect">
                <a:avLst/>
              </a:prstGeom>
              <a:blipFill>
                <a:blip r:embed="rId6"/>
                <a:stretch>
                  <a:fillRect t="-57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889BB4B6-FD5B-4580-9C74-B0361DAF53EA}"/>
              </a:ext>
            </a:extLst>
          </p:cNvPr>
          <p:cNvSpPr txBox="1"/>
          <p:nvPr/>
        </p:nvSpPr>
        <p:spPr>
          <a:xfrm>
            <a:off x="2368647" y="1996760"/>
            <a:ext cx="5307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Связь систем координат через матрицу поворота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8645DF9-0FD8-4F07-8147-588923A59C7F}"/>
                  </a:ext>
                </a:extLst>
              </p:cNvPr>
              <p:cNvSpPr txBox="1"/>
              <p:nvPr/>
            </p:nvSpPr>
            <p:spPr>
              <a:xfrm>
                <a:off x="1975399" y="4187549"/>
                <a:ext cx="5307735" cy="4576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indent="457200" algn="just">
                  <a:lnSpc>
                    <a:spcPct val="150000"/>
                  </a:lnSpc>
                </a:pPr>
                <a:r>
                  <a:rPr lang="ru-RU" sz="18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Calibri" panose="020F0502020204030204" pitchFamily="34" charset="0"/>
                  </a:rPr>
                  <a:t>Гауссов профиль с центром в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ru-RU" sz="1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sSup>
                      <m:sSupPr>
                        <m:ctrlP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ru-RU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ru-RU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ru-RU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ru-RU" sz="18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ru-RU" sz="1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,0</m:t>
                            </m:r>
                          </m:e>
                        </m:d>
                      </m:e>
                      <m:sup>
                        <m:r>
                          <a:rPr lang="ru-RU" sz="1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𝑇</m:t>
                        </m:r>
                      </m:sup>
                    </m:sSup>
                  </m:oMath>
                </a14:m>
                <a:endParaRPr lang="ru-RU" sz="1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8645DF9-0FD8-4F07-8147-588923A59C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399" y="4187549"/>
                <a:ext cx="5307735" cy="457689"/>
              </a:xfrm>
              <a:prstGeom prst="rect">
                <a:avLst/>
              </a:prstGeom>
              <a:blipFill>
                <a:blip r:embed="rId7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C6A3F7-EB38-43DD-AB1D-48D7B033F216}"/>
                  </a:ext>
                </a:extLst>
              </p:cNvPr>
              <p:cNvSpPr txBox="1"/>
              <p:nvPr/>
            </p:nvSpPr>
            <p:spPr>
              <a:xfrm>
                <a:off x="1162876" y="5850828"/>
                <a:ext cx="9504294" cy="4657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C6A3F7-EB38-43DD-AB1D-48D7B033F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876" y="5850828"/>
                <a:ext cx="9504294" cy="465705"/>
              </a:xfrm>
              <a:prstGeom prst="rect">
                <a:avLst/>
              </a:prstGeom>
              <a:blipFill>
                <a:blip r:embed="rId8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5761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КПД с учетом матрицы поворота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15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2BC18AF-A34E-41AD-BC74-2874ADE83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52" y="1905982"/>
            <a:ext cx="6097656" cy="16147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A0FE03-638F-4C75-A127-E7E11EB5D47F}"/>
                  </a:ext>
                </a:extLst>
              </p:cNvPr>
              <p:cNvSpPr txBox="1"/>
              <p:nvPr/>
            </p:nvSpPr>
            <p:spPr>
              <a:xfrm>
                <a:off x="304800" y="3911205"/>
                <a:ext cx="6097656" cy="4657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ru-RU" i="1"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⃗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ru-RU" i="0"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A0FE03-638F-4C75-A127-E7E11EB5D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911205"/>
                <a:ext cx="6097656" cy="465705"/>
              </a:xfrm>
              <a:prstGeom prst="rect">
                <a:avLst/>
              </a:prstGeom>
              <a:blipFill>
                <a:blip r:embed="rId3"/>
                <a:stretch>
                  <a:fillRect t="-1316" b="-26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EFEBBF-0B43-4034-8F3A-7DDD55829EB0}"/>
                  </a:ext>
                </a:extLst>
              </p:cNvPr>
              <p:cNvSpPr txBox="1"/>
              <p:nvPr/>
            </p:nvSpPr>
            <p:spPr>
              <a:xfrm>
                <a:off x="6096000" y="1671218"/>
                <a:ext cx="6097656" cy="7662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геом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subSup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  <m:e>
                          <m:nary>
                            <m:naryPr>
                              <m:limLoc m:val="subSup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ru-RU" i="0">
                                  <a:latin typeface="Cambria Math" panose="02040503050406030204" pitchFamily="18" charset="0"/>
                                </a:rPr>
                                <m:t>ex</m:t>
                              </m:r>
                              <m:func>
                                <m:func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d>
                                            <m:dPr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p>
                                                <m:sSupPr>
                                                  <m:ctrlPr>
                                                    <a:rPr lang="ru-RU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acc>
                                                    <m:accPr>
                                                      <m:chr m:val="⃗"/>
                                                      <m:ctrlPr>
                                                        <a:rPr lang="ru-RU" i="1">
                                                          <a:solidFill>
                                                            <a:srgbClr val="836967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ru-RU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𝑟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  <m:sup>
                                                  <m:r>
                                                    <a:rPr lang="ru-RU" i="1"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sup>
                                              </m:sSup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  <m:acc>
                                                <m:accPr>
                                                  <m:chr m:val="⃗"/>
                                                  <m:ctrlPr>
                                                    <a:rPr lang="ru-RU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ru-RU" i="1">
                                                      <a:latin typeface="Cambria Math" panose="02040503050406030204" pitchFamily="18" charset="0"/>
                                                    </a:rPr>
                                                    <m:t>𝑟</m:t>
                                                  </m:r>
                                                </m:e>
                                              </m:acc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−2</m:t>
                                              </m:r>
                                              <m:sSup>
                                                <m:sSupPr>
                                                  <m:ctrlPr>
                                                    <a:rPr lang="ru-RU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acc>
                                                    <m:accPr>
                                                      <m:chr m:val="⃗"/>
                                                      <m:ctrlPr>
                                                        <a:rPr lang="ru-RU" i="1">
                                                          <a:solidFill>
                                                            <a:srgbClr val="836967"/>
                                                          </a:solidFill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accPr>
                                                    <m:e>
                                                      <m:r>
                                                        <a:rPr lang="ru-RU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𝐵</m:t>
                                                      </m:r>
                                                    </m:e>
                                                  </m:acc>
                                                </m:e>
                                                <m:sup>
                                                  <m:r>
                                                    <a:rPr lang="ru-RU" i="1">
                                                      <a:latin typeface="Cambria Math" panose="02040503050406030204" pitchFamily="18" charset="0"/>
                                                    </a:rPr>
                                                    <m:t>𝑇</m:t>
                                                  </m:r>
                                                </m:sup>
                                              </m:sSup>
                                              <m:acc>
                                                <m:accPr>
                                                  <m:chr m:val="⃗"/>
                                                  <m:ctrlPr>
                                                    <a:rPr lang="ru-RU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ru-RU" i="1">
                                                      <a:latin typeface="Cambria Math" panose="02040503050406030204" pitchFamily="18" charset="0"/>
                                                    </a:rPr>
                                                    <m:t>𝑟</m:t>
                                                  </m:r>
                                                </m:e>
                                              </m:acc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sSup>
                                            <m:sSupPr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p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EFEBBF-0B43-4034-8F3A-7DDD55829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671218"/>
                <a:ext cx="6097656" cy="7662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BC9C2F-EA25-40DE-B6BD-624ADBCD816B}"/>
                  </a:ext>
                </a:extLst>
              </p:cNvPr>
              <p:cNvSpPr txBox="1"/>
              <p:nvPr/>
            </p:nvSpPr>
            <p:spPr>
              <a:xfrm>
                <a:off x="5309153" y="3129278"/>
                <a:ext cx="60976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BC9C2F-EA25-40DE-B6BD-624ADBCD8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9153" y="3129278"/>
                <a:ext cx="609765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F6A325-A7D8-48A6-8F80-0099E0062799}"/>
                  </a:ext>
                </a:extLst>
              </p:cNvPr>
              <p:cNvSpPr txBox="1"/>
              <p:nvPr/>
            </p:nvSpPr>
            <p:spPr>
              <a:xfrm>
                <a:off x="6094344" y="3455810"/>
                <a:ext cx="6097656" cy="910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acc>
                            <m:accPr>
                              <m:chr m:val="⃗"/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F6A325-A7D8-48A6-8F80-0099E0062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344" y="3455810"/>
                <a:ext cx="6097656" cy="9106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86CC180-8650-43A2-B2AC-1C9AC40D28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1009" y="4483782"/>
            <a:ext cx="3667637" cy="3620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7AFD86-D931-4C7E-B508-3AEE16747FB6}"/>
                  </a:ext>
                </a:extLst>
              </p:cNvPr>
              <p:cNvSpPr txBox="1"/>
              <p:nvPr/>
            </p:nvSpPr>
            <p:spPr>
              <a:xfrm>
                <a:off x="2754381" y="5383758"/>
                <a:ext cx="6901898" cy="7868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геом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𝑑𝑒𝑡𝐴</m:t>
                              </m:r>
                            </m:e>
                          </m:rad>
                        </m:den>
                      </m:f>
                      <m:func>
                        <m:func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>
                              <a:latin typeface="Cambria Math" panose="02040503050406030204" pitchFamily="18" charset="0"/>
                            </a:rPr>
                            <m:t>ex</m:t>
                          </m:r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p</m:t>
                          </m:r>
                        </m:fName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d>
                                    <m:d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ru-RU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e>
                                          </m:acc>
                                        </m:e>
                                        <m:sup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sSup>
                                        <m:sSup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p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  <m:acc>
                                        <m:accPr>
                                          <m:chr m:val="⃗"/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</m:acc>
                                    </m:e>
                                  </m:d>
                                </m:num>
                                <m:den>
                                  <m:sSup>
                                    <m:sSup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p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  <m:nary>
                        <m:naryPr>
                          <m:chr m:val="∬"/>
                          <m:subHide m:val="on"/>
                          <m:sup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sup>
                          </m:s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7AFD86-D931-4C7E-B508-3AEE16747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4381" y="5383758"/>
                <a:ext cx="6901898" cy="78681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Рамка 10">
            <a:extLst>
              <a:ext uri="{FF2B5EF4-FFF2-40B4-BE49-F238E27FC236}">
                <a16:creationId xmlns:a16="http://schemas.microsoft.com/office/drawing/2014/main" id="{807DFE6D-38F8-4152-91B6-D14A29FD3D83}"/>
              </a:ext>
            </a:extLst>
          </p:cNvPr>
          <p:cNvSpPr/>
          <p:nvPr/>
        </p:nvSpPr>
        <p:spPr>
          <a:xfrm>
            <a:off x="2689777" y="5233091"/>
            <a:ext cx="7206698" cy="1268896"/>
          </a:xfrm>
          <a:prstGeom prst="frame">
            <a:avLst>
              <a:gd name="adj1" fmla="val 3626"/>
            </a:avLst>
          </a:prstGeom>
          <a:solidFill>
            <a:srgbClr val="4447BB"/>
          </a:solidFill>
          <a:ln>
            <a:solidFill>
              <a:srgbClr val="4447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8F19C8-21E9-4D52-973B-3743A018CDB1}"/>
              </a:ext>
            </a:extLst>
          </p:cNvPr>
          <p:cNvSpPr txBox="1"/>
          <p:nvPr/>
        </p:nvSpPr>
        <p:spPr>
          <a:xfrm>
            <a:off x="6221017" y="2667729"/>
            <a:ext cx="3699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Применив разложение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Холецкого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953308-9B20-47FD-9606-55EFFDBF1517}"/>
              </a:ext>
            </a:extLst>
          </p:cNvPr>
          <p:cNvSpPr txBox="1"/>
          <p:nvPr/>
        </p:nvSpPr>
        <p:spPr>
          <a:xfrm>
            <a:off x="532985" y="1341413"/>
            <a:ext cx="1312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Обозначив</a:t>
            </a:r>
          </a:p>
        </p:txBody>
      </p:sp>
    </p:spTree>
    <p:extLst>
      <p:ext uri="{BB962C8B-B14F-4D97-AF65-F5344CB8AC3E}">
        <p14:creationId xmlns:p14="http://schemas.microsoft.com/office/powerpoint/2010/main" val="106434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Фототранзистор</a:t>
            </a:r>
            <a:r>
              <a:rPr lang="en-US" dirty="0"/>
              <a:t> </a:t>
            </a:r>
            <a:r>
              <a:rPr lang="ru-RU" dirty="0"/>
              <a:t>и фотодиод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16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5D1569B-4C53-46C8-A145-A7F056FAE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842" y="1360866"/>
            <a:ext cx="1907263" cy="127968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2E7D001-CD7D-482A-B00D-937E77ED2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9010" y="1180195"/>
            <a:ext cx="2166340" cy="15553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8C53D0-69BE-4E73-971A-F2E7FA85E328}"/>
              </a:ext>
            </a:extLst>
          </p:cNvPr>
          <p:cNvSpPr txBox="1"/>
          <p:nvPr/>
        </p:nvSpPr>
        <p:spPr>
          <a:xfrm>
            <a:off x="889636" y="3287737"/>
            <a:ext cx="4405714" cy="16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Фототранзистор – оптоэлектронный полупроводниковый прибор, являющийся вариантом транзистора, за исключением того, что область базы доступна для светового излучения.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DEA7618-B2EA-4E64-99B3-3160B3B624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319" y="1039400"/>
            <a:ext cx="2124805" cy="169611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A762F59-4513-483E-8BD0-6B28952DF3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212" y="1196973"/>
            <a:ext cx="2716277" cy="15385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7E6FA26-C126-4612-93E3-AF4D3B980FA6}"/>
              </a:ext>
            </a:extLst>
          </p:cNvPr>
          <p:cNvSpPr txBox="1"/>
          <p:nvPr/>
        </p:nvSpPr>
        <p:spPr>
          <a:xfrm>
            <a:off x="6896652" y="3534625"/>
            <a:ext cx="409103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Фотодиод – оптоэлектронный полупроводниковый прибор, преобразующий попавший на его фоточувствительную область свет в заряд за счет процессов, протекающих в 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 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переходе. 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775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Сравнительная таблица фотодиодов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</a:t>
            </a:r>
            <a:r>
              <a:rPr lang="ru-RU" dirty="0"/>
              <a:t>7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EE73C60-2A07-48CF-844C-49D15E1C0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01" y="1413397"/>
            <a:ext cx="5342364" cy="403120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C3554E5-6C5F-4414-9022-65F8F6ED6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999" y="1675741"/>
            <a:ext cx="5830797" cy="326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210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Характеристика диапазона восприимчивости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18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9FA6F9C-71A9-4A5D-8DD9-141BFB3E6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552" y="1267332"/>
            <a:ext cx="5696895" cy="432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7090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оптимизации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19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BCC176-98E4-45CD-941A-342EE5C752A1}"/>
              </a:ext>
            </a:extLst>
          </p:cNvPr>
          <p:cNvSpPr txBox="1"/>
          <p:nvPr/>
        </p:nvSpPr>
        <p:spPr>
          <a:xfrm>
            <a:off x="1321905" y="3400020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Методы нулевого порядка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7DE24F-19E8-41C5-A349-BAE31ADF7271}"/>
              </a:ext>
            </a:extLst>
          </p:cNvPr>
          <p:cNvSpPr txBox="1"/>
          <p:nvPr/>
        </p:nvSpPr>
        <p:spPr>
          <a:xfrm>
            <a:off x="4370733" y="3311278"/>
            <a:ext cx="609765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Методы первого порядка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AFFCCB-2502-4CF4-BA83-C7B018B3E8A1}"/>
              </a:ext>
            </a:extLst>
          </p:cNvPr>
          <p:cNvSpPr txBox="1"/>
          <p:nvPr/>
        </p:nvSpPr>
        <p:spPr>
          <a:xfrm>
            <a:off x="7819610" y="3311278"/>
            <a:ext cx="609765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Методы второго порядка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392A49-7D5C-4220-B337-0F764A8B276D}"/>
              </a:ext>
            </a:extLst>
          </p:cNvPr>
          <p:cNvSpPr txBox="1"/>
          <p:nvPr/>
        </p:nvSpPr>
        <p:spPr>
          <a:xfrm>
            <a:off x="4728504" y="1759936"/>
            <a:ext cx="4462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Типы методов оптимизации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24A4F0E3-EB08-4F51-9082-369CE90082C8}"/>
              </a:ext>
            </a:extLst>
          </p:cNvPr>
          <p:cNvCxnSpPr>
            <a:cxnSpLocks/>
          </p:cNvCxnSpPr>
          <p:nvPr/>
        </p:nvCxnSpPr>
        <p:spPr>
          <a:xfrm flipH="1">
            <a:off x="2713383" y="2129268"/>
            <a:ext cx="3349487" cy="1270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A61960F-CEE4-4D30-A086-F99C39547F1B}"/>
              </a:ext>
            </a:extLst>
          </p:cNvPr>
          <p:cNvCxnSpPr/>
          <p:nvPr/>
        </p:nvCxnSpPr>
        <p:spPr>
          <a:xfrm>
            <a:off x="6062870" y="2129268"/>
            <a:ext cx="0" cy="1270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33193528-C14B-4F71-B67C-1FC9E78A5069}"/>
              </a:ext>
            </a:extLst>
          </p:cNvPr>
          <p:cNvCxnSpPr/>
          <p:nvPr/>
        </p:nvCxnSpPr>
        <p:spPr>
          <a:xfrm>
            <a:off x="6062870" y="2129268"/>
            <a:ext cx="3448878" cy="12997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8950854-CC0C-4A5C-AB9E-D020648615F8}"/>
              </a:ext>
            </a:extLst>
          </p:cNvPr>
          <p:cNvSpPr txBox="1"/>
          <p:nvPr/>
        </p:nvSpPr>
        <p:spPr>
          <a:xfrm>
            <a:off x="327991" y="4393613"/>
            <a:ext cx="6957390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Метод покоординатного спуска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8D68997A-3B28-4274-8E4E-BAD0E723BDB5}"/>
              </a:ext>
            </a:extLst>
          </p:cNvPr>
          <p:cNvCxnSpPr>
            <a:cxnSpLocks/>
          </p:cNvCxnSpPr>
          <p:nvPr/>
        </p:nvCxnSpPr>
        <p:spPr>
          <a:xfrm flipH="1">
            <a:off x="1550504" y="3776149"/>
            <a:ext cx="1063489" cy="7137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C9A4B9C-1CC9-4304-A82E-D328D11CBDE9}"/>
              </a:ext>
            </a:extLst>
          </p:cNvPr>
          <p:cNvSpPr txBox="1"/>
          <p:nvPr/>
        </p:nvSpPr>
        <p:spPr>
          <a:xfrm>
            <a:off x="2233783" y="4858484"/>
            <a:ext cx="6957390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Метод Хука-</a:t>
            </a:r>
            <a:r>
              <a:rPr lang="ru-RU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Дживса</a:t>
            </a:r>
            <a:endParaRPr lang="ru-RU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DA8C45B7-230C-45CC-9615-D5201AA5AD02}"/>
              </a:ext>
            </a:extLst>
          </p:cNvPr>
          <p:cNvCxnSpPr>
            <a:cxnSpLocks/>
          </p:cNvCxnSpPr>
          <p:nvPr/>
        </p:nvCxnSpPr>
        <p:spPr>
          <a:xfrm>
            <a:off x="2613993" y="3776149"/>
            <a:ext cx="472521" cy="11536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BD46101-634D-4676-873D-E46D96408D76}"/>
              </a:ext>
            </a:extLst>
          </p:cNvPr>
          <p:cNvSpPr txBox="1"/>
          <p:nvPr/>
        </p:nvSpPr>
        <p:spPr>
          <a:xfrm>
            <a:off x="4246226" y="4430061"/>
            <a:ext cx="6957390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Градиентный спуск</a:t>
            </a:r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B9E3AF02-20A9-446D-B641-91E4D91EBD06}"/>
              </a:ext>
            </a:extLst>
          </p:cNvPr>
          <p:cNvCxnSpPr>
            <a:cxnSpLocks/>
          </p:cNvCxnSpPr>
          <p:nvPr/>
        </p:nvCxnSpPr>
        <p:spPr>
          <a:xfrm flipH="1">
            <a:off x="5021951" y="3776149"/>
            <a:ext cx="1063489" cy="7137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2C0224A-67D6-41F7-9E8C-157B3F015DD2}"/>
              </a:ext>
            </a:extLst>
          </p:cNvPr>
          <p:cNvSpPr txBox="1"/>
          <p:nvPr/>
        </p:nvSpPr>
        <p:spPr>
          <a:xfrm>
            <a:off x="5158409" y="5000337"/>
            <a:ext cx="6957390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Метод сопряжённых градиентов</a:t>
            </a:r>
          </a:p>
        </p:txBody>
      </p: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60BC8B91-3222-4B13-8A91-86B05600CDEF}"/>
              </a:ext>
            </a:extLst>
          </p:cNvPr>
          <p:cNvCxnSpPr>
            <a:cxnSpLocks/>
          </p:cNvCxnSpPr>
          <p:nvPr/>
        </p:nvCxnSpPr>
        <p:spPr>
          <a:xfrm>
            <a:off x="6096000" y="3766001"/>
            <a:ext cx="314739" cy="1363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2614946-CCC1-41C1-BBA6-2D77C33E0B00}"/>
              </a:ext>
            </a:extLst>
          </p:cNvPr>
          <p:cNvSpPr txBox="1"/>
          <p:nvPr/>
        </p:nvSpPr>
        <p:spPr>
          <a:xfrm>
            <a:off x="7662591" y="4428141"/>
            <a:ext cx="69573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Метод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Ньютона-</a:t>
            </a:r>
            <a:r>
              <a:rPr lang="ru-RU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Рафсона</a:t>
            </a:r>
            <a:endParaRPr lang="ru-RU" sz="1400" dirty="0"/>
          </a:p>
        </p:txBody>
      </p: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67B21183-15E9-4F19-9B45-B7876F53C287}"/>
              </a:ext>
            </a:extLst>
          </p:cNvPr>
          <p:cNvCxnSpPr>
            <a:cxnSpLocks/>
          </p:cNvCxnSpPr>
          <p:nvPr/>
        </p:nvCxnSpPr>
        <p:spPr>
          <a:xfrm flipH="1">
            <a:off x="8597375" y="3730614"/>
            <a:ext cx="1063489" cy="7137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4225210-F3E9-4245-A936-5E00AB711BF2}"/>
              </a:ext>
            </a:extLst>
          </p:cNvPr>
          <p:cNvSpPr txBox="1"/>
          <p:nvPr/>
        </p:nvSpPr>
        <p:spPr>
          <a:xfrm>
            <a:off x="8965095" y="5044825"/>
            <a:ext cx="73102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Квазиньютоновские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методы</a:t>
            </a:r>
            <a:endParaRPr lang="ru-RU" sz="1400" dirty="0"/>
          </a:p>
        </p:txBody>
      </p: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BC9D6A00-AB59-4E36-A0B9-3BE27352CC2C}"/>
              </a:ext>
            </a:extLst>
          </p:cNvPr>
          <p:cNvCxnSpPr>
            <a:cxnSpLocks/>
          </p:cNvCxnSpPr>
          <p:nvPr/>
        </p:nvCxnSpPr>
        <p:spPr>
          <a:xfrm>
            <a:off x="9675913" y="3728060"/>
            <a:ext cx="314739" cy="1363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45117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Блок-схема алгоритма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20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30C831F-D5D4-4985-8F7D-782F3C114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577" y="366076"/>
            <a:ext cx="4808095" cy="634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2669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Первый набор параметров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21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FA410F7-79D6-45B5-943C-23D3E51B7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1" y="1226258"/>
            <a:ext cx="4737270" cy="197932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3BEF4B5-F693-4970-AB60-FABA22E3E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516" y="3170066"/>
            <a:ext cx="4721837" cy="2914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B8B1A9-ED2A-4EDC-BC6E-3A87086217F5}"/>
                  </a:ext>
                </a:extLst>
              </p:cNvPr>
              <p:cNvSpPr txBox="1"/>
              <p:nvPr/>
            </p:nvSpPr>
            <p:spPr>
              <a:xfrm>
                <a:off x="-435818" y="3535563"/>
                <a:ext cx="5777098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𝑖𝑑𝑒𝑎𝑙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𝑖𝑑𝑒𝑎𝑙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B8B1A9-ED2A-4EDC-BC6E-3A8708621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35818" y="3535563"/>
                <a:ext cx="5777098" cy="427746"/>
              </a:xfrm>
              <a:prstGeom prst="rect">
                <a:avLst/>
              </a:prstGeom>
              <a:blipFill>
                <a:blip r:embed="rId4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E8682A-A3DE-49A2-8B20-2ACB033D4CCD}"/>
                  </a:ext>
                </a:extLst>
              </p:cNvPr>
              <p:cNvSpPr txBox="1"/>
              <p:nvPr/>
            </p:nvSpPr>
            <p:spPr>
              <a:xfrm>
                <a:off x="-155037" y="3962608"/>
                <a:ext cx="5838306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0,02−0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0,06−0,48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ru-RU" i="0">
                          <a:latin typeface="Cambria Math" panose="02040503050406030204" pitchFamily="18" charset="0"/>
                        </a:rPr>
                        <m:t>=0,42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E8682A-A3DE-49A2-8B20-2ACB033D4C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5037" y="3962608"/>
                <a:ext cx="5838306" cy="4277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B75F93-B04E-44D1-A384-D018F36202B4}"/>
                  </a:ext>
                </a:extLst>
              </p:cNvPr>
              <p:cNvSpPr txBox="1"/>
              <p:nvPr/>
            </p:nvSpPr>
            <p:spPr>
              <a:xfrm>
                <a:off x="-189642" y="4389653"/>
                <a:ext cx="6003096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0,047−0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0,2−0,48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ru-RU" i="0">
                          <a:latin typeface="Cambria Math" panose="02040503050406030204" pitchFamily="18" charset="0"/>
                        </a:rPr>
                        <m:t>=0,284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B75F93-B04E-44D1-A384-D018F3620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9642" y="4389653"/>
                <a:ext cx="6003096" cy="4277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F588D8F-C74D-4D48-B825-EDE96E263FB1}"/>
                  </a:ext>
                </a:extLst>
              </p:cNvPr>
              <p:cNvSpPr txBox="1"/>
              <p:nvPr/>
            </p:nvSpPr>
            <p:spPr>
              <a:xfrm>
                <a:off x="-155037" y="4799863"/>
                <a:ext cx="6083139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0,049−0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0,29−0,48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ru-RU" i="0">
                          <a:latin typeface="Cambria Math" panose="02040503050406030204" pitchFamily="18" charset="0"/>
                        </a:rPr>
                        <m:t>=0,196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F588D8F-C74D-4D48-B825-EDE96E263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5037" y="4799863"/>
                <a:ext cx="6083139" cy="4277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70E4B43-7015-4335-959C-10460DC854C4}"/>
                  </a:ext>
                </a:extLst>
              </p:cNvPr>
              <p:cNvSpPr txBox="1"/>
              <p:nvPr/>
            </p:nvSpPr>
            <p:spPr>
              <a:xfrm>
                <a:off x="-253205" y="5203996"/>
                <a:ext cx="6130222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0,068−0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0,4−0,48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ru-RU" i="0">
                          <a:latin typeface="Cambria Math" panose="02040503050406030204" pitchFamily="18" charset="0"/>
                        </a:rPr>
                        <m:t>=0,105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70E4B43-7015-4335-959C-10460DC85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3205" y="5203996"/>
                <a:ext cx="6130222" cy="4277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4454C4C-965C-44B4-A21B-E0E2EE6E5E00}"/>
                  </a:ext>
                </a:extLst>
              </p:cNvPr>
              <p:cNvSpPr txBox="1"/>
              <p:nvPr/>
            </p:nvSpPr>
            <p:spPr>
              <a:xfrm>
                <a:off x="-253205" y="5614206"/>
                <a:ext cx="6130222" cy="4277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0,098−0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0,4−0,48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ru-RU" i="0">
                          <a:latin typeface="Cambria Math" panose="02040503050406030204" pitchFamily="18" charset="0"/>
                        </a:rPr>
                        <m:t>=0,127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4454C4C-965C-44B4-A21B-E0E2EE6E5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3205" y="5614206"/>
                <a:ext cx="6130222" cy="4277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038BED1-9E02-4B5A-93FF-CCF655A6169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67930" y="457232"/>
            <a:ext cx="6030167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1518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Второй набор параметров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22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EFA1935-0064-4C53-82A0-51C8A363D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489" y="2322096"/>
            <a:ext cx="4711621" cy="221380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380DA27-D8D2-4442-850D-F3EBF100F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9110" y="531545"/>
            <a:ext cx="6030167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4350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Третий набор параметров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23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CCFBBC5-1353-4C8B-8B8B-4718176C7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903" y="2322096"/>
            <a:ext cx="4717950" cy="221380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D46F567-A010-484B-9A9B-B58A0BB32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930" y="451644"/>
            <a:ext cx="6030167" cy="54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2607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6DEF55-0F96-4218-7697-7A160E57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Рекомендации и требования к системе на основе проведенного моделирования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</a:t>
            </a:r>
            <a:r>
              <a:rPr lang="ru-RU" dirty="0"/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1988CD-DD9B-4E50-B436-38B6627A75D8}"/>
              </a:ext>
            </a:extLst>
          </p:cNvPr>
          <p:cNvSpPr txBox="1"/>
          <p:nvPr/>
        </p:nvSpPr>
        <p:spPr>
          <a:xfrm>
            <a:off x="1826313" y="1176783"/>
            <a:ext cx="8242025" cy="4901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обеспечения наиболее эффективной передачи энергии с помощью ИК-лазера необходимо использовать излучение с длиной волны 1.3 мкм.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Во избежание значительных просадок переданного напряжения на борту БПЛА необходимо покрыть квадратными матрицами фотоприемников каждую свободную поверхность вдоль борта БПЛА.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 выполнении беспилотником тактических задач необходимо обеспечить максимальный угол отклонения аппарата </a:t>
            </a:r>
            <a:r>
              <a:rPr lang="ru-RU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плоскости тангажа, крена и курса 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 более 20 градусов.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повышения эффективности преобразования падающего излучения в электрический ток необходимо использовать фотодиоды (например, </a:t>
            </a:r>
            <a:r>
              <a:rPr lang="ru-RU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InGaAs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с максимальным квантовым выходом в выбранном диапазоне длин волн и с минимальным собственным шумом, что особенно критично при слабых сигналах на большой дальности.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Все окна, линзы и поверхности фотоприемников должны быть оснащены просветляющими </a:t>
            </a:r>
            <a:r>
              <a:rPr lang="ru-RU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антирефлексными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покрытиями, оптимизированными под длину волны лазера, чтобы минимизировать отражательные потери и обеспечить максимальное пропускание света к активной области приёмника. Также рекомендуется использовать оптические фильтры для эффективного отсечения фонового излучения и повышения отношения сигнал/шум.</a:t>
            </a:r>
          </a:p>
        </p:txBody>
      </p:sp>
    </p:spTree>
    <p:extLst>
      <p:ext uri="{BB962C8B-B14F-4D97-AF65-F5344CB8AC3E}">
        <p14:creationId xmlns:p14="http://schemas.microsoft.com/office/powerpoint/2010/main" val="27503943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9B45AA-22FF-474F-B133-EEC00286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F91855-ECA0-4E34-85C6-8C0C19C7D276}"/>
              </a:ext>
            </a:extLst>
          </p:cNvPr>
          <p:cNvSpPr txBox="1"/>
          <p:nvPr/>
        </p:nvSpPr>
        <p:spPr>
          <a:xfrm>
            <a:off x="3571977" y="1633635"/>
            <a:ext cx="5279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Выпускная квалификационная работа на тему: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C8E9F9-62CC-4789-A5FF-E540A266A793}"/>
              </a:ext>
            </a:extLst>
          </p:cNvPr>
          <p:cNvSpPr txBox="1"/>
          <p:nvPr/>
        </p:nvSpPr>
        <p:spPr>
          <a:xfrm>
            <a:off x="3469731" y="2008314"/>
            <a:ext cx="548446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Исследование возможности и способов передачи энергии лазерным лучом ИК диапазона для питания беспилотных летательных аппаратов</a:t>
            </a:r>
          </a:p>
          <a:p>
            <a:pPr algn="ctr"/>
            <a:endParaRPr lang="ru-RU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C5C166-A787-4D95-8387-732771042B11}"/>
              </a:ext>
            </a:extLst>
          </p:cNvPr>
          <p:cNvSpPr txBox="1"/>
          <p:nvPr/>
        </p:nvSpPr>
        <p:spPr>
          <a:xfrm>
            <a:off x="1045712" y="3868781"/>
            <a:ext cx="2204001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Автор ВКР</a:t>
            </a:r>
            <a:br>
              <a:rPr lang="ru-RU" sz="1600" dirty="0"/>
            </a:br>
            <a:endParaRPr lang="ru-RU" sz="1600" dirty="0"/>
          </a:p>
          <a:p>
            <a:r>
              <a:rPr lang="ru-RU" sz="1600" dirty="0"/>
              <a:t>Научный руководитель</a:t>
            </a:r>
          </a:p>
          <a:p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r>
              <a:rPr lang="ru-RU" sz="1600" dirty="0"/>
              <a:t>Рецензент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8E831C-31EE-43F3-8A66-7BDE22BD7DBB}"/>
              </a:ext>
            </a:extLst>
          </p:cNvPr>
          <p:cNvSpPr txBox="1"/>
          <p:nvPr/>
        </p:nvSpPr>
        <p:spPr>
          <a:xfrm>
            <a:off x="3736800" y="3868781"/>
            <a:ext cx="793858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/>
              <a:t>Игнатенко Валерий Константинович	</a:t>
            </a:r>
            <a:r>
              <a:rPr lang="ru-RU" sz="1600" b="0" dirty="0"/>
              <a:t>Группа (М14О-201СВ-23)</a:t>
            </a:r>
            <a:endParaRPr lang="ru-RU" sz="1600" dirty="0"/>
          </a:p>
          <a:p>
            <a:endParaRPr lang="ru-RU" sz="1600" dirty="0"/>
          </a:p>
          <a:p>
            <a:r>
              <a:rPr lang="ru-RU" sz="1600" dirty="0"/>
              <a:t>Старовойтов Евгений Игоревич	К.т.н., АО «НИИМА «Прогресс», </a:t>
            </a:r>
          </a:p>
          <a:p>
            <a:r>
              <a:rPr lang="ru-RU" sz="1600" dirty="0"/>
              <a:t>				начальник отдела научных исследований </a:t>
            </a:r>
          </a:p>
          <a:p>
            <a:r>
              <a:rPr lang="ru-RU" sz="1600" dirty="0"/>
              <a:t>				и защиты интеллектуальной собственности</a:t>
            </a:r>
          </a:p>
          <a:p>
            <a:endParaRPr lang="ru-RU" sz="1600" b="0" dirty="0"/>
          </a:p>
          <a:p>
            <a:r>
              <a:rPr lang="ru-RU" sz="1600" b="0" dirty="0"/>
              <a:t>Жуков Александр Николаевич	</a:t>
            </a:r>
            <a:r>
              <a:rPr lang="ru-RU" sz="1600" dirty="0"/>
              <a:t>АО «НИИМА «Прогресс», </a:t>
            </a:r>
          </a:p>
          <a:p>
            <a:r>
              <a:rPr lang="ru-RU" sz="1600" dirty="0"/>
              <a:t>				заместитель директора дизайн-центра по ПАК</a:t>
            </a:r>
          </a:p>
          <a:p>
            <a:endParaRPr lang="ru-RU" sz="1600" b="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8D7F8CC-8F6E-4BA6-9C9E-7595244B5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1" y="378978"/>
            <a:ext cx="1700784" cy="61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463933"/>
      </p:ext>
    </p:extLst>
  </p:cSld>
  <p:clrMapOvr>
    <a:masterClrMapping/>
  </p:clrMapOvr>
</p:sld>
</file>

<file path=ppt/theme/theme1.xml><?xml version="1.0" encoding="utf-8"?>
<a:theme xmlns:a="http://schemas.openxmlformats.org/drawingml/2006/main" name="2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1108</TotalTime>
  <Words>1107</Words>
  <Application>Microsoft Office PowerPoint</Application>
  <PresentationFormat>Широкоэкранный</PresentationFormat>
  <Paragraphs>180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Times New Roman</vt:lpstr>
      <vt:lpstr>2_Тема Office</vt:lpstr>
      <vt:lpstr>Презентация PowerPoint</vt:lpstr>
      <vt:lpstr>Цели и задачи исследования</vt:lpstr>
      <vt:lpstr>Актуальность темы</vt:lpstr>
      <vt:lpstr>Виды передачи энергии</vt:lpstr>
      <vt:lpstr>Основные виды рассеяния излучения в атмосфере</vt:lpstr>
      <vt:lpstr>Коэффициенты поглощения для разных длин волн</vt:lpstr>
      <vt:lpstr>Атмосферные профили</vt:lpstr>
      <vt:lpstr>Расчет КПД, зависящего от угла падения луча</vt:lpstr>
      <vt:lpstr>Расчет КПД, зависящего от угла падения луча</vt:lpstr>
      <vt:lpstr>Расчет КПД, зависящего от смещения луча от центра фотоприемника </vt:lpstr>
      <vt:lpstr>Расположение систем координат</vt:lpstr>
      <vt:lpstr>Классический вид уравнения КПД с описанием функций ошибок erf</vt:lpstr>
      <vt:lpstr>Введение матрицы поворота R в уравнение КПД</vt:lpstr>
      <vt:lpstr>Введение матрицы поворота R в уравнение КПД</vt:lpstr>
      <vt:lpstr>КПД с учетом матрицы поворота</vt:lpstr>
      <vt:lpstr>Фототранзистор и фотодиод</vt:lpstr>
      <vt:lpstr>Сравнительная таблица фотодиодов</vt:lpstr>
      <vt:lpstr>Характеристика диапазона восприимчивости</vt:lpstr>
      <vt:lpstr>Методы оптимизации</vt:lpstr>
      <vt:lpstr>Блок-схема алгоритма</vt:lpstr>
      <vt:lpstr>Первый набор параметров</vt:lpstr>
      <vt:lpstr>Второй набор параметров</vt:lpstr>
      <vt:lpstr>Третий набор параметров</vt:lpstr>
      <vt:lpstr>Рекомендации и требования к системе на основе проведенного моделирования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София Кулагина</dc:creator>
  <cp:lastModifiedBy>Игнатенко Валерий Константинович</cp:lastModifiedBy>
  <cp:revision>141</cp:revision>
  <dcterms:created xsi:type="dcterms:W3CDTF">2025-04-30T13:15:49Z</dcterms:created>
  <dcterms:modified xsi:type="dcterms:W3CDTF">2025-06-20T06:40:07Z</dcterms:modified>
</cp:coreProperties>
</file>