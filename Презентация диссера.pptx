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1" r:id="rId3"/>
    <p:sldId id="262" r:id="rId4"/>
    <p:sldId id="263" r:id="rId5"/>
    <p:sldId id="264" r:id="rId6"/>
    <p:sldId id="265" r:id="rId7"/>
    <p:sldId id="268" r:id="rId8"/>
    <p:sldId id="273" r:id="rId9"/>
    <p:sldId id="266" r:id="rId10"/>
    <p:sldId id="276" r:id="rId11"/>
    <p:sldId id="267" r:id="rId12"/>
    <p:sldId id="275" r:id="rId13"/>
    <p:sldId id="270" r:id="rId14"/>
    <p:sldId id="271" r:id="rId15"/>
    <p:sldId id="272" r:id="rId16"/>
    <p:sldId id="278" r:id="rId17"/>
    <p:sldId id="274" r:id="rId18"/>
    <p:sldId id="277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49" autoAdjust="0"/>
  </p:normalViewPr>
  <p:slideViewPr>
    <p:cSldViewPr snapToGrid="0" showGuides="1">
      <p:cViewPr>
        <p:scale>
          <a:sx n="66" d="100"/>
          <a:sy n="66" d="100"/>
        </p:scale>
        <p:origin x="1440" y="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9E5A2-E7B4-4EBD-94E0-F787EA292CAF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80759-B71C-4840-8F38-9CEF8F35F2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18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298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235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678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54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847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53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177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417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957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828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882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2880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7027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80759-B71C-4840-8F38-9CEF8F35F20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09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C5E88-F944-48CC-84FD-F5AC10A6E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C5C867-4D95-463A-9658-27C34B376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6A90CA-DB31-46B8-8A61-CB615DAB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12E37A-B53E-4D20-9B51-E91AC9F2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369B8-8F87-4688-9244-02A4F7FE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20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CA5FD-7F14-4C41-A1A6-E3B86107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FE6875-CED6-47B6-BD2A-FEEE6B731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8B1B1B-4045-45F9-B00D-9AF87BD7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8C7A7D-902E-4CC7-B64E-915494E6B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62A489-D031-40AA-AC40-73433A15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87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A45418-E1E0-4B06-9C42-D97421D9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D03F32-FF4A-4BC6-994B-03D950596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AC32F8-E33F-45AA-B06E-3E991875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A941BA-251B-42C6-9049-BF2557EC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1FFCF7-7599-46CA-8942-44F463F5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273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720DF-B50B-4B54-BD42-897DC0B1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8CE4BD-4371-4E2E-ABD2-30BC79DA2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FF763-983E-4196-B3E5-AF2BEFE31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508842-92CE-42A5-BA3D-607D605B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21E8BE-3C71-4E29-9E4C-20F50F97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FE27B8-2E67-400E-B1A3-20E54F1C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25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B4373-5A50-439A-B42C-C3D726FCD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FB488E-9FE8-484A-8670-A3FFEB8F4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2F7583-6C17-45C6-A8CA-AB3EF768A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97B9F5-C547-4B59-83C2-1E7B43B88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1BECFC-E19F-44C0-B941-ED4BD25285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BC8E31-298B-493C-AEFC-507183F5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014E4F7-CF54-406F-B1C1-69471CFBA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51E5366-E20F-4AB4-8F79-4B8A2333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44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BBEFBF-D303-40B2-9D50-CB5FD807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C3B2486-462A-4337-B382-0A894EB01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B2C065-CC6F-45AD-ACCE-5CC3EA37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91A4E6-E93E-46FB-BE80-D8361DD8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71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BC3FC8-B07B-4C23-B5F2-D28E15A5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4F3541-9EFB-41BB-9F45-72714E1A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959447-D4B2-436C-818B-5C26D39B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60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30438-0912-4E39-AC1B-F059753C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0C3901-9B89-4FDC-B700-8EE323EA1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A7FCF5-FD13-4EE0-B28C-5C2772167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725128-9DC4-4AB3-94E3-42D65DF3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5838CB-D6EF-4946-B01B-431E8E9E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95EA55-D139-488F-8396-832FF53C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624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1BD79-D2AC-45CF-9E22-883D883A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A4722A-5A21-43A3-BB44-BCDE2CDD1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39E24F-558B-4CD4-A868-0F062B881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1D8135-E745-47DB-A03E-9EC49520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998C9E-522E-4325-9374-31FA53C9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07C49F-FBF9-49BC-8920-65EA6AAB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19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C0BFF-C38A-4457-BC42-8618F3F4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1388BE-D924-4C5A-9389-4B899CA9A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369BC2-811A-4230-9EE3-34650883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B30CDC-6C89-4592-8FAC-C995A8333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A9D828-85E3-4966-906E-99A0560E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45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9252C1-D07C-4DB2-AF2E-2E027431AC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65BDA5-C857-43B2-8E7C-E862081DB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343B35-8127-4CFB-A1BF-F9C971C4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A5AE28-D637-4CE0-941B-0A13C339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BC6667-F127-4537-9206-106DC1F0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44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741E8-A8BC-4C03-946E-3F0B8F48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621A73-BCAE-47FE-87B7-06FA57470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94FA59-2523-4141-AFCD-24450DBA6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D8665-F181-41EB-B504-F815234F4011}" type="datetimeFigureOut">
              <a:rPr lang="ru-RU" smtClean="0"/>
              <a:t>06.05.2025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EB0D3F-B6A8-474D-BC27-17F67AE82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F4F489-3CD7-4044-8CCB-D7D2767E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4A9B1-8615-412F-8663-F9E4CBE7D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60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jpe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0.jpe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7.jpe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7.jpe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jpe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01570-8AA4-43A3-AD02-DA09C67A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18101"/>
            <a:ext cx="9144000" cy="2387600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DB2BE-9AFC-4597-8A6D-4519C1B69842}"/>
              </a:ext>
            </a:extLst>
          </p:cNvPr>
          <p:cNvSpPr txBox="1"/>
          <p:nvPr/>
        </p:nvSpPr>
        <p:spPr>
          <a:xfrm>
            <a:off x="1152939" y="5277678"/>
            <a:ext cx="47035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М14О-201СВо-23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Игнатенко Валерий Константинович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095" y="197521"/>
            <a:ext cx="3337633" cy="16696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2"/>
            <a:ext cx="5735217" cy="9134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BC88DD-6F26-462E-8EA0-CC492AAE4A73}"/>
              </a:ext>
            </a:extLst>
          </p:cNvPr>
          <p:cNvSpPr txBox="1"/>
          <p:nvPr/>
        </p:nvSpPr>
        <p:spPr>
          <a:xfrm>
            <a:off x="-5503194" y="1818101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48DEA-4BCF-453D-8742-0C7216F7B400}"/>
              </a:ext>
            </a:extLst>
          </p:cNvPr>
          <p:cNvSpPr txBox="1"/>
          <p:nvPr/>
        </p:nvSpPr>
        <p:spPr>
          <a:xfrm>
            <a:off x="-17633358" y="2657958"/>
            <a:ext cx="10952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исследования является решение задачи многокритериальной оптимизации коэффициента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полезного действия (КПД) системы передачи энергии лазерным лучом в инфракрасном диапазоне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DD3E44-287A-4C23-A0E3-FC8993CDF435}"/>
              </a:ext>
            </a:extLst>
          </p:cNvPr>
          <p:cNvSpPr txBox="1"/>
          <p:nvPr/>
        </p:nvSpPr>
        <p:spPr>
          <a:xfrm>
            <a:off x="-10889664" y="3910076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D939A0-EB93-4F5F-AB8D-B2941E8A1CF5}"/>
              </a:ext>
            </a:extLst>
          </p:cNvPr>
          <p:cNvSpPr txBox="1"/>
          <p:nvPr/>
        </p:nvSpPr>
        <p:spPr>
          <a:xfrm>
            <a:off x="-14516092" y="4522663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C3E6D0-2B92-4007-BF6D-C76189009FA2}"/>
              </a:ext>
            </a:extLst>
          </p:cNvPr>
          <p:cNvSpPr txBox="1"/>
          <p:nvPr/>
        </p:nvSpPr>
        <p:spPr>
          <a:xfrm>
            <a:off x="-18319163" y="4949199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DBBBE2-6D47-44C2-9488-604A4AB08940}"/>
              </a:ext>
            </a:extLst>
          </p:cNvPr>
          <p:cNvSpPr txBox="1"/>
          <p:nvPr/>
        </p:nvSpPr>
        <p:spPr>
          <a:xfrm>
            <a:off x="-22122234" y="5355859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Сформулировать модель многокритериальной оптимизации, включающую целевые функции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D9131F-B3E0-47C8-9313-8466340A9F1C}"/>
              </a:ext>
            </a:extLst>
          </p:cNvPr>
          <p:cNvSpPr txBox="1"/>
          <p:nvPr/>
        </p:nvSpPr>
        <p:spPr>
          <a:xfrm>
            <a:off x="-25509669" y="5951612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Провести численное исследование для получения набора Парето-оптимальных решений,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81468D-1332-4F6E-88AE-E5891B6B770B}"/>
              </a:ext>
            </a:extLst>
          </p:cNvPr>
          <p:cNvSpPr txBox="1"/>
          <p:nvPr/>
        </p:nvSpPr>
        <p:spPr>
          <a:xfrm>
            <a:off x="-7917117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</p:spTree>
    <p:extLst>
      <p:ext uri="{BB962C8B-B14F-4D97-AF65-F5344CB8AC3E}">
        <p14:creationId xmlns:p14="http://schemas.microsoft.com/office/powerpoint/2010/main" val="2970380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01570-8AA4-43A3-AD02-DA09C67A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88473" y="1818101"/>
            <a:ext cx="9144000" cy="2387600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возможности и способов передачи энергии лазерным лучом ИК диапазона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DB2BE-9AFC-4597-8A6D-4519C1B69842}"/>
              </a:ext>
            </a:extLst>
          </p:cNvPr>
          <p:cNvSpPr txBox="1"/>
          <p:nvPr/>
        </p:nvSpPr>
        <p:spPr>
          <a:xfrm>
            <a:off x="-5297133" y="5277678"/>
            <a:ext cx="47035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М14О-201СВо-23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Игнатенко Валерий Константинович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A5E662-A685-4678-B19A-4B3AB54FB017}"/>
              </a:ext>
            </a:extLst>
          </p:cNvPr>
          <p:cNvSpPr txBox="1"/>
          <p:nvPr/>
        </p:nvSpPr>
        <p:spPr>
          <a:xfrm>
            <a:off x="466272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2A6F8-6401-44F7-9515-398B09C89B5E}"/>
              </a:ext>
            </a:extLst>
          </p:cNvPr>
          <p:cNvSpPr txBox="1"/>
          <p:nvPr/>
        </p:nvSpPr>
        <p:spPr>
          <a:xfrm>
            <a:off x="1018309" y="2657958"/>
            <a:ext cx="10952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коэффициента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полезного действия (КПД) системы передачи энергии лазерным лучом в инфракрасном диапазоне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1B4907-DD69-476F-8BFF-C0B71DC52410}"/>
              </a:ext>
            </a:extLst>
          </p:cNvPr>
          <p:cNvSpPr txBox="1"/>
          <p:nvPr/>
        </p:nvSpPr>
        <p:spPr>
          <a:xfrm>
            <a:off x="624206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9BCC3-9D88-43A3-8147-646FB6E9112B}"/>
              </a:ext>
            </a:extLst>
          </p:cNvPr>
          <p:cNvSpPr txBox="1"/>
          <p:nvPr/>
        </p:nvSpPr>
        <p:spPr>
          <a:xfrm>
            <a:off x="1018309" y="3910076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9E7BAD-F8D6-42C3-99B1-974EB307AB3C}"/>
              </a:ext>
            </a:extLst>
          </p:cNvPr>
          <p:cNvSpPr txBox="1"/>
          <p:nvPr/>
        </p:nvSpPr>
        <p:spPr>
          <a:xfrm>
            <a:off x="1018309" y="4522663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8C057-6D82-452F-9CE2-8D995F23493D}"/>
              </a:ext>
            </a:extLst>
          </p:cNvPr>
          <p:cNvSpPr txBox="1"/>
          <p:nvPr/>
        </p:nvSpPr>
        <p:spPr>
          <a:xfrm>
            <a:off x="1018309" y="4949199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DA5893-6E5D-4E1D-88A8-166DBFD06AE4}"/>
              </a:ext>
            </a:extLst>
          </p:cNvPr>
          <p:cNvSpPr txBox="1"/>
          <p:nvPr/>
        </p:nvSpPr>
        <p:spPr>
          <a:xfrm>
            <a:off x="1018309" y="5355859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Сформулировать модель многокритериальной оптимизации, включающую целевые функции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3D0F07-2A15-46B6-A003-6CD971129469}"/>
              </a:ext>
            </a:extLst>
          </p:cNvPr>
          <p:cNvSpPr txBox="1"/>
          <p:nvPr/>
        </p:nvSpPr>
        <p:spPr>
          <a:xfrm>
            <a:off x="1018309" y="5951612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Провести численное исследование для получения набора Парето-оптимальных решений,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AD7218-1510-4F56-8B48-F03D9B89B18D}"/>
              </a:ext>
            </a:extLst>
          </p:cNvPr>
          <p:cNvSpPr txBox="1"/>
          <p:nvPr/>
        </p:nvSpPr>
        <p:spPr>
          <a:xfrm>
            <a:off x="13009409" y="1866299"/>
            <a:ext cx="94800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НОВИЗНА И 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29034711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9143B0-116E-48AF-BACE-0CB82D77E5B7}"/>
              </a:ext>
            </a:extLst>
          </p:cNvPr>
          <p:cNvSpPr txBox="1"/>
          <p:nvPr/>
        </p:nvSpPr>
        <p:spPr>
          <a:xfrm>
            <a:off x="12718464" y="2657958"/>
            <a:ext cx="10952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коэффициента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полезного действия (КПД) системы передачи энергии лазерным лучом в инфракрасном диапазоне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CD270-18A5-47C0-98EE-DF45480640E9}"/>
              </a:ext>
            </a:extLst>
          </p:cNvPr>
          <p:cNvSpPr txBox="1"/>
          <p:nvPr/>
        </p:nvSpPr>
        <p:spPr>
          <a:xfrm>
            <a:off x="12691740" y="3910076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66DAE-1276-4465-959C-0A7AF8F83287}"/>
              </a:ext>
            </a:extLst>
          </p:cNvPr>
          <p:cNvSpPr txBox="1"/>
          <p:nvPr/>
        </p:nvSpPr>
        <p:spPr>
          <a:xfrm>
            <a:off x="14530931" y="4522663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054D4-D970-4E76-8D2E-A61FB63C95BF}"/>
              </a:ext>
            </a:extLst>
          </p:cNvPr>
          <p:cNvSpPr txBox="1"/>
          <p:nvPr/>
        </p:nvSpPr>
        <p:spPr>
          <a:xfrm>
            <a:off x="16151913" y="4949199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0AC3E8-EA39-4446-A61F-CC4548F087F6}"/>
              </a:ext>
            </a:extLst>
          </p:cNvPr>
          <p:cNvSpPr txBox="1"/>
          <p:nvPr/>
        </p:nvSpPr>
        <p:spPr>
          <a:xfrm>
            <a:off x="17471559" y="5355859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Сформулировать модель многокритериальной оптимизации, включающую целевые функции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046643-E228-41EC-BDD9-37F57C949B11}"/>
              </a:ext>
            </a:extLst>
          </p:cNvPr>
          <p:cNvSpPr txBox="1"/>
          <p:nvPr/>
        </p:nvSpPr>
        <p:spPr>
          <a:xfrm>
            <a:off x="19715995" y="5951612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Провести численное исследование для получения набора Парето-оптимальных решений,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581891" y="1866299"/>
            <a:ext cx="94800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НОВИЗНА И ПРАКТИЧЕСКАЯ ЗНАЧИМОСТЬ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4986C9-A68E-4435-8A99-B2460101E9B8}"/>
              </a:ext>
            </a:extLst>
          </p:cNvPr>
          <p:cNvSpPr txBox="1"/>
          <p:nvPr/>
        </p:nvSpPr>
        <p:spPr>
          <a:xfrm>
            <a:off x="12261966" y="2551837"/>
            <a:ext cx="117403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 обусловлена возрастающей потребностью в эффективных и автономных источниках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энергии для авиационных систем, где традиционные методы автономного питания часто ограничены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весу, объёму или эксплуатационным ресурсам.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Особый интерес вызывает возможность беспроводной лазерной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передачи энергии, которая обеспечивает возможность питания беспилотных летательных аппаратов,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спутников на больших расстояниях, что критически важно для повышения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мобильности и автономности современной авиации. </a:t>
            </a:r>
          </a:p>
        </p:txBody>
      </p:sp>
    </p:spTree>
    <p:extLst>
      <p:ext uri="{BB962C8B-B14F-4D97-AF65-F5344CB8AC3E}">
        <p14:creationId xmlns:p14="http://schemas.microsoft.com/office/powerpoint/2010/main" val="3220236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">
        <p159:morph option="byObject"/>
      </p:transition>
    </mc:Choice>
    <mc:Fallback>
      <p:transition spd="slow" advClick="0" advTm="1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9143B0-116E-48AF-BACE-0CB82D77E5B7}"/>
              </a:ext>
            </a:extLst>
          </p:cNvPr>
          <p:cNvSpPr txBox="1"/>
          <p:nvPr/>
        </p:nvSpPr>
        <p:spPr>
          <a:xfrm>
            <a:off x="12718464" y="2657958"/>
            <a:ext cx="10952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коэффициента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полезного действия (КПД) системы передачи энергии лазерным лучом в инфракрасном диапазоне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CD270-18A5-47C0-98EE-DF45480640E9}"/>
              </a:ext>
            </a:extLst>
          </p:cNvPr>
          <p:cNvSpPr txBox="1"/>
          <p:nvPr/>
        </p:nvSpPr>
        <p:spPr>
          <a:xfrm>
            <a:off x="12691740" y="3910076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66DAE-1276-4465-959C-0A7AF8F83287}"/>
              </a:ext>
            </a:extLst>
          </p:cNvPr>
          <p:cNvSpPr txBox="1"/>
          <p:nvPr/>
        </p:nvSpPr>
        <p:spPr>
          <a:xfrm>
            <a:off x="14530931" y="4522663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054D4-D970-4E76-8D2E-A61FB63C95BF}"/>
              </a:ext>
            </a:extLst>
          </p:cNvPr>
          <p:cNvSpPr txBox="1"/>
          <p:nvPr/>
        </p:nvSpPr>
        <p:spPr>
          <a:xfrm>
            <a:off x="16151913" y="4949199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0AC3E8-EA39-4446-A61F-CC4548F087F6}"/>
              </a:ext>
            </a:extLst>
          </p:cNvPr>
          <p:cNvSpPr txBox="1"/>
          <p:nvPr/>
        </p:nvSpPr>
        <p:spPr>
          <a:xfrm>
            <a:off x="17471559" y="5355859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Сформулировать модель многокритериальной оптимизации, включающую целевые функции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046643-E228-41EC-BDD9-37F57C949B11}"/>
              </a:ext>
            </a:extLst>
          </p:cNvPr>
          <p:cNvSpPr txBox="1"/>
          <p:nvPr/>
        </p:nvSpPr>
        <p:spPr>
          <a:xfrm>
            <a:off x="19715995" y="5951612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Провести численное исследование для получения набора Парето-оптимальных решений,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384462" y="1866299"/>
            <a:ext cx="967399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НОВИЗНА И ПРАКТИЧЕСКАЯ ЗНАЧИМОСТЬ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A010D-DAB1-4288-B74F-40FA3C0BD1BE}"/>
              </a:ext>
            </a:extLst>
          </p:cNvPr>
          <p:cNvSpPr txBox="1"/>
          <p:nvPr/>
        </p:nvSpPr>
        <p:spPr>
          <a:xfrm>
            <a:off x="450980" y="2551837"/>
            <a:ext cx="117403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 обусловлена возрастающей потребностью в эффективных и автономных источниках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энергии для авиационных систем, где традиционные методы автономного питания часто ограничены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весу, объёму или эксплуатационным ресурсам.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Особый интерес вызывает возможность беспроводной лазерной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передачи энергии, которая обеспечивает возможность питания беспилотных летательных аппаратов,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спутников на больших расстояниях, что критически важно для повышения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мобильности и автономности современной авиации.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909B3A-0922-4F11-8A8F-F62B7917D406}"/>
              </a:ext>
            </a:extLst>
          </p:cNvPr>
          <p:cNvSpPr txBox="1"/>
          <p:nvPr/>
        </p:nvSpPr>
        <p:spPr>
          <a:xfrm>
            <a:off x="12740747" y="2618995"/>
            <a:ext cx="107694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исследования заключается в разработке математической модели, позволяющей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многокритериальную оптимизацию системы передачи энергии с одновременным учетом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максимизации коэффициента полезного  действия и минимизации потерь энергии. Модель учитывает как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параметры системы, так и внешние факторы, такие как атмосферное поглощение,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рассеяние и т.д., что обеспечивает достоверное описание процесса передачи энергии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значительных дистанциях. </a:t>
            </a:r>
          </a:p>
        </p:txBody>
      </p:sp>
    </p:spTree>
    <p:extLst>
      <p:ext uri="{BB962C8B-B14F-4D97-AF65-F5344CB8AC3E}">
        <p14:creationId xmlns:p14="http://schemas.microsoft.com/office/powerpoint/2010/main" val="70432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9143B0-116E-48AF-BACE-0CB82D77E5B7}"/>
              </a:ext>
            </a:extLst>
          </p:cNvPr>
          <p:cNvSpPr txBox="1"/>
          <p:nvPr/>
        </p:nvSpPr>
        <p:spPr>
          <a:xfrm>
            <a:off x="12718464" y="2657958"/>
            <a:ext cx="10952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коэффициента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полезного действия (КПД) системы передачи энергии лазерным лучом в инфракрасном диапазоне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BCD270-18A5-47C0-98EE-DF45480640E9}"/>
              </a:ext>
            </a:extLst>
          </p:cNvPr>
          <p:cNvSpPr txBox="1"/>
          <p:nvPr/>
        </p:nvSpPr>
        <p:spPr>
          <a:xfrm>
            <a:off x="12691740" y="3910076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866DAE-1276-4465-959C-0A7AF8F83287}"/>
              </a:ext>
            </a:extLst>
          </p:cNvPr>
          <p:cNvSpPr txBox="1"/>
          <p:nvPr/>
        </p:nvSpPr>
        <p:spPr>
          <a:xfrm>
            <a:off x="14530931" y="4522663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054D4-D970-4E76-8D2E-A61FB63C95BF}"/>
              </a:ext>
            </a:extLst>
          </p:cNvPr>
          <p:cNvSpPr txBox="1"/>
          <p:nvPr/>
        </p:nvSpPr>
        <p:spPr>
          <a:xfrm>
            <a:off x="16151913" y="4949199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0AC3E8-EA39-4446-A61F-CC4548F087F6}"/>
              </a:ext>
            </a:extLst>
          </p:cNvPr>
          <p:cNvSpPr txBox="1"/>
          <p:nvPr/>
        </p:nvSpPr>
        <p:spPr>
          <a:xfrm>
            <a:off x="17471559" y="5355859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Сформулировать модель многокритериальной оптимизации, включающую целевые функции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046643-E228-41EC-BDD9-37F57C949B11}"/>
              </a:ext>
            </a:extLst>
          </p:cNvPr>
          <p:cNvSpPr txBox="1"/>
          <p:nvPr/>
        </p:nvSpPr>
        <p:spPr>
          <a:xfrm>
            <a:off x="19715995" y="5951612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Провести численное исследование для получения набора Парето-оптимальных решений,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384462" y="1866299"/>
            <a:ext cx="967399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</a:t>
            </a: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</a:t>
            </a:r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ПРАКТИЧЕСКАЯ ЗНАЧИМОСТЬ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A010D-DAB1-4288-B74F-40FA3C0BD1BE}"/>
              </a:ext>
            </a:extLst>
          </p:cNvPr>
          <p:cNvSpPr txBox="1"/>
          <p:nvPr/>
        </p:nvSpPr>
        <p:spPr>
          <a:xfrm>
            <a:off x="1027732" y="2618995"/>
            <a:ext cx="107694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исследования заключается в разработке математической модели, позволяющей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многокритериальную оптимизацию системы передачи энергии с одновременным учетом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максимизации коэффициента полезного  действия и минимизации потерь энергии. Модель учитывает как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параметры системы, так и внешние факторы, такие как атмосферное поглощение,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рассеяние и т.д., что обеспечивает достоверное описание процесса передачи энергии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значительных дистанциях.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1945E7-5DAC-4D64-BEF7-0EE328FCB9B2}"/>
              </a:ext>
            </a:extLst>
          </p:cNvPr>
          <p:cNvSpPr txBox="1"/>
          <p:nvPr/>
        </p:nvSpPr>
        <p:spPr>
          <a:xfrm>
            <a:off x="-12080447" y="2551837"/>
            <a:ext cx="117403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 обусловлена возрастающей потребностью в эффективных и автономных источниках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энергии для авиационных систем, где традиционные методы автономного питания часто ограничены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весу, объёму или эксплуатационным ресурсам.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Особый интерес вызывает возможность беспроводной лазерной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передачи энергии, которая обеспечивает возможность питания беспилотных летательных аппаратов,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спутников на больших расстояниях, что критически важно для повышения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мобильности и автономности современной авиации.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B2D0E6-4C3F-411F-B6FF-10DC39931D55}"/>
              </a:ext>
            </a:extLst>
          </p:cNvPr>
          <p:cNvSpPr txBox="1"/>
          <p:nvPr/>
        </p:nvSpPr>
        <p:spPr>
          <a:xfrm>
            <a:off x="12738045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 и повышение энергоэффективности, но и создать системы резервного питания для обеспечения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 полётов в аварийных ситуациях. Кроме того, интеграция данной технологии в современные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требований к безопасности и экологичности авиационных перевозок.</a:t>
            </a:r>
          </a:p>
        </p:txBody>
      </p:sp>
    </p:spTree>
    <p:extLst>
      <p:ext uri="{BB962C8B-B14F-4D97-AF65-F5344CB8AC3E}">
        <p14:creationId xmlns:p14="http://schemas.microsoft.com/office/powerpoint/2010/main" val="3377996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384462" y="1866299"/>
            <a:ext cx="98471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НОВИЗНА И </a:t>
            </a: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BDC78-7E1C-4336-924E-321668FD422D}"/>
              </a:ext>
            </a:extLst>
          </p:cNvPr>
          <p:cNvSpPr txBox="1"/>
          <p:nvPr/>
        </p:nvSpPr>
        <p:spPr>
          <a:xfrm>
            <a:off x="-11120711" y="2618995"/>
            <a:ext cx="107694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исследования заключается в разработке математической модели, позволяющей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многокритериальную оптимизацию системы передачи энергии с одновременным учетом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максимизации коэффициента полезного  действия и минимизации потерь энергии. Модель учитывает как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параметры системы, так и внешние факторы, такие как атмосферное поглощение,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рассеяние и т.д., что обеспечивает достоверное описание процесса передачи энергии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значительных дистанциях.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BE533-B407-4455-A74E-D6C6922A6E39}"/>
              </a:ext>
            </a:extLst>
          </p:cNvPr>
          <p:cNvSpPr txBox="1"/>
          <p:nvPr/>
        </p:nvSpPr>
        <p:spPr>
          <a:xfrm>
            <a:off x="480745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 и повышение энергоэффективности, но и создать системы резервного питания для обеспечения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 полётов в аварийных ситуациях. Кроме того, интеграция данной технологии в современные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требований к безопасности и экологичности авиационных перевозок.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8C70F-4AF8-4D23-933F-3292BB5FB0F1}"/>
              </a:ext>
            </a:extLst>
          </p:cNvPr>
          <p:cNvSpPr txBox="1"/>
          <p:nvPr/>
        </p:nvSpPr>
        <p:spPr>
          <a:xfrm>
            <a:off x="12606035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D1B773F-F465-4F58-95A3-8CABB3748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9834" y="2343353"/>
            <a:ext cx="8175496" cy="41927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2C492B9-8693-453E-8D9B-A6AC0A9F8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898" y="7044368"/>
            <a:ext cx="4607813" cy="484392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6B0D71-9FA1-49EB-9D55-D552373AF5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604" y="7108074"/>
            <a:ext cx="4553585" cy="1019317"/>
          </a:xfrm>
          <a:prstGeom prst="rect">
            <a:avLst/>
          </a:prstGeom>
        </p:spPr>
      </p:pic>
      <p:pic>
        <p:nvPicPr>
          <p:cNvPr id="25" name="Picture 2" descr="Показывает 3-кратное уменьшение размера и 18-кратное уменьшение веса приёмника">
            <a:extLst>
              <a:ext uri="{FF2B5EF4-FFF2-40B4-BE49-F238E27FC236}">
                <a16:creationId xmlns:a16="http://schemas.microsoft.com/office/drawing/2014/main" id="{6CA2F767-C8AC-44D7-9CB6-30E33CF23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169" y="8520462"/>
            <a:ext cx="3631336" cy="336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9184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-9935185" y="1866299"/>
            <a:ext cx="98471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НОВИЗНА И </a:t>
            </a: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BDC78-7E1C-4336-924E-321668FD422D}"/>
              </a:ext>
            </a:extLst>
          </p:cNvPr>
          <p:cNvSpPr txBox="1"/>
          <p:nvPr/>
        </p:nvSpPr>
        <p:spPr>
          <a:xfrm>
            <a:off x="-11120711" y="2618995"/>
            <a:ext cx="107694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исследования заключается в разработке математической модели, позволяющей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многокритериальную оптимизацию системы передачи энергии с одновременным учетом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максимизации коэффициента полезного  действия и минимизации потерь энергии. Модель учитывает как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параметры системы, так и внешние факторы, такие как атмосферное поглощение,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рассеяние и т.д., что обеспечивает достоверное описание процесса передачи энергии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значительных дистанциях.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BE533-B407-4455-A74E-D6C6922A6E39}"/>
              </a:ext>
            </a:extLst>
          </p:cNvPr>
          <p:cNvSpPr txBox="1"/>
          <p:nvPr/>
        </p:nvSpPr>
        <p:spPr>
          <a:xfrm>
            <a:off x="-22096202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 и повышение энергоэффективности, но и создать системы резервного питания для обеспечения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 полётов в аварийных ситуациях. Кроме того, интеграция данной технологии в современные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требований к безопасности и экологичности авиационных перевозок.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4EE18D-9643-4783-98E4-9662EA34C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9834" y="2343353"/>
            <a:ext cx="8175496" cy="41927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964ECAF-C1EA-46C2-B143-3B834BE4A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898" y="1816551"/>
            <a:ext cx="4607813" cy="48439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98770A-7708-4753-AE4A-EDA2F307B7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989" y="2305904"/>
            <a:ext cx="4553585" cy="1019317"/>
          </a:xfrm>
          <a:prstGeom prst="rect">
            <a:avLst/>
          </a:prstGeom>
        </p:spPr>
      </p:pic>
      <p:pic>
        <p:nvPicPr>
          <p:cNvPr id="15" name="Picture 4" descr="Электроэнергия по лазерному лучу: исследовательская программа DARPA POWER">
            <a:extLst>
              <a:ext uri="{FF2B5EF4-FFF2-40B4-BE49-F238E27FC236}">
                <a16:creationId xmlns:a16="http://schemas.microsoft.com/office/drawing/2014/main" id="{4241F1F1-2A40-4326-A389-40C9627AE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17" y="6951247"/>
            <a:ext cx="7190117" cy="338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Изображение логотипа">
            <a:extLst>
              <a:ext uri="{FF2B5EF4-FFF2-40B4-BE49-F238E27FC236}">
                <a16:creationId xmlns:a16="http://schemas.microsoft.com/office/drawing/2014/main" id="{0B0E7305-C37E-4196-B09B-D831B6112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217" y="10944487"/>
            <a:ext cx="2381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Показывает 3-кратное уменьшение размера и 18-кратное уменьшение веса приёмника">
            <a:extLst>
              <a:ext uri="{FF2B5EF4-FFF2-40B4-BE49-F238E27FC236}">
                <a16:creationId xmlns:a16="http://schemas.microsoft.com/office/drawing/2014/main" id="{8BF2B1A8-DD6C-4301-8029-F2CF60BAE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169" y="3337266"/>
            <a:ext cx="3631336" cy="336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5CDDFB0D-6A37-4048-BAA4-277FE8E87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78391" y="2324196"/>
            <a:ext cx="6568149" cy="438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704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-9935185" y="1866299"/>
            <a:ext cx="98471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НОВИЗНА И </a:t>
            </a: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BDC78-7E1C-4336-924E-321668FD422D}"/>
              </a:ext>
            </a:extLst>
          </p:cNvPr>
          <p:cNvSpPr txBox="1"/>
          <p:nvPr/>
        </p:nvSpPr>
        <p:spPr>
          <a:xfrm>
            <a:off x="-11120711" y="2618995"/>
            <a:ext cx="107694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исследования заключается в разработке математической модели, позволяющей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многокритериальную оптимизацию системы передачи энергии с одновременным учетом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максимизации коэффициента полезного  действия и минимизации потерь энергии. Модель учитывает как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параметры системы, так и внешние факторы, такие как атмосферное поглощение,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рассеяние и т.д., что обеспечивает достоверное описание процесса передачи энергии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значительных дистанциях.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BE533-B407-4455-A74E-D6C6922A6E39}"/>
              </a:ext>
            </a:extLst>
          </p:cNvPr>
          <p:cNvSpPr txBox="1"/>
          <p:nvPr/>
        </p:nvSpPr>
        <p:spPr>
          <a:xfrm>
            <a:off x="-22096202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 и повышение энергоэффективности, но и создать системы резервного питания для обеспечения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 полётов в аварийных ситуациях. Кроме того, интеграция данной технологии в современные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требований к безопасности и экологичности авиационных перевозок.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4EE18D-9643-4783-98E4-9662EA34C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9834" y="2343353"/>
            <a:ext cx="8175496" cy="419271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964ECAF-C1EA-46C2-B143-3B834BE4A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83771" y="1816551"/>
            <a:ext cx="4607813" cy="4843928"/>
          </a:xfrm>
          <a:prstGeom prst="rect">
            <a:avLst/>
          </a:prstGeom>
        </p:spPr>
      </p:pic>
      <p:pic>
        <p:nvPicPr>
          <p:cNvPr id="15" name="Picture 4" descr="Электроэнергия по лазерному лучу: исследовательская программа DARPA POWER">
            <a:extLst>
              <a:ext uri="{FF2B5EF4-FFF2-40B4-BE49-F238E27FC236}">
                <a16:creationId xmlns:a16="http://schemas.microsoft.com/office/drawing/2014/main" id="{4241F1F1-2A40-4326-A389-40C9627AE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17" y="6951247"/>
            <a:ext cx="7190117" cy="338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Изображение логотипа">
            <a:extLst>
              <a:ext uri="{FF2B5EF4-FFF2-40B4-BE49-F238E27FC236}">
                <a16:creationId xmlns:a16="http://schemas.microsoft.com/office/drawing/2014/main" id="{0B0E7305-C37E-4196-B09B-D831B6112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217" y="10944487"/>
            <a:ext cx="2381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Электроэнергия по лазерному лучу: исследовательская программа DARPA POWER">
            <a:extLst>
              <a:ext uri="{FF2B5EF4-FFF2-40B4-BE49-F238E27FC236}">
                <a16:creationId xmlns:a16="http://schemas.microsoft.com/office/drawing/2014/main" id="{EA5F7D50-F608-4FAD-83D6-95AE9F48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17" y="7284191"/>
            <a:ext cx="7190117" cy="338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Изображение логотипа">
            <a:extLst>
              <a:ext uri="{FF2B5EF4-FFF2-40B4-BE49-F238E27FC236}">
                <a16:creationId xmlns:a16="http://schemas.microsoft.com/office/drawing/2014/main" id="{0D1CBACD-5CED-4638-81F8-A9FB65821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217" y="8980281"/>
            <a:ext cx="2381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1CEA2D-BA1B-4963-8BBA-EEBDFA2B31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47225" y="2305904"/>
            <a:ext cx="4553585" cy="1019317"/>
          </a:xfrm>
          <a:prstGeom prst="rect">
            <a:avLst/>
          </a:prstGeom>
        </p:spPr>
      </p:pic>
      <p:pic>
        <p:nvPicPr>
          <p:cNvPr id="22" name="Picture 2" descr="Показывает 3-кратное уменьшение размера и 18-кратное уменьшение веса приёмника">
            <a:extLst>
              <a:ext uri="{FF2B5EF4-FFF2-40B4-BE49-F238E27FC236}">
                <a16:creationId xmlns:a16="http://schemas.microsoft.com/office/drawing/2014/main" id="{3FA7AA04-F6BA-4552-AED5-079F26553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3405" y="3337266"/>
            <a:ext cx="3631336" cy="336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 descr="Picture background">
            <a:extLst>
              <a:ext uri="{FF2B5EF4-FFF2-40B4-BE49-F238E27FC236}">
                <a16:creationId xmlns:a16="http://schemas.microsoft.com/office/drawing/2014/main" id="{854706CA-75B0-40E8-9326-BECEEFD33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3844" y="1676542"/>
            <a:ext cx="2472181" cy="205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3BB59B65-5E50-4FEC-ACFF-3EFA04C1C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198" y="2324196"/>
            <a:ext cx="6568149" cy="438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013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-9935185" y="1866299"/>
            <a:ext cx="98471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НОВИЗНА И </a:t>
            </a: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BDC78-7E1C-4336-924E-321668FD422D}"/>
              </a:ext>
            </a:extLst>
          </p:cNvPr>
          <p:cNvSpPr txBox="1"/>
          <p:nvPr/>
        </p:nvSpPr>
        <p:spPr>
          <a:xfrm>
            <a:off x="-11120711" y="2618995"/>
            <a:ext cx="107694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исследования заключается в разработке математической модели, позволяющей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многокритериальную оптимизацию системы передачи энергии с одновременным учетом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максимизации коэффициента полезного  действия и минимизации потерь энергии. Модель учитывает как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параметры системы, так и внешние факторы, такие как атмосферное поглощение,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рассеяние и т.д., что обеспечивает достоверное описание процесса передачи энергии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значительных дистанциях.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BE533-B407-4455-A74E-D6C6922A6E39}"/>
              </a:ext>
            </a:extLst>
          </p:cNvPr>
          <p:cNvSpPr txBox="1"/>
          <p:nvPr/>
        </p:nvSpPr>
        <p:spPr>
          <a:xfrm>
            <a:off x="-22096202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/>
          </a:p>
          <a:p>
            <a:r>
              <a:rPr lang="ru-RU" dirty="0"/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/>
          </a:p>
          <a:p>
            <a:r>
              <a:rPr lang="ru-RU" dirty="0"/>
              <a:t>затрат и повышение энергоэффективности, но и создать системы резервного питания для обеспечения </a:t>
            </a:r>
            <a:endParaRPr lang="en-US" dirty="0"/>
          </a:p>
          <a:p>
            <a:r>
              <a:rPr lang="ru-RU" dirty="0"/>
              <a:t>безопасности полётов в аварийных ситуациях. Кроме того, интеграция данной технологии в современные </a:t>
            </a:r>
            <a:endParaRPr lang="en-US" dirty="0"/>
          </a:p>
          <a:p>
            <a:r>
              <a:rPr lang="ru-RU" dirty="0"/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/>
          </a:p>
          <a:p>
            <a:r>
              <a:rPr lang="ru-RU" dirty="0"/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/>
          </a:p>
          <a:p>
            <a:r>
              <a:rPr lang="ru-RU" dirty="0"/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/>
          </a:p>
          <a:p>
            <a:r>
              <a:rPr lang="ru-RU" dirty="0"/>
              <a:t>требований к безопасности и экологичности авиационных перевозок.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964ECAF-C1EA-46C2-B143-3B834BE4A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8072" y="1827702"/>
            <a:ext cx="4607813" cy="484392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8E04AF0-557C-448E-8754-26E01472D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0534" y="3219197"/>
            <a:ext cx="4553585" cy="1019317"/>
          </a:xfrm>
          <a:prstGeom prst="rect">
            <a:avLst/>
          </a:prstGeom>
        </p:spPr>
      </p:pic>
      <p:pic>
        <p:nvPicPr>
          <p:cNvPr id="1028" name="Picture 4" descr="Электроэнергия по лазерному лучу: исследовательская программа DARPA POWER">
            <a:extLst>
              <a:ext uri="{FF2B5EF4-FFF2-40B4-BE49-F238E27FC236}">
                <a16:creationId xmlns:a16="http://schemas.microsoft.com/office/drawing/2014/main" id="{56F2453F-DB55-48F3-B613-35B5A7BE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17" y="2646881"/>
            <a:ext cx="7190117" cy="338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Изображение логотипа">
            <a:extLst>
              <a:ext uri="{FF2B5EF4-FFF2-40B4-BE49-F238E27FC236}">
                <a16:creationId xmlns:a16="http://schemas.microsoft.com/office/drawing/2014/main" id="{E3197352-69B3-40B9-8A2D-BBC80BCA9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217" y="4342971"/>
            <a:ext cx="2381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DB0261A-3424-423E-AEFF-2827DA8B31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8988" y="2374146"/>
            <a:ext cx="7526081" cy="4286333"/>
          </a:xfrm>
          <a:prstGeom prst="rect">
            <a:avLst/>
          </a:prstGeom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B1F79371-D3EE-48C3-9B6A-60844FAA0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243" y="1676542"/>
            <a:ext cx="2472181" cy="205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9B968940-24BC-47EC-8D8E-C90D61151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8787" y="2324196"/>
            <a:ext cx="6568149" cy="438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115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6B8D6-A93F-4C3C-9D12-F24001DEA130}"/>
              </a:ext>
            </a:extLst>
          </p:cNvPr>
          <p:cNvSpPr txBox="1"/>
          <p:nvPr/>
        </p:nvSpPr>
        <p:spPr>
          <a:xfrm>
            <a:off x="-5830615" y="1866299"/>
            <a:ext cx="53213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B9E49E-1A3D-40CE-84A2-549104AEEBA9}"/>
              </a:ext>
            </a:extLst>
          </p:cNvPr>
          <p:cNvSpPr txBox="1"/>
          <p:nvPr/>
        </p:nvSpPr>
        <p:spPr>
          <a:xfrm>
            <a:off x="-3282774" y="3451849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47F3B-1524-4211-9C37-4CFCCFE46D1D}"/>
              </a:ext>
            </a:extLst>
          </p:cNvPr>
          <p:cNvSpPr txBox="1"/>
          <p:nvPr/>
        </p:nvSpPr>
        <p:spPr>
          <a:xfrm>
            <a:off x="-9935185" y="1866299"/>
            <a:ext cx="98471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АКТУАЛЬНОСТЬ, НОВИЗНА И </a:t>
            </a:r>
            <a:r>
              <a:rPr lang="ru-RU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BDC78-7E1C-4336-924E-321668FD422D}"/>
              </a:ext>
            </a:extLst>
          </p:cNvPr>
          <p:cNvSpPr txBox="1"/>
          <p:nvPr/>
        </p:nvSpPr>
        <p:spPr>
          <a:xfrm>
            <a:off x="-11120711" y="2618995"/>
            <a:ext cx="107694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Новизна исследования заключается в разработке математической модели, позволяющей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многокритериальную оптимизацию системы передачи энергии с одновременным учетом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максимизации коэффициента полезного  действия и минимизации потерь энергии. Модель учитывает как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параметры системы, так и внешние факторы, такие как атмосферное поглощение,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рассеяние и т.д., что обеспечивает достоверное описание процесса передачи энергии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значительных дистанциях.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BE533-B407-4455-A74E-D6C6922A6E39}"/>
              </a:ext>
            </a:extLst>
          </p:cNvPr>
          <p:cNvSpPr txBox="1"/>
          <p:nvPr/>
        </p:nvSpPr>
        <p:spPr>
          <a:xfrm>
            <a:off x="-22096202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/>
          </a:p>
          <a:p>
            <a:r>
              <a:rPr lang="ru-RU" dirty="0"/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/>
          </a:p>
          <a:p>
            <a:r>
              <a:rPr lang="ru-RU" dirty="0"/>
              <a:t>затрат и повышение энергоэффективности, но и создать системы резервного питания для обеспечения </a:t>
            </a:r>
            <a:endParaRPr lang="en-US" dirty="0"/>
          </a:p>
          <a:p>
            <a:r>
              <a:rPr lang="ru-RU" dirty="0"/>
              <a:t>безопасности полётов в аварийных ситуациях. Кроме того, интеграция данной технологии в современные </a:t>
            </a:r>
            <a:endParaRPr lang="en-US" dirty="0"/>
          </a:p>
          <a:p>
            <a:r>
              <a:rPr lang="ru-RU" dirty="0"/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/>
          </a:p>
          <a:p>
            <a:r>
              <a:rPr lang="ru-RU" dirty="0"/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/>
          </a:p>
          <a:p>
            <a:r>
              <a:rPr lang="ru-RU" dirty="0"/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/>
          </a:p>
          <a:p>
            <a:r>
              <a:rPr lang="ru-RU" dirty="0"/>
              <a:t>требований к безопасности и экологичности авиационных перевозок.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964ECAF-C1EA-46C2-B143-3B834BE4A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8072" y="1827702"/>
            <a:ext cx="4607813" cy="484392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8E04AF0-557C-448E-8754-26E01472DE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0534" y="3219197"/>
            <a:ext cx="4553585" cy="1019317"/>
          </a:xfrm>
          <a:prstGeom prst="rect">
            <a:avLst/>
          </a:prstGeom>
        </p:spPr>
      </p:pic>
      <p:pic>
        <p:nvPicPr>
          <p:cNvPr id="1028" name="Picture 4" descr="Электроэнергия по лазерному лучу: исследовательская программа DARPA POWER">
            <a:extLst>
              <a:ext uri="{FF2B5EF4-FFF2-40B4-BE49-F238E27FC236}">
                <a16:creationId xmlns:a16="http://schemas.microsoft.com/office/drawing/2014/main" id="{56F2453F-DB55-48F3-B613-35B5A7BE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39964" y="2646881"/>
            <a:ext cx="7190117" cy="338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Изображение логотипа">
            <a:extLst>
              <a:ext uri="{FF2B5EF4-FFF2-40B4-BE49-F238E27FC236}">
                <a16:creationId xmlns:a16="http://schemas.microsoft.com/office/drawing/2014/main" id="{E3197352-69B3-40B9-8A2D-BBC80BCA9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77764" y="4342971"/>
            <a:ext cx="2381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DB0261A-3424-423E-AEFF-2827DA8B31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8988" y="2374146"/>
            <a:ext cx="7526081" cy="4286333"/>
          </a:xfrm>
          <a:prstGeom prst="rect">
            <a:avLst/>
          </a:prstGeom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9B968940-24BC-47EC-8D8E-C90D61151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8787" y="2324196"/>
            <a:ext cx="6568149" cy="438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2D8723-96C5-407D-B847-DB6D52A3A368}"/>
              </a:ext>
            </a:extLst>
          </p:cNvPr>
          <p:cNvSpPr txBox="1"/>
          <p:nvPr/>
        </p:nvSpPr>
        <p:spPr>
          <a:xfrm>
            <a:off x="2194986" y="2618995"/>
            <a:ext cx="617583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продолжительности полёта</a:t>
            </a:r>
            <a:br>
              <a:rPr lang="ru-RU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массовых характеристик летательных аппаратов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наземной инфраструктуры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 на техническое обслуживание</a:t>
            </a:r>
          </a:p>
        </p:txBody>
      </p:sp>
      <p:pic>
        <p:nvPicPr>
          <p:cNvPr id="18" name="Picture 10" descr="Picture background">
            <a:extLst>
              <a:ext uri="{FF2B5EF4-FFF2-40B4-BE49-F238E27FC236}">
                <a16:creationId xmlns:a16="http://schemas.microsoft.com/office/drawing/2014/main" id="{F5B683C6-5BC7-4528-A664-40F075E58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20333" y="1676542"/>
            <a:ext cx="2472181" cy="205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2813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BE533-B407-4455-A74E-D6C6922A6E39}"/>
              </a:ext>
            </a:extLst>
          </p:cNvPr>
          <p:cNvSpPr txBox="1"/>
          <p:nvPr/>
        </p:nvSpPr>
        <p:spPr>
          <a:xfrm>
            <a:off x="-22096202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/>
          </a:p>
          <a:p>
            <a:r>
              <a:rPr lang="ru-RU" dirty="0"/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/>
          </a:p>
          <a:p>
            <a:r>
              <a:rPr lang="ru-RU" dirty="0"/>
              <a:t>затрат и повышение энергоэффективности, но и создать системы резервного питания для обеспечения </a:t>
            </a:r>
            <a:endParaRPr lang="en-US" dirty="0"/>
          </a:p>
          <a:p>
            <a:r>
              <a:rPr lang="ru-RU" dirty="0"/>
              <a:t>безопасности полётов в аварийных ситуациях. Кроме того, интеграция данной технологии в современные </a:t>
            </a:r>
            <a:endParaRPr lang="en-US" dirty="0"/>
          </a:p>
          <a:p>
            <a:r>
              <a:rPr lang="ru-RU" dirty="0"/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/>
          </a:p>
          <a:p>
            <a:r>
              <a:rPr lang="ru-RU" dirty="0"/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/>
          </a:p>
          <a:p>
            <a:r>
              <a:rPr lang="ru-RU" dirty="0"/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/>
          </a:p>
          <a:p>
            <a:r>
              <a:rPr lang="ru-RU" dirty="0"/>
              <a:t>требований к безопасности и экологичности авиационных перевозок.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13" name="Picture 4" descr="Электроэнергия по лазерному лучу: исследовательская программа DARPA POWER">
            <a:extLst>
              <a:ext uri="{FF2B5EF4-FFF2-40B4-BE49-F238E27FC236}">
                <a16:creationId xmlns:a16="http://schemas.microsoft.com/office/drawing/2014/main" id="{1F6D185A-E2B4-41A2-953B-D79A460A9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43165" y="2646881"/>
            <a:ext cx="7190117" cy="338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Изображение логотипа">
            <a:extLst>
              <a:ext uri="{FF2B5EF4-FFF2-40B4-BE49-F238E27FC236}">
                <a16:creationId xmlns:a16="http://schemas.microsoft.com/office/drawing/2014/main" id="{728262AF-3692-4261-891D-64373F431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80965" y="4342971"/>
            <a:ext cx="2381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523F16-D1D3-4998-A1D8-F831D1D233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2974" y="2374146"/>
            <a:ext cx="7526081" cy="4286333"/>
          </a:xfrm>
          <a:prstGeom prst="rect">
            <a:avLst/>
          </a:prstGeom>
        </p:spPr>
      </p:pic>
      <p:pic>
        <p:nvPicPr>
          <p:cNvPr id="17" name="Picture 4" descr="Picture background">
            <a:extLst>
              <a:ext uri="{FF2B5EF4-FFF2-40B4-BE49-F238E27FC236}">
                <a16:creationId xmlns:a16="http://schemas.microsoft.com/office/drawing/2014/main" id="{43A40BFF-5AF6-4A8D-B200-041DA9D73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5938" y="2546544"/>
            <a:ext cx="8006850" cy="391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2F8109-8B59-45AB-94EB-828F91C525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01718" y="1600740"/>
            <a:ext cx="5153744" cy="49536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77B1D3E-7A47-459C-ACED-42DD459ABAB0}"/>
              </a:ext>
            </a:extLst>
          </p:cNvPr>
          <p:cNvSpPr txBox="1"/>
          <p:nvPr/>
        </p:nvSpPr>
        <p:spPr>
          <a:xfrm>
            <a:off x="-4857862" y="2842151"/>
            <a:ext cx="48366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Модель атмосферы: Летняя в средних широтах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Модель загрязнений: Городская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Условия видимости: 23 км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93245EE-33E7-4D44-B845-BC99782429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259" y="7368770"/>
            <a:ext cx="2619741" cy="107647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5CCA32F-4CA6-48AC-A714-B43FB42AFD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4609" y="7398614"/>
            <a:ext cx="3340877" cy="101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6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BE533-B407-4455-A74E-D6C6922A6E39}"/>
              </a:ext>
            </a:extLst>
          </p:cNvPr>
          <p:cNvSpPr txBox="1"/>
          <p:nvPr/>
        </p:nvSpPr>
        <p:spPr>
          <a:xfrm>
            <a:off x="-22096202" y="2583671"/>
            <a:ext cx="114056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Практическая значимость работы проявляется в потенциале реализации данной технологии в авиационной </a:t>
            </a:r>
            <a:endParaRPr lang="en-US" dirty="0"/>
          </a:p>
          <a:p>
            <a:r>
              <a:rPr lang="ru-RU" dirty="0"/>
              <a:t>отрасли, где беспроводная передача энергии способна обеспечить не только снижение эксплуатационных </a:t>
            </a:r>
            <a:endParaRPr lang="en-US" dirty="0"/>
          </a:p>
          <a:p>
            <a:r>
              <a:rPr lang="ru-RU" dirty="0"/>
              <a:t>затрат и повышение энергоэффективности, но и создать системы резервного питания для обеспечения </a:t>
            </a:r>
            <a:endParaRPr lang="en-US" dirty="0"/>
          </a:p>
          <a:p>
            <a:r>
              <a:rPr lang="ru-RU" dirty="0"/>
              <a:t>безопасности полётов в аварийных ситуациях. Кроме того, интеграция данной технологии в современные </a:t>
            </a:r>
            <a:endParaRPr lang="en-US" dirty="0"/>
          </a:p>
          <a:p>
            <a:r>
              <a:rPr lang="ru-RU" dirty="0"/>
              <a:t>авиационные системы позволит существенно расширить функциональные возможности летательных аппаратов, </a:t>
            </a:r>
            <a:endParaRPr lang="en-US" dirty="0"/>
          </a:p>
          <a:p>
            <a:r>
              <a:rPr lang="ru-RU" dirty="0"/>
              <a:t>способствуя разработке более лёгких, автономных и энергоэффективных решений, что в свою очередь повысит </a:t>
            </a:r>
            <a:endParaRPr lang="en-US" dirty="0"/>
          </a:p>
          <a:p>
            <a:r>
              <a:rPr lang="ru-RU" dirty="0"/>
              <a:t>конкурентоспособность отрасли в условиях стремительного развития авиационных технологий и меняющихся </a:t>
            </a:r>
            <a:endParaRPr lang="en-US" dirty="0"/>
          </a:p>
          <a:p>
            <a:r>
              <a:rPr lang="ru-RU" dirty="0"/>
              <a:t>требований к безопасности и экологичности авиационных перевозок.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13" name="Picture 4" descr="Электроэнергия по лазерному лучу: исследовательская программа DARPA POWER">
            <a:extLst>
              <a:ext uri="{FF2B5EF4-FFF2-40B4-BE49-F238E27FC236}">
                <a16:creationId xmlns:a16="http://schemas.microsoft.com/office/drawing/2014/main" id="{1F6D185A-E2B4-41A2-953B-D79A460A9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743165" y="2646881"/>
            <a:ext cx="7190117" cy="338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Изображение логотипа">
            <a:extLst>
              <a:ext uri="{FF2B5EF4-FFF2-40B4-BE49-F238E27FC236}">
                <a16:creationId xmlns:a16="http://schemas.microsoft.com/office/drawing/2014/main" id="{728262AF-3692-4261-891D-64373F431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80965" y="4342971"/>
            <a:ext cx="238125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523F16-D1D3-4998-A1D8-F831D1D233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391666" y="2374146"/>
            <a:ext cx="7526081" cy="4286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D0AA82-7917-4264-911C-E39A535C9068}"/>
              </a:ext>
            </a:extLst>
          </p:cNvPr>
          <p:cNvSpPr txBox="1"/>
          <p:nvPr/>
        </p:nvSpPr>
        <p:spPr>
          <a:xfrm>
            <a:off x="1085757" y="2842151"/>
            <a:ext cx="48366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Модель атмосферы: Летняя в средних широтах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Модель загрязнений: Городская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Условия видимости: 23 км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70FF30-E8B5-451D-99F8-603C49500A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6324" y="1600740"/>
            <a:ext cx="5153744" cy="495369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566059C-16C3-47F5-9D19-154CB4D55F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259" y="5100133"/>
            <a:ext cx="2619741" cy="107647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01EDD30-92CD-426F-85C5-FB822C6EA7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4609" y="5129977"/>
            <a:ext cx="3340877" cy="101678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CFD24C3-8AC0-47BA-8CE6-A0EB18D0A0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125073" y="2343353"/>
            <a:ext cx="6369763" cy="426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185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2FDA0-56BC-47D6-92E9-230564D01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3902" y="2343353"/>
            <a:ext cx="6369763" cy="4267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2AEDC-92AD-4CB2-B767-ADEBDD23983F}"/>
              </a:ext>
            </a:extLst>
          </p:cNvPr>
          <p:cNvSpPr txBox="1"/>
          <p:nvPr/>
        </p:nvSpPr>
        <p:spPr>
          <a:xfrm>
            <a:off x="8586437" y="3341748"/>
            <a:ext cx="25424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- апертуры кольцевая передающая и круглая приёмная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 - круглая передающая и кольцевая приёмная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87AB23-BB89-499A-8266-EF70EA1579F3}"/>
              </a:ext>
            </a:extLst>
          </p:cNvPr>
          <p:cNvSpPr txBox="1"/>
          <p:nvPr/>
        </p:nvSpPr>
        <p:spPr>
          <a:xfrm>
            <a:off x="-10673429" y="2540964"/>
            <a:ext cx="400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угол расходимости луча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399855-24C5-4436-8DAA-D8E8543956E2}"/>
              </a:ext>
            </a:extLst>
          </p:cNvPr>
          <p:cNvSpPr txBox="1"/>
          <p:nvPr/>
        </p:nvSpPr>
        <p:spPr>
          <a:xfrm>
            <a:off x="-10673429" y="3138685"/>
            <a:ext cx="45977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расстояние от источника до приёмника;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E34AD1-0D4F-4BAA-80DC-ECFADAB2B1E3}"/>
              </a:ext>
            </a:extLst>
          </p:cNvPr>
          <p:cNvSpPr txBox="1"/>
          <p:nvPr/>
        </p:nvSpPr>
        <p:spPr>
          <a:xfrm>
            <a:off x="-10673429" y="4028941"/>
            <a:ext cx="3541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w0​</a:t>
            </a:r>
            <a:r>
              <a:rPr lang="af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радиус пучка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502AE3-D3AA-4FC9-B50C-9B321EB85903}"/>
              </a:ext>
            </a:extLst>
          </p:cNvPr>
          <p:cNvSpPr txBox="1"/>
          <p:nvPr/>
        </p:nvSpPr>
        <p:spPr>
          <a:xfrm>
            <a:off x="12712168" y="2343353"/>
            <a:ext cx="5499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условии гауссовского распределения интенсивности можем аппроксимировать радиус пучка на расстоянии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4E395CE-E912-49E0-8C1F-5C9D65E97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0820" y="4556479"/>
            <a:ext cx="3277057" cy="55252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33FA5FC-55DE-4807-AE3B-51FE99CE2B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2213" y="3429000"/>
            <a:ext cx="1819529" cy="4001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890350-52AA-4EB1-8F07-021B00606167}"/>
              </a:ext>
            </a:extLst>
          </p:cNvPr>
          <p:cNvSpPr txBox="1"/>
          <p:nvPr/>
        </p:nvSpPr>
        <p:spPr>
          <a:xfrm>
            <a:off x="-10862114" y="5513213"/>
            <a:ext cx="1076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​≥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приёмник захватывает всю мощность. В противном случае можно ввести оценку доли принятой мощности как отношение площадей.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4A9A39-533B-4C39-BE0C-1AF6EE3A59B0}"/>
              </a:ext>
            </a:extLst>
          </p:cNvPr>
          <p:cNvSpPr txBox="1"/>
          <p:nvPr/>
        </p:nvSpPr>
        <p:spPr>
          <a:xfrm>
            <a:off x="12712168" y="4028941"/>
            <a:ext cx="10765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площадь поперечного сечения пучка можно записать как: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135AF8-B1E0-4C98-BF03-3D68128CBF52}"/>
              </a:ext>
            </a:extLst>
          </p:cNvPr>
          <p:cNvSpPr txBox="1"/>
          <p:nvPr/>
        </p:nvSpPr>
        <p:spPr>
          <a:xfrm>
            <a:off x="-10862114" y="5069614"/>
            <a:ext cx="1147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эффективная площадь приёмного устройства.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54B0D6-3D0C-48EC-9956-EDB1CA0F2105}"/>
              </a:ext>
            </a:extLst>
          </p:cNvPr>
          <p:cNvSpPr txBox="1"/>
          <p:nvPr/>
        </p:nvSpPr>
        <p:spPr>
          <a:xfrm>
            <a:off x="-5234025" y="2842151"/>
            <a:ext cx="48366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Модель атмосферы: Летняя в средних широтах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Модель загрязнений: Городская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Условия видимости: 23 км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DC751E4-3D33-4987-B051-B527E4424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8865" y="1600740"/>
            <a:ext cx="5153744" cy="495369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EF4F0D8-A2E9-4948-B384-B9BA301784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259" y="7253023"/>
            <a:ext cx="2619741" cy="107647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416F9B4-3DBD-4C44-BCDD-83F2A73FDA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4609" y="7282867"/>
            <a:ext cx="3340877" cy="101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87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2FDA0-56BC-47D6-92E9-230564D01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716745" y="2343353"/>
            <a:ext cx="6369763" cy="4267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2AEDC-92AD-4CB2-B767-ADEBDD23983F}"/>
              </a:ext>
            </a:extLst>
          </p:cNvPr>
          <p:cNvSpPr txBox="1"/>
          <p:nvPr/>
        </p:nvSpPr>
        <p:spPr>
          <a:xfrm>
            <a:off x="12192000" y="3341748"/>
            <a:ext cx="25424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 - апертуры кольцевая передающая и круглая приёмная</a:t>
            </a:r>
          </a:p>
          <a:p>
            <a:endParaRPr lang="ru-RU" dirty="0"/>
          </a:p>
          <a:p>
            <a:r>
              <a:rPr lang="ru-RU" dirty="0"/>
              <a:t>б - круглая передающая и кольцевая приёмная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6F9B2-80CD-464C-8867-671F6D9EC0E2}"/>
              </a:ext>
            </a:extLst>
          </p:cNvPr>
          <p:cNvSpPr txBox="1"/>
          <p:nvPr/>
        </p:nvSpPr>
        <p:spPr>
          <a:xfrm>
            <a:off x="1148443" y="2540964"/>
            <a:ext cx="400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угол расходимости луча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BE74C-E5DB-471C-8CD0-38EA3D27EEA6}"/>
              </a:ext>
            </a:extLst>
          </p:cNvPr>
          <p:cNvSpPr txBox="1"/>
          <p:nvPr/>
        </p:nvSpPr>
        <p:spPr>
          <a:xfrm>
            <a:off x="1148443" y="3138685"/>
            <a:ext cx="45977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расстояние от источника до приёмника;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E96C8-7E58-4E11-A8C9-0A5D12B3ACCD}"/>
              </a:ext>
            </a:extLst>
          </p:cNvPr>
          <p:cNvSpPr txBox="1"/>
          <p:nvPr/>
        </p:nvSpPr>
        <p:spPr>
          <a:xfrm>
            <a:off x="1148443" y="4028941"/>
            <a:ext cx="3541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w0​</a:t>
            </a:r>
            <a:r>
              <a:rPr lang="af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радиус пучка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CBD08-1F8C-413D-81EF-9AEB5C40AE3E}"/>
              </a:ext>
            </a:extLst>
          </p:cNvPr>
          <p:cNvSpPr txBox="1"/>
          <p:nvPr/>
        </p:nvSpPr>
        <p:spPr>
          <a:xfrm>
            <a:off x="5462290" y="2343353"/>
            <a:ext cx="5499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условии гауссовского распределения интенсивности можем аппроксимировать радиус пучка на расстоянии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BD735D8B-F908-4327-8B29-5B4DFA597B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0659FF2-47C1-4F51-9F8A-26C50DACF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0942" y="4556479"/>
            <a:ext cx="3277057" cy="55252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DC01A3D-6032-4E3B-910A-16D3D3BC1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2335" y="3429000"/>
            <a:ext cx="1819529" cy="4001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107B421-62C0-4715-82F7-323F5BE744FB}"/>
              </a:ext>
            </a:extLst>
          </p:cNvPr>
          <p:cNvSpPr txBox="1"/>
          <p:nvPr/>
        </p:nvSpPr>
        <p:spPr>
          <a:xfrm>
            <a:off x="959758" y="5513213"/>
            <a:ext cx="1076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​≥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приёмник захватывает всю мощность. В противном случае можно ввести оценку доли принятой мощности как отношение площадей.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02916-299A-49F3-BBAE-F18FFE81575A}"/>
              </a:ext>
            </a:extLst>
          </p:cNvPr>
          <p:cNvSpPr txBox="1"/>
          <p:nvPr/>
        </p:nvSpPr>
        <p:spPr>
          <a:xfrm>
            <a:off x="5462290" y="4028941"/>
            <a:ext cx="10765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площадь поперечного сечения пучка можно записать как: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71B44D-0DC2-4A2A-809B-9FB64A631554}"/>
              </a:ext>
            </a:extLst>
          </p:cNvPr>
          <p:cNvSpPr txBox="1"/>
          <p:nvPr/>
        </p:nvSpPr>
        <p:spPr>
          <a:xfrm>
            <a:off x="959758" y="5069614"/>
            <a:ext cx="1147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эффективная площадь приёмного устройства.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60DF9E6-3044-4796-B8B5-7C0AA16B76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51661" y="3419362"/>
            <a:ext cx="8367850" cy="121915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F94F7C3-25C2-4083-BB01-5F8974433E08}"/>
              </a:ext>
            </a:extLst>
          </p:cNvPr>
          <p:cNvSpPr txBox="1"/>
          <p:nvPr/>
        </p:nvSpPr>
        <p:spPr>
          <a:xfrm>
            <a:off x="12857104" y="2562526"/>
            <a:ext cx="9462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функция эффективности передачи может быть записана следующим образом: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DFB466-721C-41D3-9A78-0600B7E18D22}"/>
              </a:ext>
            </a:extLst>
          </p:cNvPr>
          <p:cNvSpPr txBox="1"/>
          <p:nvPr/>
        </p:nvSpPr>
        <p:spPr>
          <a:xfrm>
            <a:off x="-11459961" y="4977281"/>
            <a:ext cx="109882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целиком покрывается приёмником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(т.е. площадь пучка меньше или равна AR​), то эффективность равна K (то есть передаётся максимум возможной мощности, но с учётом дополнительных потерь)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B1F168-F4E0-4056-88E2-E3D67ACE4DE2}"/>
              </a:ext>
            </a:extLst>
          </p:cNvPr>
          <p:cNvSpPr txBox="1"/>
          <p:nvPr/>
        </p:nvSpPr>
        <p:spPr>
          <a:xfrm>
            <a:off x="-11477631" y="5906283"/>
            <a:ext cx="10850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больше приёмника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эффективность передачи определяется отношением площади приёмника к площади пучка, что приводит к уменьшению принимаемой мощности</a:t>
            </a:r>
          </a:p>
        </p:txBody>
      </p:sp>
    </p:spTree>
    <p:extLst>
      <p:ext uri="{BB962C8B-B14F-4D97-AF65-F5344CB8AC3E}">
        <p14:creationId xmlns:p14="http://schemas.microsoft.com/office/powerpoint/2010/main" val="27771750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893020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2FDA0-56BC-47D6-92E9-230564D01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716745" y="2343353"/>
            <a:ext cx="6369763" cy="4267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2AEDC-92AD-4CB2-B767-ADEBDD23983F}"/>
              </a:ext>
            </a:extLst>
          </p:cNvPr>
          <p:cNvSpPr txBox="1"/>
          <p:nvPr/>
        </p:nvSpPr>
        <p:spPr>
          <a:xfrm>
            <a:off x="12192000" y="3341748"/>
            <a:ext cx="25424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 - апертуры кольцевая передающая и круглая приёмная</a:t>
            </a:r>
          </a:p>
          <a:p>
            <a:endParaRPr lang="ru-RU" dirty="0"/>
          </a:p>
          <a:p>
            <a:r>
              <a:rPr lang="ru-RU" dirty="0"/>
              <a:t>б - круглая передающая и кольцевая приёмная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6F9B2-80CD-464C-8867-671F6D9EC0E2}"/>
              </a:ext>
            </a:extLst>
          </p:cNvPr>
          <p:cNvSpPr txBox="1"/>
          <p:nvPr/>
        </p:nvSpPr>
        <p:spPr>
          <a:xfrm>
            <a:off x="-10238001" y="2540964"/>
            <a:ext cx="400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угол расходимости луча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BE74C-E5DB-471C-8CD0-38EA3D27EEA6}"/>
              </a:ext>
            </a:extLst>
          </p:cNvPr>
          <p:cNvSpPr txBox="1"/>
          <p:nvPr/>
        </p:nvSpPr>
        <p:spPr>
          <a:xfrm>
            <a:off x="-10238001" y="3138685"/>
            <a:ext cx="45977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расстояние от источника до приёмника;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E96C8-7E58-4E11-A8C9-0A5D12B3ACCD}"/>
              </a:ext>
            </a:extLst>
          </p:cNvPr>
          <p:cNvSpPr txBox="1"/>
          <p:nvPr/>
        </p:nvSpPr>
        <p:spPr>
          <a:xfrm>
            <a:off x="-10238001" y="4028941"/>
            <a:ext cx="3541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w0​</a:t>
            </a:r>
            <a:r>
              <a:rPr lang="af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радиус пучка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CBD08-1F8C-413D-81EF-9AEB5C40AE3E}"/>
              </a:ext>
            </a:extLst>
          </p:cNvPr>
          <p:cNvSpPr txBox="1"/>
          <p:nvPr/>
        </p:nvSpPr>
        <p:spPr>
          <a:xfrm>
            <a:off x="12712168" y="2343353"/>
            <a:ext cx="5499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условии гауссовского распределения интенсивности можем аппроксимировать радиус пучка на расстоянии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BD735D8B-F908-4327-8B29-5B4DFA597B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0659FF2-47C1-4F51-9F8A-26C50DACF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0820" y="4556479"/>
            <a:ext cx="3277057" cy="55252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DC01A3D-6032-4E3B-910A-16D3D3BC1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2213" y="3429000"/>
            <a:ext cx="1819529" cy="4001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107B421-62C0-4715-82F7-323F5BE744FB}"/>
              </a:ext>
            </a:extLst>
          </p:cNvPr>
          <p:cNvSpPr txBox="1"/>
          <p:nvPr/>
        </p:nvSpPr>
        <p:spPr>
          <a:xfrm>
            <a:off x="-10426686" y="5513213"/>
            <a:ext cx="1076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​≥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приёмник захватывает всю мощность. В противном случае можно ввести оценку доли принятой мощности как отношение площадей.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02916-299A-49F3-BBAE-F18FFE81575A}"/>
              </a:ext>
            </a:extLst>
          </p:cNvPr>
          <p:cNvSpPr txBox="1"/>
          <p:nvPr/>
        </p:nvSpPr>
        <p:spPr>
          <a:xfrm>
            <a:off x="12712168" y="4028941"/>
            <a:ext cx="10765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площадь поперечного сечения пучка можно записать как: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71B44D-0DC2-4A2A-809B-9FB64A631554}"/>
              </a:ext>
            </a:extLst>
          </p:cNvPr>
          <p:cNvSpPr txBox="1"/>
          <p:nvPr/>
        </p:nvSpPr>
        <p:spPr>
          <a:xfrm>
            <a:off x="-10426686" y="5069614"/>
            <a:ext cx="1147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эффективная площадь приёмного устройства.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0568A0-5E3C-40B6-A8DB-A10E75A8CD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075" y="3419362"/>
            <a:ext cx="8367850" cy="12191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2C2633-4323-476E-BD44-63B487E16440}"/>
              </a:ext>
            </a:extLst>
          </p:cNvPr>
          <p:cNvSpPr txBox="1"/>
          <p:nvPr/>
        </p:nvSpPr>
        <p:spPr>
          <a:xfrm>
            <a:off x="817518" y="2562526"/>
            <a:ext cx="9462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простейшая функция эффективности передачи может быть записана следующим образом: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FB1870-35F1-44F3-BD28-A08EFCD3B326}"/>
              </a:ext>
            </a:extLst>
          </p:cNvPr>
          <p:cNvSpPr txBox="1"/>
          <p:nvPr/>
        </p:nvSpPr>
        <p:spPr>
          <a:xfrm>
            <a:off x="688482" y="4977281"/>
            <a:ext cx="109882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целиком покрывается приёмником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(т.е. площадь пучка меньше или равна AR​), то эффективность равна K (то есть передаётся максимум возможной мощности, но с учётом дополнительных потерь)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7C4A8F-1CB9-47F1-B6C0-B91C246E7B73}"/>
              </a:ext>
            </a:extLst>
          </p:cNvPr>
          <p:cNvSpPr txBox="1"/>
          <p:nvPr/>
        </p:nvSpPr>
        <p:spPr>
          <a:xfrm>
            <a:off x="670812" y="5906283"/>
            <a:ext cx="10850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больше приёмника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эффективность передачи определяется отношением площади приёмника к площади пучка, что приводит к уменьшению принимаемой мощности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DF825C-6A31-4BE2-A213-41E88670DFB6}"/>
              </a:ext>
            </a:extLst>
          </p:cNvPr>
          <p:cNvSpPr txBox="1"/>
          <p:nvPr/>
        </p:nvSpPr>
        <p:spPr>
          <a:xfrm>
            <a:off x="-2177140" y="1892912"/>
            <a:ext cx="215161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РАБОТ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FC5BF7C6-E2FA-43CD-923B-6ABA65617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79390" y="5513213"/>
            <a:ext cx="1948901" cy="974909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3264F11A-B66B-45F2-BC28-A0EBB209BE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5107" y="517921"/>
            <a:ext cx="891328" cy="858242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06C0DA8-39BF-4B36-96E3-FDC4AA6AB2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95" y="7254240"/>
            <a:ext cx="9672073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E547AD4-CC8D-4AB8-BA2F-E5B7D46C86FE}"/>
              </a:ext>
            </a:extLst>
          </p:cNvPr>
          <p:cNvSpPr txBox="1"/>
          <p:nvPr/>
        </p:nvSpPr>
        <p:spPr>
          <a:xfrm>
            <a:off x="-2210884" y="2496780"/>
            <a:ext cx="17828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архитектура блока передачи энергии по лазеру ИК диапазона</a:t>
            </a:r>
          </a:p>
        </p:txBody>
      </p:sp>
    </p:spTree>
    <p:extLst>
      <p:ext uri="{BB962C8B-B14F-4D97-AF65-F5344CB8AC3E}">
        <p14:creationId xmlns:p14="http://schemas.microsoft.com/office/powerpoint/2010/main" val="15269892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-2186863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-1394813"/>
            <a:ext cx="5279901" cy="840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13000152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2FDA0-56BC-47D6-92E9-230564D01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716745" y="2343353"/>
            <a:ext cx="6369763" cy="4267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2AEDC-92AD-4CB2-B767-ADEBDD23983F}"/>
              </a:ext>
            </a:extLst>
          </p:cNvPr>
          <p:cNvSpPr txBox="1"/>
          <p:nvPr/>
        </p:nvSpPr>
        <p:spPr>
          <a:xfrm>
            <a:off x="12192000" y="3341748"/>
            <a:ext cx="25424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 - апертуры кольцевая передающая и круглая приёмная</a:t>
            </a:r>
          </a:p>
          <a:p>
            <a:endParaRPr lang="ru-RU" dirty="0"/>
          </a:p>
          <a:p>
            <a:r>
              <a:rPr lang="ru-RU" dirty="0"/>
              <a:t>б - круглая передающая и кольцевая приёмная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6F9B2-80CD-464C-8867-671F6D9EC0E2}"/>
              </a:ext>
            </a:extLst>
          </p:cNvPr>
          <p:cNvSpPr txBox="1"/>
          <p:nvPr/>
        </p:nvSpPr>
        <p:spPr>
          <a:xfrm>
            <a:off x="-10238001" y="2540964"/>
            <a:ext cx="400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угол расходимости луча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BE74C-E5DB-471C-8CD0-38EA3D27EEA6}"/>
              </a:ext>
            </a:extLst>
          </p:cNvPr>
          <p:cNvSpPr txBox="1"/>
          <p:nvPr/>
        </p:nvSpPr>
        <p:spPr>
          <a:xfrm>
            <a:off x="-10238001" y="3138685"/>
            <a:ext cx="45977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расстояние от источника до приёмника;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E96C8-7E58-4E11-A8C9-0A5D12B3ACCD}"/>
              </a:ext>
            </a:extLst>
          </p:cNvPr>
          <p:cNvSpPr txBox="1"/>
          <p:nvPr/>
        </p:nvSpPr>
        <p:spPr>
          <a:xfrm>
            <a:off x="-10238001" y="4028941"/>
            <a:ext cx="3541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w0​</a:t>
            </a:r>
            <a:r>
              <a:rPr lang="af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радиус пучка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CBD08-1F8C-413D-81EF-9AEB5C40AE3E}"/>
              </a:ext>
            </a:extLst>
          </p:cNvPr>
          <p:cNvSpPr txBox="1"/>
          <p:nvPr/>
        </p:nvSpPr>
        <p:spPr>
          <a:xfrm>
            <a:off x="12712168" y="2343353"/>
            <a:ext cx="5499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условии гауссовского распределения интенсивности можем аппроксимировать радиус пучка на расстоянии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BD735D8B-F908-4327-8B29-5B4DFA597B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0659FF2-47C1-4F51-9F8A-26C50DACF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0820" y="4556479"/>
            <a:ext cx="3277057" cy="55252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DC01A3D-6032-4E3B-910A-16D3D3BC1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2213" y="3429000"/>
            <a:ext cx="1819529" cy="4001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107B421-62C0-4715-82F7-323F5BE744FB}"/>
              </a:ext>
            </a:extLst>
          </p:cNvPr>
          <p:cNvSpPr txBox="1"/>
          <p:nvPr/>
        </p:nvSpPr>
        <p:spPr>
          <a:xfrm>
            <a:off x="-10426686" y="5513213"/>
            <a:ext cx="1076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​≥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приёмник захватывает всю мощность. В противном случае можно ввести оценку доли принятой мощности как отношение площадей.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02916-299A-49F3-BBAE-F18FFE81575A}"/>
              </a:ext>
            </a:extLst>
          </p:cNvPr>
          <p:cNvSpPr txBox="1"/>
          <p:nvPr/>
        </p:nvSpPr>
        <p:spPr>
          <a:xfrm>
            <a:off x="12712168" y="4028941"/>
            <a:ext cx="10765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площадь поперечного сечения пучка можно записать как: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71B44D-0DC2-4A2A-809B-9FB64A631554}"/>
              </a:ext>
            </a:extLst>
          </p:cNvPr>
          <p:cNvSpPr txBox="1"/>
          <p:nvPr/>
        </p:nvSpPr>
        <p:spPr>
          <a:xfrm>
            <a:off x="-10426686" y="5069614"/>
            <a:ext cx="1147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эффективная площадь приёмного устройства.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0568A0-5E3C-40B6-A8DB-A10E75A8CD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19207" y="3419362"/>
            <a:ext cx="8367850" cy="12191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2C2633-4323-476E-BD44-63B487E16440}"/>
              </a:ext>
            </a:extLst>
          </p:cNvPr>
          <p:cNvSpPr txBox="1"/>
          <p:nvPr/>
        </p:nvSpPr>
        <p:spPr>
          <a:xfrm>
            <a:off x="12924650" y="2562526"/>
            <a:ext cx="94624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простейшая функция эффективности передачи может быть записана следующим образом: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FB1870-35F1-44F3-BD28-A08EFCD3B326}"/>
              </a:ext>
            </a:extLst>
          </p:cNvPr>
          <p:cNvSpPr txBox="1"/>
          <p:nvPr/>
        </p:nvSpPr>
        <p:spPr>
          <a:xfrm>
            <a:off x="12795614" y="4977281"/>
            <a:ext cx="109882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целиком покрывается приёмником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(т.е. площадь пучка меньше или равна AR​), то эффективность равна K (то есть передаётся максимум возможной мощности, но с учётом дополнительных потерь)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7C4A8F-1CB9-47F1-B6C0-B91C246E7B73}"/>
              </a:ext>
            </a:extLst>
          </p:cNvPr>
          <p:cNvSpPr txBox="1"/>
          <p:nvPr/>
        </p:nvSpPr>
        <p:spPr>
          <a:xfrm>
            <a:off x="12777944" y="5906283"/>
            <a:ext cx="10850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больше приёмника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эффективность передачи определяется отношением площади приёмника к площади пучка, что приводит к уменьшению принимаемой мощности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DF825C-6A31-4BE2-A213-41E88670DFB6}"/>
              </a:ext>
            </a:extLst>
          </p:cNvPr>
          <p:cNvSpPr txBox="1"/>
          <p:nvPr/>
        </p:nvSpPr>
        <p:spPr>
          <a:xfrm>
            <a:off x="-2177140" y="1892912"/>
            <a:ext cx="215161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РАБОТ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86E7CD-B8FA-4048-A382-2484755945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95" y="0"/>
            <a:ext cx="9672073" cy="68580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BDEC5B8-98E8-4C13-B7A4-096AA359B8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53" y="517921"/>
            <a:ext cx="891328" cy="858242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0FFDBA31-29E5-4148-B9C6-88A02EDCD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94" y="5513213"/>
            <a:ext cx="1948901" cy="9749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6DB39A5-A2CF-4BAD-AB37-C3CC5569816F}"/>
              </a:ext>
            </a:extLst>
          </p:cNvPr>
          <p:cNvSpPr txBox="1"/>
          <p:nvPr/>
        </p:nvSpPr>
        <p:spPr>
          <a:xfrm>
            <a:off x="404994" y="2496780"/>
            <a:ext cx="17828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архитектура блока передачи энергии по лазеру ИК диапазона</a:t>
            </a:r>
          </a:p>
        </p:txBody>
      </p:sp>
    </p:spTree>
    <p:extLst>
      <p:ext uri="{BB962C8B-B14F-4D97-AF65-F5344CB8AC3E}">
        <p14:creationId xmlns:p14="http://schemas.microsoft.com/office/powerpoint/2010/main" val="1278548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-4615146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2FDA0-56BC-47D6-92E9-230564D01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716745" y="2343353"/>
            <a:ext cx="6369763" cy="4267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2AEDC-92AD-4CB2-B767-ADEBDD23983F}"/>
              </a:ext>
            </a:extLst>
          </p:cNvPr>
          <p:cNvSpPr txBox="1"/>
          <p:nvPr/>
        </p:nvSpPr>
        <p:spPr>
          <a:xfrm>
            <a:off x="12192000" y="3341748"/>
            <a:ext cx="25424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 - апертуры кольцевая передающая и круглая приёмная</a:t>
            </a:r>
          </a:p>
          <a:p>
            <a:endParaRPr lang="ru-RU" dirty="0"/>
          </a:p>
          <a:p>
            <a:r>
              <a:rPr lang="ru-RU" dirty="0"/>
              <a:t>б - круглая передающая и кольцевая приёмная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6F9B2-80CD-464C-8867-671F6D9EC0E2}"/>
              </a:ext>
            </a:extLst>
          </p:cNvPr>
          <p:cNvSpPr txBox="1"/>
          <p:nvPr/>
        </p:nvSpPr>
        <p:spPr>
          <a:xfrm>
            <a:off x="-10238001" y="2540964"/>
            <a:ext cx="400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угол расходимости луча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BE74C-E5DB-471C-8CD0-38EA3D27EEA6}"/>
              </a:ext>
            </a:extLst>
          </p:cNvPr>
          <p:cNvSpPr txBox="1"/>
          <p:nvPr/>
        </p:nvSpPr>
        <p:spPr>
          <a:xfrm>
            <a:off x="-10238001" y="3138685"/>
            <a:ext cx="45977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расстояние от источника до приёмника;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E96C8-7E58-4E11-A8C9-0A5D12B3ACCD}"/>
              </a:ext>
            </a:extLst>
          </p:cNvPr>
          <p:cNvSpPr txBox="1"/>
          <p:nvPr/>
        </p:nvSpPr>
        <p:spPr>
          <a:xfrm>
            <a:off x="-10238001" y="4028941"/>
            <a:ext cx="3541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w0​</a:t>
            </a:r>
            <a:r>
              <a:rPr lang="af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радиус пучка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CBD08-1F8C-413D-81EF-9AEB5C40AE3E}"/>
              </a:ext>
            </a:extLst>
          </p:cNvPr>
          <p:cNvSpPr txBox="1"/>
          <p:nvPr/>
        </p:nvSpPr>
        <p:spPr>
          <a:xfrm>
            <a:off x="12712168" y="2343353"/>
            <a:ext cx="5499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условии гауссовского распределения интенсивности можем аппроксимировать радиус пучка на расстоянии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BD735D8B-F908-4327-8B29-5B4DFA597B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0659FF2-47C1-4F51-9F8A-26C50DACF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0820" y="4556479"/>
            <a:ext cx="3277057" cy="55252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DC01A3D-6032-4E3B-910A-16D3D3BC1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2213" y="3429000"/>
            <a:ext cx="1819529" cy="4001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107B421-62C0-4715-82F7-323F5BE744FB}"/>
              </a:ext>
            </a:extLst>
          </p:cNvPr>
          <p:cNvSpPr txBox="1"/>
          <p:nvPr/>
        </p:nvSpPr>
        <p:spPr>
          <a:xfrm>
            <a:off x="-10426686" y="5513213"/>
            <a:ext cx="1076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​≥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приёмник захватывает всю мощность. В противном случае можно ввести оценку доли принятой мощности как отношение площадей.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02916-299A-49F3-BBAE-F18FFE81575A}"/>
              </a:ext>
            </a:extLst>
          </p:cNvPr>
          <p:cNvSpPr txBox="1"/>
          <p:nvPr/>
        </p:nvSpPr>
        <p:spPr>
          <a:xfrm>
            <a:off x="12712168" y="4028941"/>
            <a:ext cx="10765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площадь поперечного сечения пучка можно записать как: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71B44D-0DC2-4A2A-809B-9FB64A631554}"/>
              </a:ext>
            </a:extLst>
          </p:cNvPr>
          <p:cNvSpPr txBox="1"/>
          <p:nvPr/>
        </p:nvSpPr>
        <p:spPr>
          <a:xfrm>
            <a:off x="-10426686" y="5069614"/>
            <a:ext cx="1147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эффективная площадь приёмного устройства.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0568A0-5E3C-40B6-A8DB-A10E75A8CD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2804" y="3419362"/>
            <a:ext cx="8367850" cy="12191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2C2633-4323-476E-BD44-63B487E16440}"/>
              </a:ext>
            </a:extLst>
          </p:cNvPr>
          <p:cNvSpPr txBox="1"/>
          <p:nvPr/>
        </p:nvSpPr>
        <p:spPr>
          <a:xfrm>
            <a:off x="12748247" y="2562526"/>
            <a:ext cx="9462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функция эффективности передачи может быть записана следующим образом: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FB1870-35F1-44F3-BD28-A08EFCD3B326}"/>
              </a:ext>
            </a:extLst>
          </p:cNvPr>
          <p:cNvSpPr txBox="1"/>
          <p:nvPr/>
        </p:nvSpPr>
        <p:spPr>
          <a:xfrm>
            <a:off x="12619211" y="4977281"/>
            <a:ext cx="109882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целиком покрывается приёмником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(т.е. площадь пучка меньше или равна AR​), то эффективность равна K (то есть передаётся максимум возможной мощности, но с учётом дополнительных потерь)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7C4A8F-1CB9-47F1-B6C0-B91C246E7B73}"/>
              </a:ext>
            </a:extLst>
          </p:cNvPr>
          <p:cNvSpPr txBox="1"/>
          <p:nvPr/>
        </p:nvSpPr>
        <p:spPr>
          <a:xfrm>
            <a:off x="12601541" y="5906283"/>
            <a:ext cx="10850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больше приёмника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эффективность передачи определяется отношением площади приёмника к площади пучка, что приводит к уменьшению принимаемой мощности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19890-B2F4-4C2E-8810-340A0C3A64EA}"/>
              </a:ext>
            </a:extLst>
          </p:cNvPr>
          <p:cNvSpPr txBox="1"/>
          <p:nvPr/>
        </p:nvSpPr>
        <p:spPr>
          <a:xfrm>
            <a:off x="1153886" y="1892912"/>
            <a:ext cx="215161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РАБОТ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C5044-6B19-47F6-84F6-92016CD0ECC5}"/>
              </a:ext>
            </a:extLst>
          </p:cNvPr>
          <p:cNvSpPr txBox="1"/>
          <p:nvPr/>
        </p:nvSpPr>
        <p:spPr>
          <a:xfrm>
            <a:off x="1556656" y="2710711"/>
            <a:ext cx="797922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Проработать пояснительную записку, структурировать выводы</a:t>
            </a:r>
          </a:p>
          <a:p>
            <a:pPr marL="457200" indent="-457200">
              <a:buAutoNum type="arabicPeriod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Уточнить модель распространения луча лазера в атмосфере и включить ее в расчет</a:t>
            </a:r>
          </a:p>
          <a:p>
            <a:pPr marL="457200" indent="-457200">
              <a:buAutoNum type="arabicPeriod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Закончить исследование влияния параметров на эффективность передачи и приема энергии</a:t>
            </a:r>
          </a:p>
          <a:p>
            <a:pPr marL="457200" indent="-457200">
              <a:buAutoNum type="arabicPeriod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модель многокритериальной оптимизации</a:t>
            </a:r>
          </a:p>
          <a:p>
            <a:pPr marL="457200" indent="-457200">
              <a:buAutoNum type="arabicPeriod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EDCC406-9932-4163-A2AE-0FB58ECABF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95" y="-7559040"/>
            <a:ext cx="9672073" cy="6858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409E473-D861-4C75-90CC-451BA913C843}"/>
              </a:ext>
            </a:extLst>
          </p:cNvPr>
          <p:cNvSpPr txBox="1"/>
          <p:nvPr/>
        </p:nvSpPr>
        <p:spPr>
          <a:xfrm>
            <a:off x="-2095137" y="2496780"/>
            <a:ext cx="17828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архитектура блока передачи энергии по лазеру ИК диапазона</a:t>
            </a:r>
          </a:p>
        </p:txBody>
      </p:sp>
    </p:spTree>
    <p:extLst>
      <p:ext uri="{BB962C8B-B14F-4D97-AF65-F5344CB8AC3E}">
        <p14:creationId xmlns:p14="http://schemas.microsoft.com/office/powerpoint/2010/main" val="4275386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24113-852A-4751-B7FA-44225A166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409" y="197521"/>
            <a:ext cx="3049319" cy="152537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11D0765-C1CF-4171-9D86-AD6AB577B4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72" y="526583"/>
            <a:ext cx="5279901" cy="840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1874E-0AF5-4E60-B646-021C83F4C580}"/>
              </a:ext>
            </a:extLst>
          </p:cNvPr>
          <p:cNvSpPr txBox="1"/>
          <p:nvPr/>
        </p:nvSpPr>
        <p:spPr>
          <a:xfrm>
            <a:off x="-4615146" y="1866299"/>
            <a:ext cx="42554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РАБОТЫ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2FDA0-56BC-47D6-92E9-230564D01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716745" y="2343353"/>
            <a:ext cx="6369763" cy="4267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F2AEDC-92AD-4CB2-B767-ADEBDD23983F}"/>
              </a:ext>
            </a:extLst>
          </p:cNvPr>
          <p:cNvSpPr txBox="1"/>
          <p:nvPr/>
        </p:nvSpPr>
        <p:spPr>
          <a:xfrm>
            <a:off x="12192000" y="3341748"/>
            <a:ext cx="25424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 - апертуры кольцевая передающая и круглая приёмная</a:t>
            </a:r>
          </a:p>
          <a:p>
            <a:endParaRPr lang="ru-RU" dirty="0"/>
          </a:p>
          <a:p>
            <a:r>
              <a:rPr lang="ru-RU" dirty="0"/>
              <a:t>б - круглая передающая и кольцевая приёмная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6F9B2-80CD-464C-8867-671F6D9EC0E2}"/>
              </a:ext>
            </a:extLst>
          </p:cNvPr>
          <p:cNvSpPr txBox="1"/>
          <p:nvPr/>
        </p:nvSpPr>
        <p:spPr>
          <a:xfrm>
            <a:off x="-10238001" y="2540964"/>
            <a:ext cx="400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угол расходимости луча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BE74C-E5DB-471C-8CD0-38EA3D27EEA6}"/>
              </a:ext>
            </a:extLst>
          </p:cNvPr>
          <p:cNvSpPr txBox="1"/>
          <p:nvPr/>
        </p:nvSpPr>
        <p:spPr>
          <a:xfrm>
            <a:off x="-10238001" y="3138685"/>
            <a:ext cx="45977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расстояние от источника до приёмника;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E96C8-7E58-4E11-A8C9-0A5D12B3ACCD}"/>
              </a:ext>
            </a:extLst>
          </p:cNvPr>
          <p:cNvSpPr txBox="1"/>
          <p:nvPr/>
        </p:nvSpPr>
        <p:spPr>
          <a:xfrm>
            <a:off x="-10238001" y="4028941"/>
            <a:ext cx="3541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f-ZA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w0​</a:t>
            </a:r>
            <a:r>
              <a:rPr lang="af-Z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радиус пучка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CBD08-1F8C-413D-81EF-9AEB5C40AE3E}"/>
              </a:ext>
            </a:extLst>
          </p:cNvPr>
          <p:cNvSpPr txBox="1"/>
          <p:nvPr/>
        </p:nvSpPr>
        <p:spPr>
          <a:xfrm>
            <a:off x="12712168" y="2343353"/>
            <a:ext cx="5499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условии гауссовского распределения интенсивности можем аппроксимировать радиус пучка на расстоянии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BD735D8B-F908-4327-8B29-5B4DFA597B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0659FF2-47C1-4F51-9F8A-26C50DACF5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0820" y="4556479"/>
            <a:ext cx="3277057" cy="55252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DC01A3D-6032-4E3B-910A-16D3D3BC1E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2213" y="3429000"/>
            <a:ext cx="1819529" cy="4001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107B421-62C0-4715-82F7-323F5BE744FB}"/>
              </a:ext>
            </a:extLst>
          </p:cNvPr>
          <p:cNvSpPr txBox="1"/>
          <p:nvPr/>
        </p:nvSpPr>
        <p:spPr>
          <a:xfrm>
            <a:off x="-10426686" y="5513213"/>
            <a:ext cx="10765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​≥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приёмник захватывает всю мощность. В противном случае можно ввести оценку доли принятой мощности как отношение площадей.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02916-299A-49F3-BBAE-F18FFE81575A}"/>
              </a:ext>
            </a:extLst>
          </p:cNvPr>
          <p:cNvSpPr txBox="1"/>
          <p:nvPr/>
        </p:nvSpPr>
        <p:spPr>
          <a:xfrm>
            <a:off x="12712168" y="4028941"/>
            <a:ext cx="10765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площадь поперечного сечения пучка можно записать как: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71B44D-0DC2-4A2A-809B-9FB64A631554}"/>
              </a:ext>
            </a:extLst>
          </p:cNvPr>
          <p:cNvSpPr txBox="1"/>
          <p:nvPr/>
        </p:nvSpPr>
        <p:spPr>
          <a:xfrm>
            <a:off x="-10426686" y="5069614"/>
            <a:ext cx="11473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lang="ru-RU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эффективная площадь приёмного устройства.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C0568A0-5E3C-40B6-A8DB-A10E75A8CD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2804" y="3419362"/>
            <a:ext cx="8367850" cy="12191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2C2633-4323-476E-BD44-63B487E16440}"/>
              </a:ext>
            </a:extLst>
          </p:cNvPr>
          <p:cNvSpPr txBox="1"/>
          <p:nvPr/>
        </p:nvSpPr>
        <p:spPr>
          <a:xfrm>
            <a:off x="12748247" y="2562526"/>
            <a:ext cx="9462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функция эффективности передачи может быть записана следующим образом: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FB1870-35F1-44F3-BD28-A08EFCD3B326}"/>
              </a:ext>
            </a:extLst>
          </p:cNvPr>
          <p:cNvSpPr txBox="1"/>
          <p:nvPr/>
        </p:nvSpPr>
        <p:spPr>
          <a:xfrm>
            <a:off x="12619211" y="4977281"/>
            <a:ext cx="109882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целиком покрывается приёмником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(т.е. площадь пучка меньше или равна AR​), то эффективность равна K (то есть передаётся максимум возможной мощности, но с учётом дополнительных потерь)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7C4A8F-1CB9-47F1-B6C0-B91C246E7B73}"/>
              </a:ext>
            </a:extLst>
          </p:cNvPr>
          <p:cNvSpPr txBox="1"/>
          <p:nvPr/>
        </p:nvSpPr>
        <p:spPr>
          <a:xfrm>
            <a:off x="12601541" y="5906283"/>
            <a:ext cx="108503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пучок больше приёмника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эффективность передачи определяется отношением площади приёмника к площади пучка, что приводит к уменьшению принимаемой мощности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AF64E-91FC-4C23-AC53-683A7AEE6E4E}"/>
              </a:ext>
            </a:extLst>
          </p:cNvPr>
          <p:cNvSpPr txBox="1"/>
          <p:nvPr/>
        </p:nvSpPr>
        <p:spPr>
          <a:xfrm>
            <a:off x="3489492" y="3118098"/>
            <a:ext cx="98732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806164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3103</Words>
  <Application>Microsoft Office PowerPoint</Application>
  <PresentationFormat>Широкоэкранный</PresentationFormat>
  <Paragraphs>336</Paragraphs>
  <Slides>18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Исследование возможности и способов передачи энергии лазерным лучом ИК диапазона для питания беспилотных летательных аппаратов</vt:lpstr>
      <vt:lpstr>Исследование возможности и способов передачи энергии лазерным лучом ИК диапазона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Валерий</dc:creator>
  <cp:lastModifiedBy>Валерий</cp:lastModifiedBy>
  <cp:revision>122</cp:revision>
  <dcterms:created xsi:type="dcterms:W3CDTF">2025-05-06T01:40:16Z</dcterms:created>
  <dcterms:modified xsi:type="dcterms:W3CDTF">2025-05-06T08:52:52Z</dcterms:modified>
</cp:coreProperties>
</file>